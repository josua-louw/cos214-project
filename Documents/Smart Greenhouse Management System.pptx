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move forward, let's establish our foundational assumptions. These will serve as the bedrock for our analysis and guide our approach to the challenges ahead. Understanding these assumptions now will help clarify our reasoning in subsequent discussions.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move forward, let's establish our foundational assumptions. These will serve as the bedrock for our analysis and guide our approach to the challenges ahead. Understanding these assumptions now will help clarify our reasoning in subsequent discussions.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282055"/>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slideLayout" Target="../slideLayouts/slideLayout1.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slideLayout" Target="../slideLayouts/slideLayout1.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slideLayout" Target="../slideLayouts/slideLayout1.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1.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image" Target="../media/image-13-12.png"/><Relationship Id="rId13" Type="http://schemas.openxmlformats.org/officeDocument/2006/relationships/slideLayout" Target="../slideLayouts/slideLayout1.xml"/><Relationship Id="rId1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slideLayout" Target="../slideLayouts/slideLayout1.xml"/><Relationship Id="rId11"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image" Target="../media/image-17-12.png"/><Relationship Id="rId13" Type="http://schemas.openxmlformats.org/officeDocument/2006/relationships/image" Target="../media/image-17-13.png"/><Relationship Id="rId14" Type="http://schemas.openxmlformats.org/officeDocument/2006/relationships/image" Target="../media/image-17-14.png"/><Relationship Id="rId15" Type="http://schemas.openxmlformats.org/officeDocument/2006/relationships/image" Target="../media/image-17-15.png"/><Relationship Id="rId16" Type="http://schemas.openxmlformats.org/officeDocument/2006/relationships/image" Target="../media/image-17-16.png"/><Relationship Id="rId17" Type="http://schemas.openxmlformats.org/officeDocument/2006/relationships/image" Target="../media/image-17-17.png"/><Relationship Id="rId18" Type="http://schemas.openxmlformats.org/officeDocument/2006/relationships/image" Target="../media/image-17-18.png"/><Relationship Id="rId19" Type="http://schemas.openxmlformats.org/officeDocument/2006/relationships/image" Target="../media/image-17-19.png"/><Relationship Id="rId20" Type="http://schemas.openxmlformats.org/officeDocument/2006/relationships/image" Target="../media/image-17-20.png"/><Relationship Id="rId21" Type="http://schemas.openxmlformats.org/officeDocument/2006/relationships/image" Target="../media/image-17-21.png"/><Relationship Id="rId22" Type="http://schemas.openxmlformats.org/officeDocument/2006/relationships/slideLayout" Target="../slideLayouts/slideLayout1.xml"/><Relationship Id="rId2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slideLayout" Target="../slideLayouts/slideLayout1.xml"/><Relationship Id="rId11"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image" Target="../media/image-20-10.png"/><Relationship Id="rId11" Type="http://schemas.openxmlformats.org/officeDocument/2006/relationships/image" Target="../media/image-20-11.png"/><Relationship Id="rId12" Type="http://schemas.openxmlformats.org/officeDocument/2006/relationships/image" Target="../media/image-20-12.png"/><Relationship Id="rId13" Type="http://schemas.openxmlformats.org/officeDocument/2006/relationships/image" Target="../media/image-20-13.png"/><Relationship Id="rId14" Type="http://schemas.openxmlformats.org/officeDocument/2006/relationships/image" Target="../media/image-20-14.png"/><Relationship Id="rId15" Type="http://schemas.openxmlformats.org/officeDocument/2006/relationships/image" Target="../media/image-20-15.png"/><Relationship Id="rId16" Type="http://schemas.openxmlformats.org/officeDocument/2006/relationships/image" Target="../media/image-20-16.png"/><Relationship Id="rId17" Type="http://schemas.openxmlformats.org/officeDocument/2006/relationships/image" Target="../media/image-20-17.png"/><Relationship Id="rId18" Type="http://schemas.openxmlformats.org/officeDocument/2006/relationships/image" Target="../media/image-20-18.png"/><Relationship Id="rId19" Type="http://schemas.openxmlformats.org/officeDocument/2006/relationships/image" Target="../media/image-20-19.png"/><Relationship Id="rId20" Type="http://schemas.openxmlformats.org/officeDocument/2006/relationships/image" Target="../media/image-20-20.png"/><Relationship Id="rId21" Type="http://schemas.openxmlformats.org/officeDocument/2006/relationships/image" Target="../media/image-20-21.png"/><Relationship Id="rId22" Type="http://schemas.openxmlformats.org/officeDocument/2006/relationships/slideLayout" Target="../slideLayouts/slideLayout1.xml"/><Relationship Id="rId2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jpe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image" Target="../media/image-21-9.png"/><Relationship Id="rId10" Type="http://schemas.openxmlformats.org/officeDocument/2006/relationships/slideLayout" Target="../slideLayouts/slideLayout1.xml"/><Relationship Id="rId11"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jpe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slideLayout" Target="../slideLayouts/slideLayout1.xml"/><Relationship Id="rId10"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jpe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image" Target="../media/image-23-9.png"/><Relationship Id="rId10" Type="http://schemas.openxmlformats.org/officeDocument/2006/relationships/image" Target="../media/image-23-10.png"/><Relationship Id="rId11" Type="http://schemas.openxmlformats.org/officeDocument/2006/relationships/image" Target="../media/image-23-11.png"/><Relationship Id="rId12" Type="http://schemas.openxmlformats.org/officeDocument/2006/relationships/image" Target="../media/image-23-12.png"/><Relationship Id="rId13" Type="http://schemas.openxmlformats.org/officeDocument/2006/relationships/slideLayout" Target="../slideLayouts/slideLayout1.xml"/><Relationship Id="rId1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jpe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jpe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5970" y="3150754"/>
            <a:ext cx="9190177" cy="1399032"/>
          </a:xfrm>
          <a:prstGeom prst="rect">
            <a:avLst/>
          </a:prstGeom>
          <a:noFill/>
          <a:ln/>
        </p:spPr>
        <p:txBody>
          <a:bodyPr wrap="square" lIns="95250" tIns="95250" rIns="95250" bIns="95250" rtlCol="0" anchor="t">
            <a:spAutoFit/>
          </a:bodyPr>
          <a:lstStyle/>
          <a:p>
            <a:pPr algn="ctr" indent="0" marL="0">
              <a:lnSpc>
                <a:spcPct val="112500"/>
              </a:lnSpc>
              <a:spcBef>
                <a:spcPts val="375"/>
              </a:spcBef>
              <a:buNone/>
            </a:pPr>
            <a:r>
              <a:rPr lang="en-US" sz="1584" b="1" dirty="0">
                <a:solidFill>
                  <a:srgbClr val="FFFFFF"/>
                </a:solidFill>
                <a:latin typeface="Noto Sans" pitchFamily="34" charset="0"/>
                <a:ea typeface="Noto Sans" pitchFamily="34" charset="-122"/>
                <a:cs typeface="Noto Sans" pitchFamily="34" charset="-120"/>
              </a:rPr>
              <a:t>Five Guys</a:t>
            </a:r>
            <a:endParaRPr lang="en-US" sz="1440" dirty="0"/>
          </a:p>
          <a:p>
            <a:pPr algn="ctr" indent="0" marL="0">
              <a:lnSpc>
                <a:spcPct val="112500"/>
              </a:lnSpc>
              <a:spcBef>
                <a:spcPts val="375"/>
              </a:spcBef>
              <a:buNone/>
            </a:pPr>
            <a:r>
              <a:rPr lang="en-US" sz="1440" b="1" dirty="0">
                <a:solidFill>
                  <a:srgbClr val="FFFFFF"/>
                </a:solidFill>
                <a:latin typeface="Noto Sans" pitchFamily="34" charset="0"/>
                <a:ea typeface="Noto Sans" pitchFamily="34" charset="-122"/>
                <a:cs typeface="Noto Sans" pitchFamily="34" charset="-120"/>
              </a:rPr>
              <a:t>Group members: Josua Louw (u24569772), Darius Erasmus (u24586189), Nico Theron (u23565722), Heindrich Jansen (u24711358), Frikkie Malan (u14439141)</a:t>
            </a:r>
            <a:endParaRPr lang="en-US" sz="1440" dirty="0"/>
          </a:p>
        </p:txBody>
      </p:sp>
      <p:sp>
        <p:nvSpPr>
          <p:cNvPr id="3" name="Shape 1"/>
          <p:cNvSpPr/>
          <p:nvPr/>
        </p:nvSpPr>
        <p:spPr>
          <a:xfrm>
            <a:off x="2425148" y="1998213"/>
            <a:ext cx="4293704" cy="0"/>
          </a:xfrm>
          <a:custGeom>
            <a:avLst/>
            <a:gdLst/>
            <a:ahLst/>
            <a:cxnLst/>
            <a:rect l="l" t="t" r="r" b="b"/>
            <a:pathLst>
              <a:path w="4293704" h="0">
                <a:moveTo>
                  <a:pt x="0" y="0"/>
                </a:moveTo>
                <a:moveTo>
                  <a:pt x="0" y="0"/>
                </a:moveTo>
                <a:lnTo>
                  <a:pt x="4293704" y="0"/>
                </a:lnTo>
              </a:path>
            </a:pathLst>
          </a:custGeom>
          <a:noFill/>
          <a:ln w="9525">
            <a:solidFill>
              <a:srgbClr val="EED7FF">
                <a:alpha val="21961"/>
              </a:srgbClr>
            </a:solidFill>
            <a:prstDash val="solid"/>
            <a:headEnd type="none"/>
            <a:tailEnd type="none"/>
          </a:ln>
        </p:spPr>
      </p:sp>
      <p:sp>
        <p:nvSpPr>
          <p:cNvPr id="4" name="Text 2"/>
          <p:cNvSpPr/>
          <p:nvPr/>
        </p:nvSpPr>
        <p:spPr>
          <a:xfrm>
            <a:off x="432664" y="1339845"/>
            <a:ext cx="8278672" cy="658368"/>
          </a:xfrm>
          <a:prstGeom prst="rect">
            <a:avLst/>
          </a:prstGeom>
          <a:noFill/>
          <a:ln/>
        </p:spPr>
        <p:txBody>
          <a:bodyPr wrap="square" lIns="95250" tIns="95250" rIns="95250" bIns="95250" rtlCol="0" anchor="b"/>
          <a:lstStyle/>
          <a:p>
            <a:pPr algn="ctr" indent="0" marL="0">
              <a:lnSpc>
                <a:spcPct val="100000"/>
              </a:lnSpc>
              <a:spcBef>
                <a:spcPts val="375"/>
              </a:spcBef>
              <a:buNone/>
            </a:pPr>
            <a:r>
              <a:rPr lang="en-US" sz="3456" b="1" spc="72" kern="0" dirty="0">
                <a:solidFill>
                  <a:srgbClr val="FFFFFF"/>
                </a:solidFill>
                <a:latin typeface="Noto Sans" pitchFamily="34" charset="0"/>
                <a:ea typeface="Noto Sans" pitchFamily="34" charset="-122"/>
                <a:cs typeface="Noto Sans" pitchFamily="34" charset="-120"/>
              </a:rPr>
              <a:t>Smart Greenhouse Management System</a:t>
            </a:r>
            <a:endParaRPr lang="en-US" sz="1440" dirty="0"/>
          </a:p>
        </p:txBody>
      </p:sp>
      <p:pic>
        <p:nvPicPr>
          <p:cNvPr id="5" name="Image 0" descr="https://oceandoc-ai.obs.ap-southeast-3.myhuaweicloud.com/176218225639393/c9e496f9-b32e-4bee-a5c7-b86ee4affa85/1762187708646/image.png">    </p:cNvPr>
          <p:cNvPicPr>
            <a:picLocks noChangeAspect="1"/>
          </p:cNvPicPr>
          <p:nvPr/>
        </p:nvPicPr>
        <p:blipFill>
          <a:blip r:embed="rId2"/>
          <a:stretch>
            <a:fillRect/>
          </a:stretch>
        </p:blipFill>
        <p:spPr>
          <a:xfrm>
            <a:off x="3901564" y="2113853"/>
            <a:ext cx="1235110" cy="123511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724975" y="323497"/>
            <a:ext cx="3857842" cy="950976"/>
          </a:xfrm>
          <a:prstGeom prst="rect">
            <a:avLst/>
          </a:prstGeom>
          <a:noFill/>
          <a:ln/>
        </p:spPr>
        <p:txBody>
          <a:bodyPr wrap="square" lIns="95250" tIns="95250" rIns="95250" bIns="95250" rtlCol="0" anchor="t">
            <a:spAutoFit/>
          </a:bodyPr>
          <a:lstStyle/>
          <a:p>
            <a:pPr algn="ctr" indent="0" marL="0">
              <a:lnSpc>
                <a:spcPct val="112500"/>
              </a:lnSpc>
              <a:spcBef>
                <a:spcPts val="375"/>
              </a:spcBef>
              <a:buNone/>
            </a:pPr>
            <a:r>
              <a:rPr lang="en-US" sz="4032" b="1" dirty="0">
                <a:solidFill>
                  <a:srgbClr val="6764FB"/>
                </a:solidFill>
                <a:latin typeface="Noto Sans" pitchFamily="34" charset="0"/>
                <a:ea typeface="Noto Sans" pitchFamily="34" charset="-122"/>
                <a:cs typeface="Noto Sans" pitchFamily="34" charset="-120"/>
              </a:rPr>
              <a:t>CONTENT</a:t>
            </a:r>
            <a:endParaRPr lang="en-US" sz="1440" dirty="0"/>
          </a:p>
        </p:txBody>
      </p:sp>
      <p:sp>
        <p:nvSpPr>
          <p:cNvPr id="3" name="Text 1"/>
          <p:cNvSpPr/>
          <p:nvPr/>
        </p:nvSpPr>
        <p:spPr>
          <a:xfrm>
            <a:off x="1266574" y="1730780"/>
            <a:ext cx="3424042" cy="429768"/>
          </a:xfrm>
          <a:prstGeom prst="rect">
            <a:avLst/>
          </a:prstGeom>
          <a:noFill/>
          <a:ln/>
        </p:spPr>
        <p:txBody>
          <a:bodyPr wrap="square" lIns="95250" tIns="95250" rIns="95250" bIns="95250" rtlCol="0" anchor="ctr"/>
          <a:lstStyle/>
          <a:p>
            <a:pPr indent="0" marL="0">
              <a:lnSpc>
                <a:spcPct val="100000"/>
              </a:lnSpc>
              <a:spcBef>
                <a:spcPts val="375"/>
              </a:spcBef>
              <a:buNone/>
            </a:pPr>
            <a:r>
              <a:rPr lang="en-US" sz="1584" dirty="0">
                <a:solidFill>
                  <a:srgbClr val="FFFFFF"/>
                </a:solidFill>
                <a:latin typeface="Noto Sans" pitchFamily="34" charset="0"/>
                <a:ea typeface="Noto Sans" pitchFamily="34" charset="-122"/>
                <a:cs typeface="Noto Sans" pitchFamily="34" charset="-120"/>
              </a:rPr>
              <a:t>System Overview &amp; Class Diagram</a:t>
            </a:r>
            <a:endParaRPr lang="en-US" sz="1440" dirty="0"/>
          </a:p>
        </p:txBody>
      </p:sp>
      <p:sp>
        <p:nvSpPr>
          <p:cNvPr id="4" name="Text 2"/>
          <p:cNvSpPr/>
          <p:nvPr/>
        </p:nvSpPr>
        <p:spPr>
          <a:xfrm>
            <a:off x="707833" y="1625624"/>
            <a:ext cx="713232" cy="621792"/>
          </a:xfrm>
          <a:prstGeom prst="rect">
            <a:avLst/>
          </a:prstGeom>
          <a:noFill/>
          <a:ln/>
        </p:spPr>
        <p:txBody>
          <a:bodyPr wrap="square" lIns="95250" tIns="95250" rIns="95250" bIns="95250" rtlCol="0" anchor="t">
            <a:spAutoFit/>
          </a:bodyPr>
          <a:lstStyle/>
          <a:p>
            <a:pPr algn="ctr" indent="0" marL="0">
              <a:lnSpc>
                <a:spcPct val="112500"/>
              </a:lnSpc>
              <a:spcBef>
                <a:spcPts val="375"/>
              </a:spcBef>
              <a:buNone/>
            </a:pPr>
            <a:r>
              <a:rPr lang="en-US" sz="2304" b="1" dirty="0">
                <a:solidFill>
                  <a:srgbClr val="6764FB"/>
                </a:solidFill>
                <a:latin typeface="Noto Sans" pitchFamily="34" charset="0"/>
                <a:ea typeface="Noto Sans" pitchFamily="34" charset="-122"/>
                <a:cs typeface="Noto Sans" pitchFamily="34" charset="-120"/>
              </a:rPr>
              <a:t>01</a:t>
            </a:r>
            <a:endParaRPr lang="en-US" sz="1440" dirty="0"/>
          </a:p>
        </p:txBody>
      </p:sp>
      <p:sp>
        <p:nvSpPr>
          <p:cNvPr id="5" name="Text 3"/>
          <p:cNvSpPr/>
          <p:nvPr/>
        </p:nvSpPr>
        <p:spPr>
          <a:xfrm>
            <a:off x="4541083" y="1625624"/>
            <a:ext cx="713232" cy="621792"/>
          </a:xfrm>
          <a:prstGeom prst="rect">
            <a:avLst/>
          </a:prstGeom>
          <a:noFill/>
          <a:ln/>
        </p:spPr>
        <p:txBody>
          <a:bodyPr wrap="square" lIns="95250" tIns="95250" rIns="95250" bIns="95250" rtlCol="0" anchor="t">
            <a:spAutoFit/>
          </a:bodyPr>
          <a:lstStyle/>
          <a:p>
            <a:pPr algn="ctr" indent="0" marL="0">
              <a:lnSpc>
                <a:spcPct val="112500"/>
              </a:lnSpc>
              <a:spcBef>
                <a:spcPts val="375"/>
              </a:spcBef>
              <a:buNone/>
            </a:pPr>
            <a:r>
              <a:rPr lang="en-US" sz="2304" b="1" dirty="0">
                <a:solidFill>
                  <a:srgbClr val="6764FB"/>
                </a:solidFill>
                <a:latin typeface="Noto Sans" pitchFamily="34" charset="0"/>
                <a:ea typeface="Noto Sans" pitchFamily="34" charset="-122"/>
                <a:cs typeface="Noto Sans" pitchFamily="34" charset="-120"/>
              </a:rPr>
              <a:t>02</a:t>
            </a:r>
            <a:endParaRPr lang="en-US" sz="1440" dirty="0"/>
          </a:p>
        </p:txBody>
      </p:sp>
      <p:sp>
        <p:nvSpPr>
          <p:cNvPr id="6" name="Text 4"/>
          <p:cNvSpPr/>
          <p:nvPr/>
        </p:nvSpPr>
        <p:spPr>
          <a:xfrm>
            <a:off x="1267052" y="2435783"/>
            <a:ext cx="3335471" cy="402336"/>
          </a:xfrm>
          <a:prstGeom prst="rect">
            <a:avLst/>
          </a:prstGeom>
          <a:noFill/>
          <a:ln/>
        </p:spPr>
        <p:txBody>
          <a:bodyPr wrap="square" lIns="95250" tIns="95250" rIns="95250" bIns="95250" rtlCol="0" anchor="ctr"/>
          <a:lstStyle/>
          <a:p>
            <a:pPr indent="0" marL="0">
              <a:lnSpc>
                <a:spcPct val="100000"/>
              </a:lnSpc>
              <a:spcBef>
                <a:spcPts val="375"/>
              </a:spcBef>
              <a:buNone/>
            </a:pPr>
            <a:r>
              <a:rPr lang="en-US" sz="1584" dirty="0">
                <a:solidFill>
                  <a:srgbClr val="FFFFFF"/>
                </a:solidFill>
                <a:latin typeface="Noto Sans" pitchFamily="34" charset="0"/>
                <a:ea typeface="Noto Sans" pitchFamily="34" charset="-122"/>
                <a:cs typeface="Noto Sans" pitchFamily="34" charset="-120"/>
              </a:rPr>
              <a:t>Design Patterns </a:t>
            </a:r>
            <a:endParaRPr lang="en-US" sz="1440" dirty="0"/>
          </a:p>
        </p:txBody>
      </p:sp>
      <p:sp>
        <p:nvSpPr>
          <p:cNvPr id="7" name="Text 5"/>
          <p:cNvSpPr/>
          <p:nvPr/>
        </p:nvSpPr>
        <p:spPr>
          <a:xfrm>
            <a:off x="707918" y="2316911"/>
            <a:ext cx="713232" cy="621792"/>
          </a:xfrm>
          <a:prstGeom prst="rect">
            <a:avLst/>
          </a:prstGeom>
          <a:noFill/>
          <a:ln/>
        </p:spPr>
        <p:txBody>
          <a:bodyPr wrap="square" lIns="95250" tIns="95250" rIns="95250" bIns="95250" rtlCol="0" anchor="t">
            <a:spAutoFit/>
          </a:bodyPr>
          <a:lstStyle/>
          <a:p>
            <a:pPr algn="ctr" indent="0" marL="0">
              <a:lnSpc>
                <a:spcPct val="112500"/>
              </a:lnSpc>
              <a:spcBef>
                <a:spcPts val="375"/>
              </a:spcBef>
              <a:buNone/>
            </a:pPr>
            <a:r>
              <a:rPr lang="en-US" sz="2304" b="1" dirty="0">
                <a:solidFill>
                  <a:srgbClr val="6764FB"/>
                </a:solidFill>
                <a:latin typeface="Noto Sans" pitchFamily="34" charset="0"/>
                <a:ea typeface="Noto Sans" pitchFamily="34" charset="-122"/>
                <a:cs typeface="Noto Sans" pitchFamily="34" charset="-120"/>
              </a:rPr>
              <a:t>03</a:t>
            </a:r>
            <a:endParaRPr lang="en-US" sz="1440" dirty="0"/>
          </a:p>
        </p:txBody>
      </p:sp>
      <p:sp>
        <p:nvSpPr>
          <p:cNvPr id="8" name="Text 6"/>
          <p:cNvSpPr/>
          <p:nvPr/>
        </p:nvSpPr>
        <p:spPr>
          <a:xfrm>
            <a:off x="4541083" y="2326055"/>
            <a:ext cx="713232" cy="621792"/>
          </a:xfrm>
          <a:prstGeom prst="rect">
            <a:avLst/>
          </a:prstGeom>
          <a:noFill/>
          <a:ln/>
        </p:spPr>
        <p:txBody>
          <a:bodyPr wrap="square" lIns="95250" tIns="95250" rIns="95250" bIns="95250" rtlCol="0" anchor="t">
            <a:spAutoFit/>
          </a:bodyPr>
          <a:lstStyle/>
          <a:p>
            <a:pPr algn="ctr" indent="0" marL="0">
              <a:lnSpc>
                <a:spcPct val="112500"/>
              </a:lnSpc>
              <a:spcBef>
                <a:spcPts val="375"/>
              </a:spcBef>
              <a:buNone/>
            </a:pPr>
            <a:r>
              <a:rPr lang="en-US" sz="2304" b="1" dirty="0">
                <a:solidFill>
                  <a:srgbClr val="6764FB"/>
                </a:solidFill>
                <a:latin typeface="Noto Sans" pitchFamily="34" charset="0"/>
                <a:ea typeface="Noto Sans" pitchFamily="34" charset="-122"/>
                <a:cs typeface="Noto Sans" pitchFamily="34" charset="-120"/>
              </a:rPr>
              <a:t>04</a:t>
            </a:r>
            <a:endParaRPr lang="en-US" sz="1440" dirty="0"/>
          </a:p>
        </p:txBody>
      </p:sp>
      <p:sp>
        <p:nvSpPr>
          <p:cNvPr id="9" name="Text 7"/>
          <p:cNvSpPr/>
          <p:nvPr/>
        </p:nvSpPr>
        <p:spPr>
          <a:xfrm>
            <a:off x="5099303" y="2380919"/>
            <a:ext cx="5486400" cy="457200"/>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1440" dirty="0">
                <a:solidFill>
                  <a:srgbClr val="FFFFFF"/>
                </a:solidFill>
                <a:latin typeface="Noto Sans" pitchFamily="34" charset="0"/>
                <a:ea typeface="Noto Sans" pitchFamily="34" charset="-122"/>
                <a:cs typeface="Noto Sans" pitchFamily="34" charset="-120"/>
              </a:rPr>
              <a:t>Demo</a:t>
            </a:r>
            <a:endParaRPr lang="en-US" sz="1440" dirty="0"/>
          </a:p>
        </p:txBody>
      </p:sp>
      <p:sp>
        <p:nvSpPr>
          <p:cNvPr id="10" name="Text 8"/>
          <p:cNvSpPr/>
          <p:nvPr/>
        </p:nvSpPr>
        <p:spPr>
          <a:xfrm>
            <a:off x="5099303" y="1730780"/>
            <a:ext cx="2202312" cy="457200"/>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1440" dirty="0">
                <a:solidFill>
                  <a:srgbClr val="FFFFFF"/>
                </a:solidFill>
                <a:latin typeface="Noto Sans" pitchFamily="34" charset="0"/>
                <a:ea typeface="Noto Sans" pitchFamily="34" charset="-122"/>
                <a:cs typeface="Noto Sans" pitchFamily="34" charset="-120"/>
              </a:rPr>
              <a:t>Assumptions</a:t>
            </a:r>
            <a:endParaRPr lang="en-US" sz="14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322272" y="159368"/>
            <a:ext cx="5848771" cy="557784"/>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2592" b="1" dirty="0">
                <a:solidFill>
                  <a:srgbClr val="6764FB"/>
                </a:solidFill>
                <a:latin typeface="Noto Sans" pitchFamily="34" charset="0"/>
                <a:ea typeface="Noto Sans" pitchFamily="34" charset="-122"/>
                <a:cs typeface="Noto Sans" pitchFamily="34" charset="-120"/>
              </a:rPr>
              <a:t>System Overview &amp; Class Diagram</a:t>
            </a:r>
            <a:endParaRPr lang="en-US" sz="1440" dirty="0"/>
          </a:p>
        </p:txBody>
      </p:sp>
      <p:pic>
        <p:nvPicPr>
          <p:cNvPr id="3" name="Image 0" descr="preencoded.png">    </p:cNvPr>
          <p:cNvPicPr>
            <a:picLocks noChangeAspect="1"/>
          </p:cNvPicPr>
          <p:nvPr/>
        </p:nvPicPr>
        <p:blipFill>
          <a:blip r:embed="rId2"/>
          <a:stretch>
            <a:fillRect/>
          </a:stretch>
        </p:blipFill>
        <p:spPr>
          <a:xfrm>
            <a:off x="463370" y="438260"/>
            <a:ext cx="914028" cy="914028"/>
          </a:xfrm>
          <a:prstGeom prst="rect">
            <a:avLst/>
          </a:prstGeom>
        </p:spPr>
      </p:pic>
      <p:sp>
        <p:nvSpPr>
          <p:cNvPr id="4" name="Text 1"/>
          <p:cNvSpPr/>
          <p:nvPr/>
        </p:nvSpPr>
        <p:spPr>
          <a:xfrm>
            <a:off x="345154" y="742055"/>
            <a:ext cx="1356643" cy="923544"/>
          </a:xfrm>
          <a:prstGeom prst="rect">
            <a:avLst/>
          </a:prstGeom>
          <a:noFill/>
          <a:ln/>
        </p:spPr>
        <p:txBody>
          <a:bodyPr wrap="square" lIns="95250" tIns="95250" rIns="95250" bIns="95250" rtlCol="0" anchor="t">
            <a:spAutoFit/>
          </a:bodyPr>
          <a:lstStyle/>
          <a:p>
            <a:pPr algn="ctr" indent="0" marL="0">
              <a:lnSpc>
                <a:spcPct val="112500"/>
              </a:lnSpc>
              <a:spcBef>
                <a:spcPts val="375"/>
              </a:spcBef>
              <a:buNone/>
            </a:pPr>
            <a:r>
              <a:rPr lang="en-US" sz="3888" b="1" dirty="0">
                <a:solidFill>
                  <a:srgbClr val="C560FF"/>
                </a:solidFill>
                <a:latin typeface="Noto Sans" pitchFamily="34" charset="0"/>
                <a:ea typeface="Noto Sans" pitchFamily="34" charset="-122"/>
                <a:cs typeface="Noto Sans" pitchFamily="34" charset="-120"/>
              </a:rPr>
              <a:t>01</a:t>
            </a:r>
            <a:endParaRPr lang="en-US" sz="1440" dirty="0"/>
          </a:p>
        </p:txBody>
      </p:sp>
      <p:sp>
        <p:nvSpPr>
          <p:cNvPr id="5" name="Text 2"/>
          <p:cNvSpPr/>
          <p:nvPr/>
        </p:nvSpPr>
        <p:spPr>
          <a:xfrm>
            <a:off x="1653936" y="838231"/>
            <a:ext cx="5836127" cy="2202312"/>
          </a:xfrm>
          <a:prstGeom prst="rect">
            <a:avLst/>
          </a:prstGeom>
          <a:noFill/>
          <a:ln/>
        </p:spPr>
        <p:txBody>
          <a:bodyPr wrap="square" lIns="95250" tIns="95250" rIns="95250" bIns="95250" rtlCol="0" anchor="t">
            <a:spAutoFit/>
          </a:bodyPr>
          <a:lstStyle/>
          <a:p>
            <a:pPr marL="251460" indent="-251460">
              <a:lnSpc>
                <a:spcPct val="112500"/>
              </a:lnSpc>
              <a:spcBef>
                <a:spcPts val="10"/>
              </a:spcBef>
              <a:buSzPct val="100000"/>
              <a:buChar char="•"/>
            </a:pPr>
            <a:r>
              <a:rPr lang="en-US" sz="1584" dirty="0">
                <a:solidFill>
                  <a:srgbClr val="DBFFFF"/>
                </a:solidFill>
                <a:latin typeface="Noto Sans" pitchFamily="34" charset="0"/>
                <a:ea typeface="Noto Sans" pitchFamily="34" charset="-122"/>
                <a:cs typeface="Noto Sans" pitchFamily="34" charset="-120"/>
              </a:rPr>
              <a:t>Plants move through stages automatically using timers and threads</a:t>
            </a:r>
            <a:endParaRPr lang="en-US" sz="1440" dirty="0"/>
          </a:p>
          <a:p>
            <a:pPr marL="251460" indent="-251460">
              <a:lnSpc>
                <a:spcPct val="112500"/>
              </a:lnSpc>
              <a:spcBef>
                <a:spcPts val="10"/>
              </a:spcBef>
              <a:buSzPct val="100000"/>
              <a:buChar char="•"/>
            </a:pPr>
            <a:r>
              <a:rPr lang="en-US" sz="1584" dirty="0">
                <a:solidFill>
                  <a:srgbClr val="DBFFFF"/>
                </a:solidFill>
                <a:latin typeface="Noto Sans" pitchFamily="34" charset="0"/>
                <a:ea typeface="Noto Sans" pitchFamily="34" charset="-122"/>
                <a:cs typeface="Noto Sans" pitchFamily="34" charset="-120"/>
              </a:rPr>
              <a:t>Care tasks (water/fertilize) require waiting → staff get “busy”</a:t>
            </a:r>
            <a:endParaRPr lang="en-US" sz="1440" dirty="0"/>
          </a:p>
          <a:p>
            <a:pPr marL="251460" indent="-251460">
              <a:lnSpc>
                <a:spcPct val="112500"/>
              </a:lnSpc>
              <a:spcBef>
                <a:spcPts val="10"/>
              </a:spcBef>
              <a:buSzPct val="100000"/>
              <a:buChar char="•"/>
            </a:pPr>
            <a:r>
              <a:rPr lang="en-US" sz="1584" dirty="0">
                <a:solidFill>
                  <a:srgbClr val="DBFFFF"/>
                </a:solidFill>
                <a:latin typeface="Noto Sans" pitchFamily="34" charset="0"/>
                <a:ea typeface="Noto Sans" pitchFamily="34" charset="-122"/>
                <a:cs typeface="Noto Sans" pitchFamily="34" charset="-120"/>
              </a:rPr>
              <a:t>Ensures the Chain of Responsibility is actually relevant</a:t>
            </a:r>
            <a:endParaRPr lang="en-US" sz="1440" dirty="0"/>
          </a:p>
          <a:p>
            <a:pPr marL="251460" indent="-251460">
              <a:lnSpc>
                <a:spcPct val="112500"/>
              </a:lnSpc>
              <a:spcBef>
                <a:spcPts val="10"/>
              </a:spcBef>
              <a:buSzPct val="100000"/>
              <a:buChar char="•"/>
            </a:pPr>
            <a:r>
              <a:rPr lang="en-US" sz="1584" dirty="0">
                <a:solidFill>
                  <a:srgbClr val="DBFFFF"/>
                </a:solidFill>
                <a:latin typeface="Noto Sans" pitchFamily="34" charset="0"/>
                <a:ea typeface="Noto Sans" pitchFamily="34" charset="-122"/>
                <a:cs typeface="Noto Sans" pitchFamily="34" charset="-120"/>
              </a:rPr>
              <a:t>Staff execute tasks in parallel</a:t>
            </a:r>
            <a:endParaRPr lang="en-US" sz="1440" dirty="0"/>
          </a:p>
          <a:p>
            <a:pPr marL="251460" indent="-251460">
              <a:lnSpc>
                <a:spcPct val="112500"/>
              </a:lnSpc>
              <a:spcBef>
                <a:spcPts val="10"/>
              </a:spcBef>
              <a:buSzPct val="100000"/>
              <a:buChar char="•"/>
            </a:pPr>
            <a:r>
              <a:rPr lang="en-US" sz="1584" dirty="0">
                <a:solidFill>
                  <a:srgbClr val="DBFFFF"/>
                </a:solidFill>
                <a:latin typeface="Noto Sans" pitchFamily="34" charset="0"/>
                <a:ea typeface="Noto Sans" pitchFamily="34" charset="-122"/>
                <a:cs typeface="Noto Sans" pitchFamily="34" charset="-120"/>
              </a:rPr>
              <a:t>Orders are constructed step-by-step</a:t>
            </a:r>
            <a:endParaRPr lang="en-US" sz="1440" dirty="0"/>
          </a:p>
          <a:p>
            <a:pPr marL="251460" indent="-251460">
              <a:lnSpc>
                <a:spcPct val="112500"/>
              </a:lnSpc>
              <a:spcBef>
                <a:spcPts val="10"/>
              </a:spcBef>
              <a:buSzPct val="100000"/>
              <a:buChar char="•"/>
            </a:pPr>
            <a:r>
              <a:rPr lang="en-US" sz="1584" dirty="0">
                <a:solidFill>
                  <a:srgbClr val="DBFFFF"/>
                </a:solidFill>
                <a:latin typeface="Noto Sans" pitchFamily="34" charset="0"/>
                <a:ea typeface="Noto Sans" pitchFamily="34" charset="-122"/>
                <a:cs typeface="Noto Sans" pitchFamily="34" charset="-120"/>
              </a:rPr>
              <a:t>Plants and items stored in sections; traversed with an iterator</a:t>
            </a:r>
            <a:endParaRPr lang="en-US" sz="1440" dirty="0"/>
          </a:p>
          <a:p>
            <a:pPr marL="251460" indent="-251460">
              <a:lnSpc>
                <a:spcPct val="112500"/>
              </a:lnSpc>
              <a:spcBef>
                <a:spcPts val="10"/>
              </a:spcBef>
              <a:buSzPct val="100000"/>
              <a:buChar char="•"/>
            </a:pPr>
            <a:r>
              <a:rPr lang="en-US" sz="1584" dirty="0">
                <a:solidFill>
                  <a:srgbClr val="DBFFFF"/>
                </a:solidFill>
                <a:latin typeface="Noto Sans" pitchFamily="34" charset="0"/>
                <a:ea typeface="Noto Sans" pitchFamily="34" charset="-122"/>
                <a:cs typeface="Noto Sans" pitchFamily="34" charset="-120"/>
              </a:rPr>
              <a:t>Mediator routes tasks between Customers, Caretakers, Sales Managers</a:t>
            </a:r>
            <a:endParaRPr lang="en-US" sz="14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322272" y="159368"/>
            <a:ext cx="5848771" cy="557784"/>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2592" b="1" dirty="0">
                <a:solidFill>
                  <a:srgbClr val="6764FB"/>
                </a:solidFill>
                <a:latin typeface="Noto Sans" pitchFamily="34" charset="0"/>
                <a:ea typeface="Noto Sans" pitchFamily="34" charset="-122"/>
                <a:cs typeface="Noto Sans" pitchFamily="34" charset="-120"/>
              </a:rPr>
              <a:t>System Overview &amp; Class Diagram</a:t>
            </a:r>
            <a:endParaRPr lang="en-US" sz="1440" dirty="0"/>
          </a:p>
        </p:txBody>
      </p:sp>
      <p:pic>
        <p:nvPicPr>
          <p:cNvPr id="3" name="Image 0" descr="preencoded.png">    </p:cNvPr>
          <p:cNvPicPr>
            <a:picLocks noChangeAspect="1"/>
          </p:cNvPicPr>
          <p:nvPr/>
        </p:nvPicPr>
        <p:blipFill>
          <a:blip r:embed="rId2"/>
          <a:stretch>
            <a:fillRect/>
          </a:stretch>
        </p:blipFill>
        <p:spPr>
          <a:xfrm>
            <a:off x="463370" y="438260"/>
            <a:ext cx="914028" cy="914028"/>
          </a:xfrm>
          <a:prstGeom prst="rect">
            <a:avLst/>
          </a:prstGeom>
        </p:spPr>
      </p:pic>
      <p:sp>
        <p:nvSpPr>
          <p:cNvPr id="4" name="Text 1"/>
          <p:cNvSpPr/>
          <p:nvPr/>
        </p:nvSpPr>
        <p:spPr>
          <a:xfrm>
            <a:off x="345154" y="742055"/>
            <a:ext cx="1356643" cy="923544"/>
          </a:xfrm>
          <a:prstGeom prst="rect">
            <a:avLst/>
          </a:prstGeom>
          <a:noFill/>
          <a:ln/>
        </p:spPr>
        <p:txBody>
          <a:bodyPr wrap="square" lIns="95250" tIns="95250" rIns="95250" bIns="95250" rtlCol="0" anchor="t">
            <a:spAutoFit/>
          </a:bodyPr>
          <a:lstStyle/>
          <a:p>
            <a:pPr algn="ctr" indent="0" marL="0">
              <a:lnSpc>
                <a:spcPct val="112500"/>
              </a:lnSpc>
              <a:spcBef>
                <a:spcPts val="375"/>
              </a:spcBef>
              <a:buNone/>
            </a:pPr>
            <a:r>
              <a:rPr lang="en-US" sz="3888" b="1" dirty="0">
                <a:solidFill>
                  <a:srgbClr val="C560FF"/>
                </a:solidFill>
                <a:latin typeface="Noto Sans" pitchFamily="34" charset="0"/>
                <a:ea typeface="Noto Sans" pitchFamily="34" charset="-122"/>
                <a:cs typeface="Noto Sans" pitchFamily="34" charset="-120"/>
              </a:rPr>
              <a:t>01</a:t>
            </a:r>
            <a:endParaRPr lang="en-US" sz="1440" dirty="0"/>
          </a:p>
        </p:txBody>
      </p:sp>
      <p:pic>
        <p:nvPicPr>
          <p:cNvPr id="5" name="Image 1" descr="https://oceandoc-ai.obs.ap-southeast-3.myhuaweicloud.com/176218225639393/34d96fbf-a99f-4c6d-9bac-eb74648e20e4/1762198611117/ClassDiagram.png">    </p:cNvPr>
          <p:cNvPicPr>
            <a:picLocks noChangeAspect="1"/>
          </p:cNvPicPr>
          <p:nvPr/>
        </p:nvPicPr>
        <p:blipFill>
          <a:blip r:embed="rId3"/>
          <a:stretch>
            <a:fillRect/>
          </a:stretch>
        </p:blipFill>
        <p:spPr>
          <a:xfrm>
            <a:off x="1550530" y="668763"/>
            <a:ext cx="6735018" cy="430664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1377398" y="159368"/>
            <a:ext cx="5221112" cy="557784"/>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2592" b="1" dirty="0">
                <a:solidFill>
                  <a:srgbClr val="6764FB"/>
                </a:solidFill>
                <a:latin typeface="Noto Sans" pitchFamily="34" charset="0"/>
                <a:ea typeface="Noto Sans" pitchFamily="34" charset="-122"/>
                <a:cs typeface="Noto Sans" pitchFamily="34" charset="-120"/>
              </a:rPr>
              <a:t>Assumptions</a:t>
            </a:r>
            <a:endParaRPr lang="en-US" sz="1440" dirty="0"/>
          </a:p>
        </p:txBody>
      </p:sp>
      <p:pic>
        <p:nvPicPr>
          <p:cNvPr id="4" name="Image 0" descr="preencoded.png">    </p:cNvPr>
          <p:cNvPicPr>
            <a:picLocks noChangeAspect="1"/>
          </p:cNvPicPr>
          <p:nvPr/>
        </p:nvPicPr>
        <p:blipFill>
          <a:blip r:embed="rId2"/>
          <a:stretch>
            <a:fillRect/>
          </a:stretch>
        </p:blipFill>
        <p:spPr>
          <a:xfrm>
            <a:off x="463370" y="438260"/>
            <a:ext cx="914028" cy="914028"/>
          </a:xfrm>
          <a:prstGeom prst="rect">
            <a:avLst/>
          </a:prstGeom>
        </p:spPr>
      </p:pic>
      <p:sp>
        <p:nvSpPr>
          <p:cNvPr id="5" name="Text 1"/>
          <p:cNvSpPr/>
          <p:nvPr/>
        </p:nvSpPr>
        <p:spPr>
          <a:xfrm>
            <a:off x="345154" y="742055"/>
            <a:ext cx="1356643" cy="923544"/>
          </a:xfrm>
          <a:prstGeom prst="rect">
            <a:avLst/>
          </a:prstGeom>
          <a:noFill/>
          <a:ln/>
        </p:spPr>
        <p:txBody>
          <a:bodyPr wrap="square" lIns="95250" tIns="95250" rIns="95250" bIns="95250" rtlCol="0" anchor="t">
            <a:spAutoFit/>
          </a:bodyPr>
          <a:lstStyle/>
          <a:p>
            <a:pPr algn="ctr" indent="0" marL="0">
              <a:lnSpc>
                <a:spcPct val="112500"/>
              </a:lnSpc>
              <a:spcBef>
                <a:spcPts val="375"/>
              </a:spcBef>
              <a:buNone/>
            </a:pPr>
            <a:r>
              <a:rPr lang="en-US" sz="3888" b="1" dirty="0">
                <a:solidFill>
                  <a:srgbClr val="C560FF"/>
                </a:solidFill>
                <a:latin typeface="Noto Sans" pitchFamily="34" charset="0"/>
                <a:ea typeface="Noto Sans" pitchFamily="34" charset="-122"/>
                <a:cs typeface="Noto Sans" pitchFamily="34" charset="-120"/>
              </a:rPr>
              <a:t>02</a:t>
            </a:r>
            <a:endParaRPr lang="en-US" sz="1440" dirty="0"/>
          </a:p>
        </p:txBody>
      </p:sp>
      <p:sp>
        <p:nvSpPr>
          <p:cNvPr id="6" name="Text 2"/>
          <p:cNvSpPr/>
          <p:nvPr/>
        </p:nvSpPr>
        <p:spPr>
          <a:xfrm>
            <a:off x="1377398" y="992393"/>
            <a:ext cx="7333699" cy="3975173"/>
          </a:xfrm>
          <a:prstGeom prst="rect">
            <a:avLst/>
          </a:prstGeom>
          <a:noFill/>
          <a:ln/>
        </p:spPr>
        <p:txBody>
          <a:bodyPr wrap="square" lIns="95250" tIns="95250" rIns="95250" bIns="95250" rtlCol="0" anchor="t"/>
          <a:lstStyle/>
          <a:p>
            <a:pPr indent="0" marL="0">
              <a:lnSpc>
                <a:spcPct val="112500"/>
              </a:lnSpc>
              <a:spcBef>
                <a:spcPts val="375"/>
              </a:spcBef>
              <a:buNone/>
            </a:pPr>
            <a:r>
              <a:rPr lang="en-US" sz="1440" dirty="0">
                <a:solidFill>
                  <a:srgbClr val="FFFFFF"/>
                </a:solidFill>
                <a:latin typeface="Noto Sans" pitchFamily="34" charset="0"/>
                <a:ea typeface="Noto Sans" pitchFamily="34" charset="-122"/>
                <a:cs typeface="Noto Sans" pitchFamily="34" charset="-120"/>
              </a:rPr>
              <a:t>Order Restriction:</a:t>
            </a:r>
            <a:endParaRPr lang="en-US" sz="1440" dirty="0"/>
          </a:p>
          <a:p>
            <a:pPr marL="228600" indent="-228600">
              <a:lnSpc>
                <a:spcPct val="112500"/>
              </a:lnSpc>
              <a:spcBef>
                <a:spcPts val="10"/>
              </a:spcBef>
              <a:buSzPct val="100000"/>
              <a:buChar char="•"/>
            </a:pPr>
            <a:r>
              <a:rPr lang="en-US" sz="1440" dirty="0">
                <a:solidFill>
                  <a:srgbClr val="FFFFFF"/>
                </a:solidFill>
                <a:latin typeface="Noto Sans" pitchFamily="34" charset="0"/>
                <a:ea typeface="Noto Sans" pitchFamily="34" charset="-122"/>
                <a:cs typeface="Noto Sans" pitchFamily="34" charset="-120"/>
              </a:rPr>
              <a:t>A customer will not buy multiple items with the same name in a single order (e.g., they may buy one sunflower and one tulip, but not two sunflowers in the same order).</a:t>
            </a:r>
            <a:endParaRPr lang="en-US" sz="1440" dirty="0"/>
          </a:p>
          <a:p>
            <a:pPr indent="0" marL="0">
              <a:lnSpc>
                <a:spcPct val="112500"/>
              </a:lnSpc>
              <a:spcBef>
                <a:spcPts val="375"/>
              </a:spcBef>
              <a:buNone/>
            </a:pPr>
            <a:r>
              <a:rPr lang="en-US" sz="1440" dirty="0">
                <a:solidFill>
                  <a:srgbClr val="FFFFFF"/>
                </a:solidFill>
                <a:latin typeface="Noto Sans" pitchFamily="34" charset="0"/>
                <a:ea typeface="Noto Sans" pitchFamily="34" charset="-122"/>
                <a:cs typeface="Noto Sans" pitchFamily="34" charset="-120"/>
              </a:rPr>
              <a:t>Design-Pattern Focus:</a:t>
            </a:r>
            <a:pPr indent="0" marL="0">
              <a:lnSpc>
                <a:spcPct val="112500"/>
              </a:lnSpc>
              <a:spcBef>
                <a:spcPts val="375"/>
              </a:spcBef>
              <a:buNone/>
            </a:pPr>
            <a:r>
              <a:rPr lang="en-US" sz="1440" dirty="0">
                <a:solidFill>
                  <a:srgbClr val="FFFFFF"/>
                </a:solidFill>
                <a:latin typeface="Noto Sans" pitchFamily="34" charset="0"/>
                <a:ea typeface="Noto Sans" pitchFamily="34" charset="-122"/>
                <a:cs typeface="Noto Sans" pitchFamily="34" charset="-120"/>
              </a:rPr>
              <a:t> </a:t>
            </a:r>
            <a:endParaRPr lang="en-US" sz="1440" dirty="0"/>
          </a:p>
          <a:p>
            <a:pPr marL="228600" indent="-228600">
              <a:lnSpc>
                <a:spcPct val="112500"/>
              </a:lnSpc>
              <a:spcBef>
                <a:spcPts val="10"/>
              </a:spcBef>
              <a:buSzPct val="100000"/>
              <a:buChar char="•"/>
            </a:pPr>
            <a:r>
              <a:rPr lang="en-US" sz="1440" dirty="0">
                <a:solidFill>
                  <a:srgbClr val="FFFFFF"/>
                </a:solidFill>
                <a:latin typeface="Noto Sans" pitchFamily="34" charset="0"/>
                <a:ea typeface="Noto Sans" pitchFamily="34" charset="-122"/>
                <a:cs typeface="Noto Sans" pitchFamily="34" charset="-120"/>
              </a:rPr>
              <a:t>The simulation prioritizes demonstrating design patterns, modular structure, and unit testing rather than a graphical user interface.</a:t>
            </a:r>
            <a:endParaRPr lang="en-US" sz="1440" dirty="0"/>
          </a:p>
          <a:p>
            <a:pPr indent="0" marL="0">
              <a:lnSpc>
                <a:spcPct val="112500"/>
              </a:lnSpc>
              <a:spcBef>
                <a:spcPts val="375"/>
              </a:spcBef>
              <a:buNone/>
            </a:pPr>
            <a:r>
              <a:rPr lang="en-US" sz="1440" dirty="0">
                <a:solidFill>
                  <a:srgbClr val="FFFFFF"/>
                </a:solidFill>
                <a:latin typeface="Noto Sans" pitchFamily="34" charset="0"/>
                <a:ea typeface="Noto Sans" pitchFamily="34" charset="-122"/>
                <a:cs typeface="Noto Sans" pitchFamily="34" charset="-120"/>
              </a:rPr>
              <a:t>Plant Decoration:</a:t>
            </a:r>
            <a:endParaRPr lang="en-US" sz="1440" dirty="0"/>
          </a:p>
          <a:p>
            <a:pPr marL="228600" indent="-228600">
              <a:lnSpc>
                <a:spcPct val="112500"/>
              </a:lnSpc>
              <a:spcBef>
                <a:spcPts val="10"/>
              </a:spcBef>
              <a:buSzPct val="100000"/>
              <a:buChar char="•"/>
            </a:pPr>
            <a:r>
              <a:rPr lang="en-US" sz="1440" dirty="0">
                <a:solidFill>
                  <a:srgbClr val="FFFFFF"/>
                </a:solidFill>
                <a:latin typeface="Noto Sans" pitchFamily="34" charset="0"/>
                <a:ea typeface="Noto Sans" pitchFamily="34" charset="-122"/>
                <a:cs typeface="Noto Sans" pitchFamily="34" charset="-120"/>
              </a:rPr>
              <a:t>A plant may be “decorated” with a pot or decoration at purchase time, forming a customized product.</a:t>
            </a:r>
            <a:endParaRPr lang="en-US" sz="144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1377398" y="159368"/>
            <a:ext cx="5221112" cy="557784"/>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2592" b="1" dirty="0">
                <a:solidFill>
                  <a:srgbClr val="6764FB"/>
                </a:solidFill>
                <a:latin typeface="Noto Sans" pitchFamily="34" charset="0"/>
                <a:ea typeface="Noto Sans" pitchFamily="34" charset="-122"/>
                <a:cs typeface="Noto Sans" pitchFamily="34" charset="-120"/>
              </a:rPr>
              <a:t>Assumptions</a:t>
            </a:r>
            <a:endParaRPr lang="en-US" sz="1440" dirty="0"/>
          </a:p>
        </p:txBody>
      </p:sp>
      <p:pic>
        <p:nvPicPr>
          <p:cNvPr id="4" name="Image 0" descr="preencoded.png">    </p:cNvPr>
          <p:cNvPicPr>
            <a:picLocks noChangeAspect="1"/>
          </p:cNvPicPr>
          <p:nvPr/>
        </p:nvPicPr>
        <p:blipFill>
          <a:blip r:embed="rId2"/>
          <a:stretch>
            <a:fillRect/>
          </a:stretch>
        </p:blipFill>
        <p:spPr>
          <a:xfrm>
            <a:off x="463370" y="438260"/>
            <a:ext cx="914028" cy="914028"/>
          </a:xfrm>
          <a:prstGeom prst="rect">
            <a:avLst/>
          </a:prstGeom>
        </p:spPr>
      </p:pic>
      <p:sp>
        <p:nvSpPr>
          <p:cNvPr id="5" name="Text 1"/>
          <p:cNvSpPr/>
          <p:nvPr/>
        </p:nvSpPr>
        <p:spPr>
          <a:xfrm>
            <a:off x="345154" y="742055"/>
            <a:ext cx="1356643" cy="923544"/>
          </a:xfrm>
          <a:prstGeom prst="rect">
            <a:avLst/>
          </a:prstGeom>
          <a:noFill/>
          <a:ln/>
        </p:spPr>
        <p:txBody>
          <a:bodyPr wrap="square" lIns="95250" tIns="95250" rIns="95250" bIns="95250" rtlCol="0" anchor="t">
            <a:spAutoFit/>
          </a:bodyPr>
          <a:lstStyle/>
          <a:p>
            <a:pPr algn="ctr" indent="0" marL="0">
              <a:lnSpc>
                <a:spcPct val="112500"/>
              </a:lnSpc>
              <a:spcBef>
                <a:spcPts val="375"/>
              </a:spcBef>
              <a:buNone/>
            </a:pPr>
            <a:r>
              <a:rPr lang="en-US" sz="3888" b="1" dirty="0">
                <a:solidFill>
                  <a:srgbClr val="C560FF"/>
                </a:solidFill>
                <a:latin typeface="Noto Sans" pitchFamily="34" charset="0"/>
                <a:ea typeface="Noto Sans" pitchFamily="34" charset="-122"/>
                <a:cs typeface="Noto Sans" pitchFamily="34" charset="-120"/>
              </a:rPr>
              <a:t>02</a:t>
            </a:r>
            <a:endParaRPr lang="en-US" sz="1440" dirty="0"/>
          </a:p>
        </p:txBody>
      </p:sp>
      <p:sp>
        <p:nvSpPr>
          <p:cNvPr id="6" name="Text 2"/>
          <p:cNvSpPr/>
          <p:nvPr/>
        </p:nvSpPr>
        <p:spPr>
          <a:xfrm>
            <a:off x="1377398" y="992393"/>
            <a:ext cx="7333699" cy="3975173"/>
          </a:xfrm>
          <a:prstGeom prst="rect">
            <a:avLst/>
          </a:prstGeom>
          <a:noFill/>
          <a:ln/>
        </p:spPr>
        <p:txBody>
          <a:bodyPr wrap="square" lIns="95250" tIns="95250" rIns="95250" bIns="95250" rtlCol="0" anchor="t"/>
          <a:lstStyle/>
          <a:p>
            <a:pPr indent="0" marL="0">
              <a:lnSpc>
                <a:spcPct val="112500"/>
              </a:lnSpc>
              <a:spcBef>
                <a:spcPts val="375"/>
              </a:spcBef>
              <a:buNone/>
            </a:pPr>
            <a:r>
              <a:rPr lang="en-US" sz="1440" dirty="0">
                <a:solidFill>
                  <a:srgbClr val="FFFFFF"/>
                </a:solidFill>
                <a:latin typeface="Noto Sans" pitchFamily="34" charset="0"/>
                <a:ea typeface="Noto Sans" pitchFamily="34" charset="-122"/>
                <a:cs typeface="Noto Sans" pitchFamily="34" charset="-120"/>
              </a:rPr>
              <a:t>Concurrency Simplification:</a:t>
            </a:r>
            <a:endParaRPr lang="en-US" sz="1440" dirty="0"/>
          </a:p>
          <a:p>
            <a:pPr marL="228600" indent="-228600">
              <a:lnSpc>
                <a:spcPct val="112500"/>
              </a:lnSpc>
              <a:spcBef>
                <a:spcPts val="10"/>
              </a:spcBef>
              <a:buSzPct val="100000"/>
              <a:buChar char="•"/>
            </a:pPr>
            <a:r>
              <a:rPr lang="en-US" sz="1440" dirty="0">
                <a:solidFill>
                  <a:srgbClr val="FFFFFF"/>
                </a:solidFill>
                <a:latin typeface="Noto Sans" pitchFamily="34" charset="0"/>
                <a:ea typeface="Noto Sans" pitchFamily="34" charset="-122"/>
                <a:cs typeface="Noto Sans" pitchFamily="34" charset="-120"/>
              </a:rPr>
              <a:t>Threads are used to simulate parallel plant care and state changes, focusing on correctness and race-safety. Full real-time scheduling and long-term persistence are out of scope.</a:t>
            </a:r>
            <a:endParaRPr lang="en-US" sz="1440" dirty="0"/>
          </a:p>
          <a:p>
            <a:pPr indent="0" marL="0">
              <a:lnSpc>
                <a:spcPct val="112500"/>
              </a:lnSpc>
              <a:spcBef>
                <a:spcPts val="375"/>
              </a:spcBef>
              <a:buNone/>
            </a:pPr>
            <a:r>
              <a:rPr lang="en-US" sz="1440" dirty="0">
                <a:solidFill>
                  <a:srgbClr val="FFFFFF"/>
                </a:solidFill>
                <a:latin typeface="Noto Sans" pitchFamily="34" charset="0"/>
                <a:ea typeface="Noto Sans" pitchFamily="34" charset="-122"/>
                <a:cs typeface="Noto Sans" pitchFamily="34" charset="-120"/>
              </a:rPr>
              <a:t>Sellable Items:</a:t>
            </a:r>
            <a:pPr indent="0" marL="0">
              <a:lnSpc>
                <a:spcPct val="112500"/>
              </a:lnSpc>
              <a:spcBef>
                <a:spcPts val="375"/>
              </a:spcBef>
              <a:buNone/>
            </a:pPr>
            <a:endParaRPr lang="en-US" sz="1440" dirty="0"/>
          </a:p>
          <a:p>
            <a:pPr marL="228600" indent="-228600">
              <a:lnSpc>
                <a:spcPct val="112500"/>
              </a:lnSpc>
              <a:spcBef>
                <a:spcPts val="10"/>
              </a:spcBef>
              <a:buSzPct val="100000"/>
              <a:buChar char="•"/>
            </a:pPr>
            <a:r>
              <a:rPr lang="en-US" sz="1440" dirty="0">
                <a:solidFill>
                  <a:srgbClr val="FFFFFF"/>
                </a:solidFill>
                <a:latin typeface="Noto Sans" pitchFamily="34" charset="0"/>
                <a:ea typeface="Noto Sans" pitchFamily="34" charset="-122"/>
                <a:cs typeface="Noto Sans" pitchFamily="34" charset="-120"/>
              </a:rPr>
              <a:t>Pots, decorations, seeds, and plants are all treated as individual sellable items. They may be purchased alone or combined within an order.</a:t>
            </a:r>
            <a:endParaRPr lang="en-US" sz="144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465422" y="159368"/>
            <a:ext cx="5221112" cy="557784"/>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2592" b="1" dirty="0">
                <a:solidFill>
                  <a:srgbClr val="6764FB"/>
                </a:solidFill>
                <a:latin typeface="Noto Sans" pitchFamily="34" charset="0"/>
                <a:ea typeface="Noto Sans" pitchFamily="34" charset="-122"/>
                <a:cs typeface="Noto Sans" pitchFamily="34" charset="-120"/>
              </a:rPr>
              <a:t>Design Patterns</a:t>
            </a:r>
            <a:endParaRPr lang="en-US" sz="1440" dirty="0"/>
          </a:p>
        </p:txBody>
      </p:sp>
      <p:pic>
        <p:nvPicPr>
          <p:cNvPr id="3" name="Image 0" descr="preencoded.png">    </p:cNvPr>
          <p:cNvPicPr>
            <a:picLocks noChangeAspect="1"/>
          </p:cNvPicPr>
          <p:nvPr/>
        </p:nvPicPr>
        <p:blipFill>
          <a:blip r:embed="rId2"/>
          <a:stretch>
            <a:fillRect/>
          </a:stretch>
        </p:blipFill>
        <p:spPr>
          <a:xfrm>
            <a:off x="463370" y="438260"/>
            <a:ext cx="914028" cy="914028"/>
          </a:xfrm>
          <a:prstGeom prst="rect">
            <a:avLst/>
          </a:prstGeom>
        </p:spPr>
      </p:pic>
      <p:sp>
        <p:nvSpPr>
          <p:cNvPr id="4" name="Text 1"/>
          <p:cNvSpPr/>
          <p:nvPr/>
        </p:nvSpPr>
        <p:spPr>
          <a:xfrm>
            <a:off x="345154" y="742055"/>
            <a:ext cx="1356643" cy="923544"/>
          </a:xfrm>
          <a:prstGeom prst="rect">
            <a:avLst/>
          </a:prstGeom>
          <a:noFill/>
          <a:ln/>
        </p:spPr>
        <p:txBody>
          <a:bodyPr wrap="square" lIns="95250" tIns="95250" rIns="95250" bIns="95250" rtlCol="0" anchor="t">
            <a:spAutoFit/>
          </a:bodyPr>
          <a:lstStyle/>
          <a:p>
            <a:pPr algn="ctr" indent="0" marL="0">
              <a:lnSpc>
                <a:spcPct val="112500"/>
              </a:lnSpc>
              <a:spcBef>
                <a:spcPts val="375"/>
              </a:spcBef>
              <a:buNone/>
            </a:pPr>
            <a:r>
              <a:rPr lang="en-US" sz="3888" b="1" dirty="0">
                <a:solidFill>
                  <a:srgbClr val="C560FF"/>
                </a:solidFill>
                <a:latin typeface="Noto Sans" pitchFamily="34" charset="0"/>
                <a:ea typeface="Noto Sans" pitchFamily="34" charset="-122"/>
                <a:cs typeface="Noto Sans" pitchFamily="34" charset="-120"/>
              </a:rPr>
              <a:t>03</a:t>
            </a:r>
            <a:endParaRPr lang="en-US" sz="1440" dirty="0"/>
          </a:p>
        </p:txBody>
      </p:sp>
      <p:pic>
        <p:nvPicPr>
          <p:cNvPr id="5" name="Image 1" descr="https://oceandoc-ai.obs.ap-southeast-3.myhuaweicloud.com/176218225639393/998abc8d-bbaf-44f4-84e9-0932b50110f0/1762190663384/image.png">    </p:cNvPr>
          <p:cNvPicPr>
            <a:picLocks noChangeAspect="1"/>
          </p:cNvPicPr>
          <p:nvPr/>
        </p:nvPicPr>
        <p:blipFill>
          <a:blip r:embed="rId3"/>
          <a:srcRect l="0" r="0" t="0" b="3846"/>
          <a:stretch/>
        </p:blipFill>
        <p:spPr>
          <a:xfrm>
            <a:off x="1941999" y="1203827"/>
            <a:ext cx="6118904" cy="355560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5078" y="67884"/>
            <a:ext cx="8005161" cy="566928"/>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Composite Pattern for Structure</a:t>
            </a:r>
            <a:endParaRPr lang="en-US" sz="1440" dirty="0"/>
          </a:p>
        </p:txBody>
      </p:sp>
      <p:pic>
        <p:nvPicPr>
          <p:cNvPr id="3" name="Image 0" descr="preencoded.png">    </p:cNvPr>
          <p:cNvPicPr>
            <a:picLocks noChangeAspect="1"/>
          </p:cNvPicPr>
          <p:nvPr/>
        </p:nvPicPr>
        <p:blipFill>
          <a:blip r:embed="rId2"/>
          <a:stretch>
            <a:fillRect/>
          </a:stretch>
        </p:blipFill>
        <p:spPr>
          <a:xfrm>
            <a:off x="201357" y="244913"/>
            <a:ext cx="616423" cy="231159"/>
          </a:xfrm>
          <a:prstGeom prst="rect">
            <a:avLst/>
          </a:prstGeom>
        </p:spPr>
      </p:pic>
      <p:pic>
        <p:nvPicPr>
          <p:cNvPr id="4" name="Image 1" descr="preencoded.png">    </p:cNvPr>
          <p:cNvPicPr>
            <a:picLocks noChangeAspect="1"/>
          </p:cNvPicPr>
          <p:nvPr/>
        </p:nvPicPr>
        <p:blipFill>
          <a:blip r:embed="rId3"/>
          <a:stretch>
            <a:fillRect/>
          </a:stretch>
        </p:blipFill>
        <p:spPr>
          <a:xfrm>
            <a:off x="201357" y="244913"/>
            <a:ext cx="616423" cy="231159"/>
          </a:xfrm>
          <a:prstGeom prst="rect">
            <a:avLst/>
          </a:prstGeom>
        </p:spPr>
      </p:pic>
      <p:pic>
        <p:nvPicPr>
          <p:cNvPr id="5" name="Image 2" descr="preencoded.png">    </p:cNvPr>
          <p:cNvPicPr>
            <a:picLocks noChangeAspect="1"/>
          </p:cNvPicPr>
          <p:nvPr/>
        </p:nvPicPr>
        <p:blipFill>
          <a:blip r:embed="rId4"/>
          <a:stretch>
            <a:fillRect/>
          </a:stretch>
        </p:blipFill>
        <p:spPr>
          <a:xfrm>
            <a:off x="201357" y="244913"/>
            <a:ext cx="616423" cy="231159"/>
          </a:xfrm>
          <a:prstGeom prst="rect">
            <a:avLst/>
          </a:prstGeom>
        </p:spPr>
      </p:pic>
      <p:sp>
        <p:nvSpPr>
          <p:cNvPr id="6" name="Shape 1"/>
          <p:cNvSpPr/>
          <p:nvPr/>
        </p:nvSpPr>
        <p:spPr>
          <a:xfrm>
            <a:off x="6902151" y="149029"/>
            <a:ext cx="533127" cy="485784"/>
          </a:xfrm>
          <a:custGeom>
            <a:avLst/>
            <a:gdLst/>
            <a:ahLst/>
            <a:cxnLst/>
            <a:rect l="l" t="t" r="r" b="b"/>
            <a:pathLst>
              <a:path w="533127" h="485784">
                <a:moveTo>
                  <a:pt x="66641" y="0"/>
                </a:moveTo>
                <a:moveTo>
                  <a:pt x="66641" y="0"/>
                </a:moveTo>
                <a:lnTo>
                  <a:pt x="466486" y="0"/>
                </a:lnTo>
                <a:quadBezTo>
                  <a:pt x="533127" y="0"/>
                  <a:pt x="533127" y="60723"/>
                </a:quadBezTo>
                <a:lnTo>
                  <a:pt x="533127" y="425061"/>
                </a:lnTo>
                <a:quadBezTo>
                  <a:pt x="533127" y="485784"/>
                  <a:pt x="466486" y="485784"/>
                </a:quadBezTo>
                <a:lnTo>
                  <a:pt x="66641" y="485784"/>
                </a:lnTo>
                <a:quadBezTo>
                  <a:pt x="0" y="485784"/>
                  <a:pt x="0" y="425061"/>
                </a:quadBezTo>
                <a:lnTo>
                  <a:pt x="0" y="60723"/>
                </a:lnTo>
                <a:quadBezTo>
                  <a:pt x="0" y="0"/>
                  <a:pt x="66641" y="0"/>
                </a:quadBezTo>
                <a:close/>
              </a:path>
            </a:pathLst>
          </a:custGeom>
          <a:solidFill>
            <a:srgbClr val="6764FB"/>
          </a:solidFill>
          <a:ln/>
        </p:spPr>
      </p:sp>
      <p:sp>
        <p:nvSpPr>
          <p:cNvPr id="7" name="Shape 2"/>
          <p:cNvSpPr/>
          <p:nvPr/>
        </p:nvSpPr>
        <p:spPr>
          <a:xfrm>
            <a:off x="6301933" y="149029"/>
            <a:ext cx="533127" cy="485784"/>
          </a:xfrm>
          <a:custGeom>
            <a:avLst/>
            <a:gdLst/>
            <a:ahLst/>
            <a:cxnLst/>
            <a:rect l="l" t="t" r="r" b="b"/>
            <a:pathLst>
              <a:path w="533127" h="485784">
                <a:moveTo>
                  <a:pt x="66641" y="0"/>
                </a:moveTo>
                <a:moveTo>
                  <a:pt x="66641" y="0"/>
                </a:moveTo>
                <a:lnTo>
                  <a:pt x="466486" y="0"/>
                </a:lnTo>
                <a:quadBezTo>
                  <a:pt x="533127" y="0"/>
                  <a:pt x="533127" y="60723"/>
                </a:quadBezTo>
                <a:lnTo>
                  <a:pt x="533127" y="425061"/>
                </a:lnTo>
                <a:quadBezTo>
                  <a:pt x="533127" y="485784"/>
                  <a:pt x="466486" y="485784"/>
                </a:quadBezTo>
                <a:lnTo>
                  <a:pt x="66641" y="485784"/>
                </a:lnTo>
                <a:quadBezTo>
                  <a:pt x="0" y="485784"/>
                  <a:pt x="0" y="425061"/>
                </a:quadBezTo>
                <a:lnTo>
                  <a:pt x="0" y="60723"/>
                </a:lnTo>
                <a:quadBezTo>
                  <a:pt x="0" y="0"/>
                  <a:pt x="66641" y="0"/>
                </a:quadBezTo>
                <a:close/>
              </a:path>
            </a:pathLst>
          </a:custGeom>
          <a:solidFill>
            <a:srgbClr val="C560FF"/>
          </a:solidFill>
          <a:ln/>
        </p:spPr>
      </p:sp>
      <p:sp>
        <p:nvSpPr>
          <p:cNvPr id="8" name="Shape 3"/>
          <p:cNvSpPr/>
          <p:nvPr/>
        </p:nvSpPr>
        <p:spPr>
          <a:xfrm>
            <a:off x="7515564" y="149029"/>
            <a:ext cx="533127" cy="485784"/>
          </a:xfrm>
          <a:custGeom>
            <a:avLst/>
            <a:gdLst/>
            <a:ahLst/>
            <a:cxnLst/>
            <a:rect l="l" t="t" r="r" b="b"/>
            <a:pathLst>
              <a:path w="533127" h="485784">
                <a:moveTo>
                  <a:pt x="66641" y="0"/>
                </a:moveTo>
                <a:moveTo>
                  <a:pt x="66641" y="0"/>
                </a:moveTo>
                <a:lnTo>
                  <a:pt x="466486" y="0"/>
                </a:lnTo>
                <a:quadBezTo>
                  <a:pt x="533127" y="0"/>
                  <a:pt x="533127" y="60723"/>
                </a:quadBezTo>
                <a:lnTo>
                  <a:pt x="533127" y="425061"/>
                </a:lnTo>
                <a:quadBezTo>
                  <a:pt x="533127" y="485784"/>
                  <a:pt x="466486" y="485784"/>
                </a:quadBezTo>
                <a:lnTo>
                  <a:pt x="66641" y="485784"/>
                </a:lnTo>
                <a:quadBezTo>
                  <a:pt x="0" y="485784"/>
                  <a:pt x="0" y="425061"/>
                </a:quadBezTo>
                <a:lnTo>
                  <a:pt x="0" y="60723"/>
                </a:lnTo>
                <a:quadBezTo>
                  <a:pt x="0" y="0"/>
                  <a:pt x="66641" y="0"/>
                </a:quadBezTo>
                <a:close/>
              </a:path>
            </a:pathLst>
          </a:custGeom>
          <a:solidFill>
            <a:srgbClr val="C560FF"/>
          </a:solidFill>
          <a:ln/>
        </p:spPr>
      </p:sp>
      <p:sp>
        <p:nvSpPr>
          <p:cNvPr id="9" name="Shape 4"/>
          <p:cNvSpPr/>
          <p:nvPr/>
        </p:nvSpPr>
        <p:spPr>
          <a:xfrm>
            <a:off x="8120567" y="149029"/>
            <a:ext cx="533127" cy="485784"/>
          </a:xfrm>
          <a:custGeom>
            <a:avLst/>
            <a:gdLst/>
            <a:ahLst/>
            <a:cxnLst/>
            <a:rect l="l" t="t" r="r" b="b"/>
            <a:pathLst>
              <a:path w="533127" h="485784">
                <a:moveTo>
                  <a:pt x="66641" y="0"/>
                </a:moveTo>
                <a:moveTo>
                  <a:pt x="66641" y="0"/>
                </a:moveTo>
                <a:lnTo>
                  <a:pt x="466486" y="0"/>
                </a:lnTo>
                <a:quadBezTo>
                  <a:pt x="533127" y="0"/>
                  <a:pt x="533127" y="60723"/>
                </a:quadBezTo>
                <a:lnTo>
                  <a:pt x="533127" y="425061"/>
                </a:lnTo>
                <a:quadBezTo>
                  <a:pt x="533127" y="485784"/>
                  <a:pt x="466486" y="485784"/>
                </a:quadBezTo>
                <a:lnTo>
                  <a:pt x="66641" y="485784"/>
                </a:lnTo>
                <a:quadBezTo>
                  <a:pt x="0" y="485784"/>
                  <a:pt x="0" y="425061"/>
                </a:quadBezTo>
                <a:lnTo>
                  <a:pt x="0" y="60723"/>
                </a:lnTo>
                <a:quadBezTo>
                  <a:pt x="0" y="0"/>
                  <a:pt x="66641" y="0"/>
                </a:quadBezTo>
                <a:close/>
              </a:path>
            </a:pathLst>
          </a:custGeom>
          <a:solidFill>
            <a:srgbClr val="6764FB"/>
          </a:solidFill>
          <a:ln/>
        </p:spPr>
      </p:sp>
      <p:pic>
        <p:nvPicPr>
          <p:cNvPr id="10" name="Image 3" descr="preencoded.png">    </p:cNvPr>
          <p:cNvPicPr>
            <a:picLocks noChangeAspect="1"/>
          </p:cNvPicPr>
          <p:nvPr/>
        </p:nvPicPr>
        <p:blipFill>
          <a:blip r:embed="rId5"/>
          <a:stretch>
            <a:fillRect/>
          </a:stretch>
        </p:blipFill>
        <p:spPr>
          <a:xfrm>
            <a:off x="6425666" y="285851"/>
            <a:ext cx="285661" cy="242510"/>
          </a:xfrm>
          <a:prstGeom prst="rect">
            <a:avLst/>
          </a:prstGeom>
        </p:spPr>
      </p:pic>
      <p:pic>
        <p:nvPicPr>
          <p:cNvPr id="11" name="Image 4" descr="preencoded.png">    </p:cNvPr>
          <p:cNvPicPr>
            <a:picLocks noChangeAspect="1"/>
          </p:cNvPicPr>
          <p:nvPr/>
        </p:nvPicPr>
        <p:blipFill>
          <a:blip r:embed="rId6"/>
          <a:stretch>
            <a:fillRect/>
          </a:stretch>
        </p:blipFill>
        <p:spPr>
          <a:xfrm>
            <a:off x="7646815" y="268624"/>
            <a:ext cx="270626" cy="246594"/>
          </a:xfrm>
          <a:prstGeom prst="rect">
            <a:avLst/>
          </a:prstGeom>
        </p:spPr>
      </p:pic>
      <p:pic>
        <p:nvPicPr>
          <p:cNvPr id="12" name="Image 5" descr="preencoded.png">    </p:cNvPr>
          <p:cNvPicPr>
            <a:picLocks noChangeAspect="1"/>
          </p:cNvPicPr>
          <p:nvPr/>
        </p:nvPicPr>
        <p:blipFill>
          <a:blip r:embed="rId7"/>
          <a:stretch>
            <a:fillRect/>
          </a:stretch>
        </p:blipFill>
        <p:spPr>
          <a:xfrm>
            <a:off x="8237393" y="255480"/>
            <a:ext cx="299474" cy="272880"/>
          </a:xfrm>
          <a:prstGeom prst="rect">
            <a:avLst/>
          </a:prstGeom>
        </p:spPr>
      </p:pic>
      <p:pic>
        <p:nvPicPr>
          <p:cNvPr id="13" name="Image 6" descr="preencoded.png">    </p:cNvPr>
          <p:cNvPicPr>
            <a:picLocks noChangeAspect="1"/>
          </p:cNvPicPr>
          <p:nvPr/>
        </p:nvPicPr>
        <p:blipFill>
          <a:blip r:embed="rId8"/>
          <a:stretch>
            <a:fillRect/>
          </a:stretch>
        </p:blipFill>
        <p:spPr>
          <a:xfrm>
            <a:off x="7036497" y="271569"/>
            <a:ext cx="264435" cy="240702"/>
          </a:xfrm>
          <a:prstGeom prst="rect">
            <a:avLst/>
          </a:prstGeom>
        </p:spPr>
      </p:pic>
      <p:sp>
        <p:nvSpPr>
          <p:cNvPr id="14" name="Text 5"/>
          <p:cNvSpPr/>
          <p:nvPr/>
        </p:nvSpPr>
        <p:spPr>
          <a:xfrm>
            <a:off x="-28923" y="977494"/>
            <a:ext cx="3299453" cy="393192"/>
          </a:xfrm>
          <a:prstGeom prst="rect">
            <a:avLst/>
          </a:prstGeom>
          <a:noFill/>
          <a:ln/>
        </p:spPr>
        <p:txBody>
          <a:bodyPr wrap="square" lIns="95250" tIns="95250" rIns="95250" bIns="95250" rtlCol="0" anchor="t">
            <a:spAutoFit/>
          </a:bodyPr>
          <a:lstStyle/>
          <a:p>
            <a:pPr algn="r" indent="0" marL="0">
              <a:lnSpc>
                <a:spcPct val="100000"/>
              </a:lnSpc>
              <a:spcBef>
                <a:spcPts val="375"/>
              </a:spcBef>
              <a:buNone/>
            </a:pPr>
            <a:r>
              <a:rPr lang="en-US" sz="1296" b="1" dirty="0">
                <a:solidFill>
                  <a:srgbClr val="6764FB"/>
                </a:solidFill>
                <a:latin typeface="Noto Sans" pitchFamily="34" charset="0"/>
                <a:ea typeface="Noto Sans" pitchFamily="34" charset="-122"/>
                <a:cs typeface="Noto Sans" pitchFamily="34" charset="-120"/>
              </a:rPr>
              <a:t>Hierarchical Greenhouse Structure</a:t>
            </a:r>
            <a:endParaRPr lang="en-US" sz="1440" dirty="0"/>
          </a:p>
        </p:txBody>
      </p:sp>
      <p:sp>
        <p:nvSpPr>
          <p:cNvPr id="15" name="Text 6"/>
          <p:cNvSpPr/>
          <p:nvPr/>
        </p:nvSpPr>
        <p:spPr>
          <a:xfrm>
            <a:off x="104881" y="1268962"/>
            <a:ext cx="2838893" cy="393192"/>
          </a:xfrm>
          <a:prstGeom prst="rect">
            <a:avLst/>
          </a:prstGeom>
          <a:noFill/>
          <a:ln/>
        </p:spPr>
        <p:txBody>
          <a:bodyPr wrap="square" lIns="95250" tIns="95250" rIns="95250" bIns="95250" rtlCol="0" anchor="t">
            <a:spAutoFit/>
          </a:bodyPr>
          <a:lstStyle/>
          <a:p>
            <a:pPr marL="160020" indent="-160020">
              <a:lnSpc>
                <a:spcPct val="1000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GreenHouse → Sections → Items</a:t>
            </a:r>
            <a:endParaRPr lang="en-US" sz="1440" dirty="0"/>
          </a:p>
        </p:txBody>
      </p:sp>
      <p:sp>
        <p:nvSpPr>
          <p:cNvPr id="16" name="Text 7"/>
          <p:cNvSpPr/>
          <p:nvPr/>
        </p:nvSpPr>
        <p:spPr>
          <a:xfrm>
            <a:off x="254831" y="1662154"/>
            <a:ext cx="2874389" cy="393192"/>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296" b="1" dirty="0">
                <a:solidFill>
                  <a:srgbClr val="6764FB"/>
                </a:solidFill>
                <a:latin typeface="Noto Sans" pitchFamily="34" charset="0"/>
                <a:ea typeface="Noto Sans" pitchFamily="34" charset="-122"/>
                <a:cs typeface="Noto Sans" pitchFamily="34" charset="-120"/>
              </a:rPr>
              <a:t>Component Classes</a:t>
            </a:r>
            <a:endParaRPr lang="en-US" sz="1440" dirty="0"/>
          </a:p>
        </p:txBody>
      </p:sp>
      <p:sp>
        <p:nvSpPr>
          <p:cNvPr id="17" name="Text 8"/>
          <p:cNvSpPr/>
          <p:nvPr/>
        </p:nvSpPr>
        <p:spPr>
          <a:xfrm>
            <a:off x="303039" y="2962877"/>
            <a:ext cx="2635528" cy="393192"/>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296" b="1" dirty="0">
                <a:solidFill>
                  <a:srgbClr val="6764FB"/>
                </a:solidFill>
                <a:latin typeface="Noto Sans" pitchFamily="34" charset="0"/>
                <a:ea typeface="Noto Sans" pitchFamily="34" charset="-122"/>
                <a:cs typeface="Noto Sans" pitchFamily="34" charset="-120"/>
              </a:rPr>
              <a:t>Benefits</a:t>
            </a:r>
            <a:endParaRPr lang="en-US" sz="1440" dirty="0"/>
          </a:p>
        </p:txBody>
      </p:sp>
      <p:sp>
        <p:nvSpPr>
          <p:cNvPr id="18" name="Text 9"/>
          <p:cNvSpPr/>
          <p:nvPr/>
        </p:nvSpPr>
        <p:spPr>
          <a:xfrm>
            <a:off x="104881" y="3324130"/>
            <a:ext cx="1626431" cy="649224"/>
          </a:xfrm>
          <a:prstGeom prst="rect">
            <a:avLst/>
          </a:prstGeom>
          <a:noFill/>
          <a:ln/>
        </p:spPr>
        <p:txBody>
          <a:bodyPr wrap="square" lIns="95250" tIns="95250" rIns="95250" bIns="95250" rtlCol="0" anchor="t">
            <a:spAutoFit/>
          </a:bodyPr>
          <a:lstStyle/>
          <a:p>
            <a:pPr marL="160020" indent="-160020">
              <a:lnSpc>
                <a:spcPct val="1000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Group plants by type</a:t>
            </a:r>
            <a:endParaRPr lang="en-US" sz="1440" dirty="0"/>
          </a:p>
          <a:p>
            <a:pPr marL="160020" indent="-160020">
              <a:lnSpc>
                <a:spcPct val="1000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Easy management</a:t>
            </a:r>
            <a:endParaRPr lang="en-US" sz="1440" dirty="0"/>
          </a:p>
        </p:txBody>
      </p:sp>
      <p:sp>
        <p:nvSpPr>
          <p:cNvPr id="19" name="Text 10"/>
          <p:cNvSpPr/>
          <p:nvPr/>
        </p:nvSpPr>
        <p:spPr>
          <a:xfrm>
            <a:off x="303039" y="3973354"/>
            <a:ext cx="2874389" cy="393192"/>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296" b="1" dirty="0">
                <a:solidFill>
                  <a:srgbClr val="6764FB"/>
                </a:solidFill>
                <a:latin typeface="Noto Sans" pitchFamily="34" charset="0"/>
                <a:ea typeface="Noto Sans" pitchFamily="34" charset="-122"/>
                <a:cs typeface="Noto Sans" pitchFamily="34" charset="-120"/>
              </a:rPr>
              <a:t>Pattern Integration</a:t>
            </a:r>
            <a:endParaRPr lang="en-US" sz="1440" dirty="0"/>
          </a:p>
        </p:txBody>
      </p:sp>
      <p:sp>
        <p:nvSpPr>
          <p:cNvPr id="20" name="Text 11"/>
          <p:cNvSpPr/>
          <p:nvPr/>
        </p:nvSpPr>
        <p:spPr>
          <a:xfrm>
            <a:off x="104881" y="4247030"/>
            <a:ext cx="2869730" cy="393192"/>
          </a:xfrm>
          <a:prstGeom prst="rect">
            <a:avLst/>
          </a:prstGeom>
          <a:noFill/>
          <a:ln/>
        </p:spPr>
        <p:txBody>
          <a:bodyPr wrap="square" lIns="95250" tIns="95250" rIns="95250" bIns="95250" rtlCol="0" anchor="t">
            <a:spAutoFit/>
          </a:bodyPr>
          <a:lstStyle/>
          <a:p>
            <a:pPr marL="160020" indent="-160020">
              <a:lnSpc>
                <a:spcPct val="1000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Works with Iterator to traverse items</a:t>
            </a:r>
            <a:endParaRPr lang="en-US" sz="1440" dirty="0"/>
          </a:p>
        </p:txBody>
      </p:sp>
      <p:sp>
        <p:nvSpPr>
          <p:cNvPr id="21" name="Text 12"/>
          <p:cNvSpPr/>
          <p:nvPr/>
        </p:nvSpPr>
        <p:spPr>
          <a:xfrm>
            <a:off x="104881" y="1970311"/>
            <a:ext cx="2202312" cy="1097280"/>
          </a:xfrm>
          <a:prstGeom prst="rect">
            <a:avLst/>
          </a:prstGeom>
          <a:noFill/>
          <a:ln/>
        </p:spPr>
        <p:txBody>
          <a:bodyPr wrap="square" lIns="95250" tIns="95250" rIns="95250" bIns="95250" rtlCol="0" anchor="t">
            <a:spAutoFit/>
          </a:bodyPr>
          <a:lstStyle/>
          <a:p>
            <a:pPr marL="160020" indent="-160020">
              <a:lnSpc>
                <a:spcPct val="1125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GreenHouse = Component</a:t>
            </a:r>
            <a:endParaRPr lang="en-US" sz="1440" dirty="0"/>
          </a:p>
          <a:p>
            <a:pPr marL="160020" indent="-160020">
              <a:lnSpc>
                <a:spcPct val="1125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Section = Composite</a:t>
            </a:r>
            <a:endParaRPr lang="en-US" sz="1440" dirty="0"/>
          </a:p>
          <a:p>
            <a:pPr marL="160020" indent="-160020">
              <a:lnSpc>
                <a:spcPct val="1125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Item = Leaf</a:t>
            </a:r>
            <a:endParaRPr lang="en-US" sz="1440" dirty="0"/>
          </a:p>
        </p:txBody>
      </p:sp>
      <p:pic>
        <p:nvPicPr>
          <p:cNvPr id="22" name="Image 7" descr="https://oceandoc-ai.obs.ap-southeast-3.myhuaweicloud.com/176218225639393/f30036ed-e122-42e3-a499-593f66bb7091/1762202075278/Composite.png">    </p:cNvPr>
          <p:cNvPicPr>
            <a:picLocks noChangeAspect="1"/>
          </p:cNvPicPr>
          <p:nvPr/>
        </p:nvPicPr>
        <p:blipFill>
          <a:blip r:embed="rId9"/>
          <a:stretch>
            <a:fillRect/>
          </a:stretch>
        </p:blipFill>
        <p:spPr>
          <a:xfrm>
            <a:off x="4435688" y="855043"/>
            <a:ext cx="3979956" cy="411373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5078" y="67884"/>
            <a:ext cx="8005161" cy="566928"/>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Iterator for Content Traversal</a:t>
            </a:r>
            <a:endParaRPr lang="en-US" sz="1440" dirty="0"/>
          </a:p>
        </p:txBody>
      </p:sp>
      <p:pic>
        <p:nvPicPr>
          <p:cNvPr id="3" name="Image 0" descr="preencoded.png">    </p:cNvPr>
          <p:cNvPicPr>
            <a:picLocks noChangeAspect="1"/>
          </p:cNvPicPr>
          <p:nvPr/>
        </p:nvPicPr>
        <p:blipFill>
          <a:blip r:embed="rId2"/>
          <a:stretch>
            <a:fillRect/>
          </a:stretch>
        </p:blipFill>
        <p:spPr>
          <a:xfrm>
            <a:off x="201357" y="244913"/>
            <a:ext cx="616423" cy="231159"/>
          </a:xfrm>
          <a:prstGeom prst="rect">
            <a:avLst/>
          </a:prstGeom>
        </p:spPr>
      </p:pic>
      <p:pic>
        <p:nvPicPr>
          <p:cNvPr id="4" name="Image 1" descr="preencoded.png">    </p:cNvPr>
          <p:cNvPicPr>
            <a:picLocks noChangeAspect="1"/>
          </p:cNvPicPr>
          <p:nvPr/>
        </p:nvPicPr>
        <p:blipFill>
          <a:blip r:embed="rId3"/>
          <a:stretch>
            <a:fillRect/>
          </a:stretch>
        </p:blipFill>
        <p:spPr>
          <a:xfrm>
            <a:off x="201357" y="244913"/>
            <a:ext cx="616423" cy="231159"/>
          </a:xfrm>
          <a:prstGeom prst="rect">
            <a:avLst/>
          </a:prstGeom>
        </p:spPr>
      </p:pic>
      <p:pic>
        <p:nvPicPr>
          <p:cNvPr id="5" name="Image 2" descr="preencoded.png">    </p:cNvPr>
          <p:cNvPicPr>
            <a:picLocks noChangeAspect="1"/>
          </p:cNvPicPr>
          <p:nvPr/>
        </p:nvPicPr>
        <p:blipFill>
          <a:blip r:embed="rId4"/>
          <a:stretch>
            <a:fillRect/>
          </a:stretch>
        </p:blipFill>
        <p:spPr>
          <a:xfrm>
            <a:off x="201357" y="244913"/>
            <a:ext cx="616423" cy="231159"/>
          </a:xfrm>
          <a:prstGeom prst="rect">
            <a:avLst/>
          </a:prstGeom>
        </p:spPr>
      </p:pic>
      <p:sp>
        <p:nvSpPr>
          <p:cNvPr id="6" name="Shape 1"/>
          <p:cNvSpPr/>
          <p:nvPr/>
        </p:nvSpPr>
        <p:spPr>
          <a:xfrm rot="2700000">
            <a:off x="187651" y="3850955"/>
            <a:ext cx="911657" cy="911657"/>
          </a:xfrm>
          <a:custGeom>
            <a:avLst/>
            <a:gdLst/>
            <a:ahLst/>
            <a:cxnLst/>
            <a:rect l="l" t="t" r="r" b="b"/>
            <a:pathLst>
              <a:path w="911657" h="911657">
                <a:moveTo>
                  <a:pt x="158693" y="0"/>
                </a:moveTo>
                <a:moveTo>
                  <a:pt x="158693" y="0"/>
                </a:moveTo>
                <a:lnTo>
                  <a:pt x="752964" y="0"/>
                </a:lnTo>
                <a:quadBezTo>
                  <a:pt x="911657" y="0"/>
                  <a:pt x="911657" y="158693"/>
                </a:quadBezTo>
                <a:lnTo>
                  <a:pt x="911657" y="752964"/>
                </a:lnTo>
                <a:quadBezTo>
                  <a:pt x="911657" y="911657"/>
                  <a:pt x="752964" y="911657"/>
                </a:quadBezTo>
                <a:lnTo>
                  <a:pt x="158693" y="911657"/>
                </a:lnTo>
                <a:quadBezTo>
                  <a:pt x="0" y="911657"/>
                  <a:pt x="0" y="752964"/>
                </a:quadBezTo>
                <a:lnTo>
                  <a:pt x="0" y="158693"/>
                </a:lnTo>
                <a:quadBezTo>
                  <a:pt x="0" y="0"/>
                  <a:pt x="158693" y="0"/>
                </a:quadBezTo>
                <a:close/>
              </a:path>
            </a:pathLst>
          </a:custGeom>
          <a:solidFill>
            <a:srgbClr val="6764FB"/>
          </a:solidFill>
          <a:ln/>
        </p:spPr>
      </p:sp>
      <p:pic>
        <p:nvPicPr>
          <p:cNvPr id="7" name="Image 3" descr="preencoded.png">    </p:cNvPr>
          <p:cNvPicPr>
            <a:picLocks noChangeAspect="1"/>
          </p:cNvPicPr>
          <p:nvPr/>
        </p:nvPicPr>
        <p:blipFill>
          <a:blip r:embed="rId5"/>
          <a:stretch>
            <a:fillRect/>
          </a:stretch>
        </p:blipFill>
        <p:spPr>
          <a:xfrm>
            <a:off x="443226" y="4106530"/>
            <a:ext cx="400507" cy="400507"/>
          </a:xfrm>
          <a:prstGeom prst="rect">
            <a:avLst/>
          </a:prstGeom>
        </p:spPr>
      </p:pic>
      <p:sp>
        <p:nvSpPr>
          <p:cNvPr id="8" name="Shape 2"/>
          <p:cNvSpPr/>
          <p:nvPr/>
        </p:nvSpPr>
        <p:spPr>
          <a:xfrm rot="2700000">
            <a:off x="896298" y="3102744"/>
            <a:ext cx="911657" cy="911657"/>
          </a:xfrm>
          <a:custGeom>
            <a:avLst/>
            <a:gdLst/>
            <a:ahLst/>
            <a:cxnLst/>
            <a:rect l="l" t="t" r="r" b="b"/>
            <a:pathLst>
              <a:path w="911657" h="911657">
                <a:moveTo>
                  <a:pt x="158693" y="0"/>
                </a:moveTo>
                <a:moveTo>
                  <a:pt x="158693" y="0"/>
                </a:moveTo>
                <a:lnTo>
                  <a:pt x="752964" y="0"/>
                </a:lnTo>
                <a:quadBezTo>
                  <a:pt x="911657" y="0"/>
                  <a:pt x="911657" y="158693"/>
                </a:quadBezTo>
                <a:lnTo>
                  <a:pt x="911657" y="752964"/>
                </a:lnTo>
                <a:quadBezTo>
                  <a:pt x="911657" y="911657"/>
                  <a:pt x="752964" y="911657"/>
                </a:quadBezTo>
                <a:lnTo>
                  <a:pt x="158693" y="911657"/>
                </a:lnTo>
                <a:quadBezTo>
                  <a:pt x="0" y="911657"/>
                  <a:pt x="0" y="752964"/>
                </a:quadBezTo>
                <a:lnTo>
                  <a:pt x="0" y="158693"/>
                </a:lnTo>
                <a:quadBezTo>
                  <a:pt x="0" y="0"/>
                  <a:pt x="158693" y="0"/>
                </a:quadBezTo>
                <a:close/>
              </a:path>
            </a:pathLst>
          </a:custGeom>
          <a:solidFill>
            <a:srgbClr val="C560FF"/>
          </a:solidFill>
          <a:ln/>
        </p:spPr>
      </p:sp>
      <p:pic>
        <p:nvPicPr>
          <p:cNvPr id="9" name="Image 4" descr="preencoded.png">    </p:cNvPr>
          <p:cNvPicPr>
            <a:picLocks noChangeAspect="1"/>
          </p:cNvPicPr>
          <p:nvPr/>
        </p:nvPicPr>
        <p:blipFill>
          <a:blip r:embed="rId6"/>
          <a:stretch>
            <a:fillRect/>
          </a:stretch>
        </p:blipFill>
        <p:spPr>
          <a:xfrm>
            <a:off x="1128098" y="3334545"/>
            <a:ext cx="448056" cy="448056"/>
          </a:xfrm>
          <a:prstGeom prst="rect">
            <a:avLst/>
          </a:prstGeom>
        </p:spPr>
      </p:pic>
      <p:sp>
        <p:nvSpPr>
          <p:cNvPr id="10" name="Shape 3"/>
          <p:cNvSpPr/>
          <p:nvPr/>
        </p:nvSpPr>
        <p:spPr>
          <a:xfrm rot="2700000">
            <a:off x="1713867" y="3841811"/>
            <a:ext cx="911657" cy="911657"/>
          </a:xfrm>
          <a:custGeom>
            <a:avLst/>
            <a:gdLst/>
            <a:ahLst/>
            <a:cxnLst/>
            <a:rect l="l" t="t" r="r" b="b"/>
            <a:pathLst>
              <a:path w="911657" h="911657">
                <a:moveTo>
                  <a:pt x="158693" y="0"/>
                </a:moveTo>
                <a:moveTo>
                  <a:pt x="158693" y="0"/>
                </a:moveTo>
                <a:lnTo>
                  <a:pt x="752964" y="0"/>
                </a:lnTo>
                <a:quadBezTo>
                  <a:pt x="911657" y="0"/>
                  <a:pt x="911657" y="158693"/>
                </a:quadBezTo>
                <a:lnTo>
                  <a:pt x="911657" y="752964"/>
                </a:lnTo>
                <a:quadBezTo>
                  <a:pt x="911657" y="911657"/>
                  <a:pt x="752964" y="911657"/>
                </a:quadBezTo>
                <a:lnTo>
                  <a:pt x="158693" y="911657"/>
                </a:lnTo>
                <a:quadBezTo>
                  <a:pt x="0" y="911657"/>
                  <a:pt x="0" y="752964"/>
                </a:quadBezTo>
                <a:lnTo>
                  <a:pt x="0" y="158693"/>
                </a:lnTo>
                <a:quadBezTo>
                  <a:pt x="0" y="0"/>
                  <a:pt x="158693" y="0"/>
                </a:quadBezTo>
                <a:close/>
              </a:path>
            </a:pathLst>
          </a:custGeom>
          <a:solidFill>
            <a:srgbClr val="6764FB"/>
          </a:solidFill>
          <a:ln/>
        </p:spPr>
      </p:sp>
      <p:pic>
        <p:nvPicPr>
          <p:cNvPr id="11" name="Image 5" descr="preencoded.png">    </p:cNvPr>
          <p:cNvPicPr>
            <a:picLocks noChangeAspect="1"/>
          </p:cNvPicPr>
          <p:nvPr/>
        </p:nvPicPr>
        <p:blipFill>
          <a:blip r:embed="rId7"/>
          <a:stretch>
            <a:fillRect/>
          </a:stretch>
        </p:blipFill>
        <p:spPr>
          <a:xfrm>
            <a:off x="1997686" y="4125630"/>
            <a:ext cx="344018" cy="344018"/>
          </a:xfrm>
          <a:prstGeom prst="rect">
            <a:avLst/>
          </a:prstGeom>
        </p:spPr>
      </p:pic>
      <p:pic>
        <p:nvPicPr>
          <p:cNvPr id="12" name="Image 6" descr="preencoded.png">    </p:cNvPr>
          <p:cNvPicPr>
            <a:picLocks noChangeAspect="1"/>
          </p:cNvPicPr>
          <p:nvPr/>
        </p:nvPicPr>
        <p:blipFill>
          <a:blip r:embed="rId8"/>
          <a:stretch>
            <a:fillRect/>
          </a:stretch>
        </p:blipFill>
        <p:spPr>
          <a:xfrm>
            <a:off x="2702643" y="3376607"/>
            <a:ext cx="363931" cy="363931"/>
          </a:xfrm>
          <a:prstGeom prst="rect">
            <a:avLst/>
          </a:prstGeom>
        </p:spPr>
      </p:pic>
      <p:sp>
        <p:nvSpPr>
          <p:cNvPr id="13" name="Text 4"/>
          <p:cNvSpPr/>
          <p:nvPr/>
        </p:nvSpPr>
        <p:spPr>
          <a:xfrm>
            <a:off x="-189839" y="834576"/>
            <a:ext cx="2563063" cy="393192"/>
          </a:xfrm>
          <a:prstGeom prst="rect">
            <a:avLst/>
          </a:prstGeom>
          <a:noFill/>
          <a:ln/>
        </p:spPr>
        <p:txBody>
          <a:bodyPr wrap="square" lIns="95250" tIns="95250" rIns="95250" bIns="95250" rtlCol="0" anchor="t">
            <a:spAutoFit/>
          </a:bodyPr>
          <a:lstStyle/>
          <a:p>
            <a:pPr algn="r" indent="0" marL="0">
              <a:lnSpc>
                <a:spcPct val="100000"/>
              </a:lnSpc>
              <a:spcBef>
                <a:spcPts val="375"/>
              </a:spcBef>
              <a:buNone/>
            </a:pPr>
            <a:r>
              <a:rPr lang="en-US" sz="1296" b="1" dirty="0">
                <a:solidFill>
                  <a:srgbClr val="6764FB"/>
                </a:solidFill>
                <a:latin typeface="Noto Sans" pitchFamily="34" charset="0"/>
                <a:ea typeface="Noto Sans" pitchFamily="34" charset="-122"/>
                <a:cs typeface="Noto Sans" pitchFamily="34" charset="-120"/>
              </a:rPr>
              <a:t>Uniform Access Method</a:t>
            </a:r>
            <a:endParaRPr lang="en-US" sz="1440" dirty="0"/>
          </a:p>
        </p:txBody>
      </p:sp>
      <p:sp>
        <p:nvSpPr>
          <p:cNvPr id="14" name="Text 5"/>
          <p:cNvSpPr/>
          <p:nvPr/>
        </p:nvSpPr>
        <p:spPr>
          <a:xfrm>
            <a:off x="-1159" y="1108253"/>
            <a:ext cx="3022582" cy="393192"/>
          </a:xfrm>
          <a:prstGeom prst="rect">
            <a:avLst/>
          </a:prstGeom>
          <a:noFill/>
          <a:ln/>
        </p:spPr>
        <p:txBody>
          <a:bodyPr wrap="square" lIns="95250" tIns="95250" rIns="95250" bIns="95250" rtlCol="0" anchor="t">
            <a:spAutoFit/>
          </a:bodyPr>
          <a:lstStyle/>
          <a:p>
            <a:pPr marL="160020" indent="-160020">
              <a:lnSpc>
                <a:spcPct val="1000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Traverse all items without knowing structure</a:t>
            </a:r>
            <a:endParaRPr lang="en-US" sz="1440" dirty="0"/>
          </a:p>
        </p:txBody>
      </p:sp>
      <p:sp>
        <p:nvSpPr>
          <p:cNvPr id="15" name="Text 6"/>
          <p:cNvSpPr/>
          <p:nvPr/>
        </p:nvSpPr>
        <p:spPr>
          <a:xfrm>
            <a:off x="243916" y="1501445"/>
            <a:ext cx="2562880" cy="393192"/>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296" b="1" dirty="0">
                <a:solidFill>
                  <a:srgbClr val="6764FB"/>
                </a:solidFill>
                <a:latin typeface="Noto Sans" pitchFamily="34" charset="0"/>
                <a:ea typeface="Noto Sans" pitchFamily="34" charset="-122"/>
                <a:cs typeface="Noto Sans" pitchFamily="34" charset="-120"/>
              </a:rPr>
              <a:t>Navigation</a:t>
            </a:r>
            <a:endParaRPr lang="en-US" sz="1440" dirty="0"/>
          </a:p>
        </p:txBody>
      </p:sp>
      <p:sp>
        <p:nvSpPr>
          <p:cNvPr id="16" name="Text 7"/>
          <p:cNvSpPr/>
          <p:nvPr/>
        </p:nvSpPr>
        <p:spPr>
          <a:xfrm>
            <a:off x="-1159" y="1725459"/>
            <a:ext cx="2562880" cy="393192"/>
          </a:xfrm>
          <a:prstGeom prst="rect">
            <a:avLst/>
          </a:prstGeom>
          <a:noFill/>
          <a:ln/>
        </p:spPr>
        <p:txBody>
          <a:bodyPr wrap="square" lIns="95250" tIns="95250" rIns="95250" bIns="95250" rtlCol="0" anchor="t">
            <a:spAutoFit/>
          </a:bodyPr>
          <a:lstStyle/>
          <a:p>
            <a:pPr marL="160020" indent="-160020">
              <a:lnSpc>
                <a:spcPct val="1000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Move across nested sections easily</a:t>
            </a:r>
            <a:endParaRPr lang="en-US" sz="1440" dirty="0"/>
          </a:p>
        </p:txBody>
      </p:sp>
      <p:sp>
        <p:nvSpPr>
          <p:cNvPr id="17" name="Text 8"/>
          <p:cNvSpPr/>
          <p:nvPr/>
        </p:nvSpPr>
        <p:spPr>
          <a:xfrm>
            <a:off x="-1159" y="2373792"/>
            <a:ext cx="2563063" cy="393192"/>
          </a:xfrm>
          <a:prstGeom prst="rect">
            <a:avLst/>
          </a:prstGeom>
          <a:noFill/>
          <a:ln/>
        </p:spPr>
        <p:txBody>
          <a:bodyPr wrap="square" lIns="95250" tIns="95250" rIns="95250" bIns="95250" rtlCol="0" anchor="t">
            <a:spAutoFit/>
          </a:bodyPr>
          <a:lstStyle/>
          <a:p>
            <a:pPr marL="160020" indent="-160020">
              <a:lnSpc>
                <a:spcPct val="1000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Structure hidden, items accessible</a:t>
            </a:r>
            <a:endParaRPr lang="en-US" sz="1440" dirty="0"/>
          </a:p>
        </p:txBody>
      </p:sp>
      <p:sp>
        <p:nvSpPr>
          <p:cNvPr id="18" name="Text 9"/>
          <p:cNvSpPr/>
          <p:nvPr/>
        </p:nvSpPr>
        <p:spPr>
          <a:xfrm>
            <a:off x="243733" y="2073624"/>
            <a:ext cx="2563063" cy="393192"/>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296" b="1" dirty="0">
                <a:solidFill>
                  <a:srgbClr val="6764FB"/>
                </a:solidFill>
                <a:latin typeface="Noto Sans" pitchFamily="34" charset="0"/>
                <a:ea typeface="Noto Sans" pitchFamily="34" charset="-122"/>
                <a:cs typeface="Noto Sans" pitchFamily="34" charset="-120"/>
              </a:rPr>
              <a:t>Encapsulation Benefit</a:t>
            </a:r>
            <a:endParaRPr lang="en-US" sz="1440" dirty="0"/>
          </a:p>
        </p:txBody>
      </p:sp>
      <p:pic>
        <p:nvPicPr>
          <p:cNvPr id="19" name="Image 7" descr="https://oceandoc-ai.obs.ap-southeast-3.myhuaweicloud.com/176218225639393/540c015f-e2d8-43b8-b483-c48c4dfad9e3/1762202582895/Iterator.png">    </p:cNvPr>
          <p:cNvPicPr>
            <a:picLocks noChangeAspect="1"/>
          </p:cNvPicPr>
          <p:nvPr/>
        </p:nvPicPr>
        <p:blipFill>
          <a:blip r:embed="rId9"/>
          <a:stretch>
            <a:fillRect/>
          </a:stretch>
        </p:blipFill>
        <p:spPr>
          <a:xfrm>
            <a:off x="3021422" y="634812"/>
            <a:ext cx="5984264" cy="430892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5078" y="67884"/>
            <a:ext cx="8005161" cy="566928"/>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Builder for Order Construction</a:t>
            </a:r>
            <a:endParaRPr lang="en-US" sz="1440" dirty="0"/>
          </a:p>
        </p:txBody>
      </p:sp>
      <p:pic>
        <p:nvPicPr>
          <p:cNvPr id="3" name="Image 0" descr="preencoded.png">    </p:cNvPr>
          <p:cNvPicPr>
            <a:picLocks noChangeAspect="1"/>
          </p:cNvPicPr>
          <p:nvPr/>
        </p:nvPicPr>
        <p:blipFill>
          <a:blip r:embed="rId2"/>
          <a:stretch>
            <a:fillRect/>
          </a:stretch>
        </p:blipFill>
        <p:spPr>
          <a:xfrm>
            <a:off x="201357" y="244913"/>
            <a:ext cx="616423" cy="231159"/>
          </a:xfrm>
          <a:prstGeom prst="rect">
            <a:avLst/>
          </a:prstGeom>
        </p:spPr>
      </p:pic>
      <p:pic>
        <p:nvPicPr>
          <p:cNvPr id="4" name="Image 1" descr="preencoded.png">    </p:cNvPr>
          <p:cNvPicPr>
            <a:picLocks noChangeAspect="1"/>
          </p:cNvPicPr>
          <p:nvPr/>
        </p:nvPicPr>
        <p:blipFill>
          <a:blip r:embed="rId3"/>
          <a:stretch>
            <a:fillRect/>
          </a:stretch>
        </p:blipFill>
        <p:spPr>
          <a:xfrm>
            <a:off x="201357" y="244913"/>
            <a:ext cx="616423" cy="231159"/>
          </a:xfrm>
          <a:prstGeom prst="rect">
            <a:avLst/>
          </a:prstGeom>
        </p:spPr>
      </p:pic>
      <p:pic>
        <p:nvPicPr>
          <p:cNvPr id="5" name="Image 2" descr="preencoded.png">    </p:cNvPr>
          <p:cNvPicPr>
            <a:picLocks noChangeAspect="1"/>
          </p:cNvPicPr>
          <p:nvPr/>
        </p:nvPicPr>
        <p:blipFill>
          <a:blip r:embed="rId4"/>
          <a:stretch>
            <a:fillRect/>
          </a:stretch>
        </p:blipFill>
        <p:spPr>
          <a:xfrm>
            <a:off x="201357" y="244913"/>
            <a:ext cx="616423" cy="231159"/>
          </a:xfrm>
          <a:prstGeom prst="rect">
            <a:avLst/>
          </a:prstGeom>
        </p:spPr>
      </p:pic>
      <p:pic>
        <p:nvPicPr>
          <p:cNvPr id="6" name="Image 3" descr="preencoded.png">    </p:cNvPr>
          <p:cNvPicPr>
            <a:picLocks noChangeAspect="1"/>
          </p:cNvPicPr>
          <p:nvPr/>
        </p:nvPicPr>
        <p:blipFill>
          <a:blip r:embed="rId5"/>
          <a:stretch>
            <a:fillRect/>
          </a:stretch>
        </p:blipFill>
        <p:spPr>
          <a:xfrm>
            <a:off x="84492" y="874890"/>
            <a:ext cx="2770049" cy="790366"/>
          </a:xfrm>
          <a:prstGeom prst="rect">
            <a:avLst/>
          </a:prstGeom>
        </p:spPr>
      </p:pic>
      <p:sp>
        <p:nvSpPr>
          <p:cNvPr id="7" name="Shape 1"/>
          <p:cNvSpPr/>
          <p:nvPr/>
        </p:nvSpPr>
        <p:spPr>
          <a:xfrm>
            <a:off x="117069" y="909234"/>
            <a:ext cx="392531" cy="402420"/>
          </a:xfrm>
          <a:custGeom>
            <a:avLst/>
            <a:gdLst/>
            <a:ahLst/>
            <a:cxnLst/>
            <a:rect l="l" t="t" r="r" b="b"/>
            <a:pathLst>
              <a:path w="392531" h="402420">
                <a:moveTo>
                  <a:pt x="196265" y="0"/>
                </a:moveTo>
                <a:moveTo>
                  <a:pt x="196265" y="0"/>
                </a:moveTo>
                <a:cubicBezTo>
                  <a:pt x="304587" y="0"/>
                  <a:pt x="392531" y="90159"/>
                  <a:pt x="392531" y="201210"/>
                </a:cubicBezTo>
                <a:cubicBezTo>
                  <a:pt x="392531" y="312261"/>
                  <a:pt x="304587" y="402420"/>
                  <a:pt x="196265" y="402420"/>
                </a:cubicBezTo>
                <a:cubicBezTo>
                  <a:pt x="87944" y="402420"/>
                  <a:pt x="0" y="312261"/>
                  <a:pt x="0" y="201210"/>
                </a:cubicBezTo>
                <a:cubicBezTo>
                  <a:pt x="0" y="90159"/>
                  <a:pt x="87944" y="0"/>
                  <a:pt x="196265" y="0"/>
                </a:cubicBezTo>
                <a:close/>
              </a:path>
            </a:pathLst>
          </a:custGeom>
          <a:solidFill>
            <a:srgbClr val="282055"/>
          </a:solidFill>
          <a:ln/>
        </p:spPr>
      </p:sp>
      <p:sp>
        <p:nvSpPr>
          <p:cNvPr id="8" name="Text 2"/>
          <p:cNvSpPr/>
          <p:nvPr/>
        </p:nvSpPr>
        <p:spPr>
          <a:xfrm>
            <a:off x="-1848" y="840697"/>
            <a:ext cx="630364" cy="539496"/>
          </a:xfrm>
          <a:prstGeom prst="rect">
            <a:avLst/>
          </a:prstGeom>
          <a:noFill/>
          <a:ln/>
        </p:spPr>
        <p:txBody>
          <a:bodyPr wrap="square" lIns="95250" tIns="95250" rIns="95250" bIns="95250" rtlCol="0" anchor="t">
            <a:spAutoFit/>
          </a:bodyPr>
          <a:lstStyle/>
          <a:p>
            <a:pPr algn="ctr" indent="0" marL="0">
              <a:lnSpc>
                <a:spcPct val="112500"/>
              </a:lnSpc>
              <a:spcBef>
                <a:spcPts val="375"/>
              </a:spcBef>
              <a:buNone/>
            </a:pPr>
            <a:r>
              <a:rPr lang="en-US" sz="1872" b="1" dirty="0">
                <a:solidFill>
                  <a:srgbClr val="6764FB"/>
                </a:solidFill>
                <a:latin typeface="Noto Sans" pitchFamily="34" charset="0"/>
                <a:ea typeface="Noto Sans" pitchFamily="34" charset="-122"/>
                <a:cs typeface="Noto Sans" pitchFamily="34" charset="-120"/>
              </a:rPr>
              <a:t>1</a:t>
            </a:r>
            <a:endParaRPr lang="en-US" sz="1440" dirty="0"/>
          </a:p>
        </p:txBody>
      </p:sp>
      <p:pic>
        <p:nvPicPr>
          <p:cNvPr id="9" name="Image 4" descr="preencoded.png">    </p:cNvPr>
          <p:cNvPicPr>
            <a:picLocks noChangeAspect="1"/>
          </p:cNvPicPr>
          <p:nvPr/>
        </p:nvPicPr>
        <p:blipFill>
          <a:blip r:embed="rId6"/>
          <a:stretch>
            <a:fillRect/>
          </a:stretch>
        </p:blipFill>
        <p:spPr>
          <a:xfrm>
            <a:off x="84492" y="1883373"/>
            <a:ext cx="2770049" cy="790366"/>
          </a:xfrm>
          <a:prstGeom prst="rect">
            <a:avLst/>
          </a:prstGeom>
        </p:spPr>
      </p:pic>
      <p:sp>
        <p:nvSpPr>
          <p:cNvPr id="10" name="Shape 3"/>
          <p:cNvSpPr/>
          <p:nvPr/>
        </p:nvSpPr>
        <p:spPr>
          <a:xfrm>
            <a:off x="117069" y="1917717"/>
            <a:ext cx="392531" cy="402420"/>
          </a:xfrm>
          <a:custGeom>
            <a:avLst/>
            <a:gdLst/>
            <a:ahLst/>
            <a:cxnLst/>
            <a:rect l="l" t="t" r="r" b="b"/>
            <a:pathLst>
              <a:path w="392531" h="402420">
                <a:moveTo>
                  <a:pt x="196265" y="0"/>
                </a:moveTo>
                <a:moveTo>
                  <a:pt x="196265" y="0"/>
                </a:moveTo>
                <a:cubicBezTo>
                  <a:pt x="304587" y="0"/>
                  <a:pt x="392531" y="90159"/>
                  <a:pt x="392531" y="201210"/>
                </a:cubicBezTo>
                <a:cubicBezTo>
                  <a:pt x="392531" y="312261"/>
                  <a:pt x="304587" y="402420"/>
                  <a:pt x="196265" y="402420"/>
                </a:cubicBezTo>
                <a:cubicBezTo>
                  <a:pt x="87944" y="402420"/>
                  <a:pt x="0" y="312261"/>
                  <a:pt x="0" y="201210"/>
                </a:cubicBezTo>
                <a:cubicBezTo>
                  <a:pt x="0" y="90159"/>
                  <a:pt x="87944" y="0"/>
                  <a:pt x="196265" y="0"/>
                </a:cubicBezTo>
                <a:close/>
              </a:path>
            </a:pathLst>
          </a:custGeom>
          <a:solidFill>
            <a:srgbClr val="282055"/>
          </a:solidFill>
          <a:ln/>
        </p:spPr>
      </p:sp>
      <p:sp>
        <p:nvSpPr>
          <p:cNvPr id="11" name="Text 4"/>
          <p:cNvSpPr/>
          <p:nvPr/>
        </p:nvSpPr>
        <p:spPr>
          <a:xfrm>
            <a:off x="-1848" y="1849179"/>
            <a:ext cx="630364" cy="539496"/>
          </a:xfrm>
          <a:prstGeom prst="rect">
            <a:avLst/>
          </a:prstGeom>
          <a:noFill/>
          <a:ln/>
        </p:spPr>
        <p:txBody>
          <a:bodyPr wrap="square" lIns="95250" tIns="95250" rIns="95250" bIns="95250" rtlCol="0" anchor="t">
            <a:spAutoFit/>
          </a:bodyPr>
          <a:lstStyle/>
          <a:p>
            <a:pPr algn="ctr" indent="0" marL="0">
              <a:lnSpc>
                <a:spcPct val="112500"/>
              </a:lnSpc>
              <a:spcBef>
                <a:spcPts val="375"/>
              </a:spcBef>
              <a:buNone/>
            </a:pPr>
            <a:r>
              <a:rPr lang="en-US" sz="1872" b="1" dirty="0">
                <a:solidFill>
                  <a:srgbClr val="6764FB"/>
                </a:solidFill>
                <a:latin typeface="Noto Sans" pitchFamily="34" charset="0"/>
                <a:ea typeface="Noto Sans" pitchFamily="34" charset="-122"/>
                <a:cs typeface="Noto Sans" pitchFamily="34" charset="-120"/>
              </a:rPr>
              <a:t>2</a:t>
            </a:r>
            <a:endParaRPr lang="en-US" sz="1440" dirty="0"/>
          </a:p>
        </p:txBody>
      </p:sp>
      <p:pic>
        <p:nvPicPr>
          <p:cNvPr id="12" name="Image 5" descr="preencoded.png">    </p:cNvPr>
          <p:cNvPicPr>
            <a:picLocks noChangeAspect="1"/>
          </p:cNvPicPr>
          <p:nvPr/>
        </p:nvPicPr>
        <p:blipFill>
          <a:blip r:embed="rId7"/>
          <a:stretch>
            <a:fillRect/>
          </a:stretch>
        </p:blipFill>
        <p:spPr>
          <a:xfrm>
            <a:off x="106312" y="2869062"/>
            <a:ext cx="2770049" cy="790366"/>
          </a:xfrm>
          <a:prstGeom prst="rect">
            <a:avLst/>
          </a:prstGeom>
        </p:spPr>
      </p:pic>
      <p:sp>
        <p:nvSpPr>
          <p:cNvPr id="13" name="Shape 5"/>
          <p:cNvSpPr/>
          <p:nvPr/>
        </p:nvSpPr>
        <p:spPr>
          <a:xfrm>
            <a:off x="138889" y="2903406"/>
            <a:ext cx="392531" cy="402420"/>
          </a:xfrm>
          <a:custGeom>
            <a:avLst/>
            <a:gdLst/>
            <a:ahLst/>
            <a:cxnLst/>
            <a:rect l="l" t="t" r="r" b="b"/>
            <a:pathLst>
              <a:path w="392531" h="402420">
                <a:moveTo>
                  <a:pt x="196265" y="0"/>
                </a:moveTo>
                <a:moveTo>
                  <a:pt x="196265" y="0"/>
                </a:moveTo>
                <a:cubicBezTo>
                  <a:pt x="304587" y="0"/>
                  <a:pt x="392531" y="90159"/>
                  <a:pt x="392531" y="201210"/>
                </a:cubicBezTo>
                <a:cubicBezTo>
                  <a:pt x="392531" y="312261"/>
                  <a:pt x="304587" y="402420"/>
                  <a:pt x="196265" y="402420"/>
                </a:cubicBezTo>
                <a:cubicBezTo>
                  <a:pt x="87944" y="402420"/>
                  <a:pt x="0" y="312261"/>
                  <a:pt x="0" y="201210"/>
                </a:cubicBezTo>
                <a:cubicBezTo>
                  <a:pt x="0" y="90159"/>
                  <a:pt x="87944" y="0"/>
                  <a:pt x="196265" y="0"/>
                </a:cubicBezTo>
                <a:close/>
              </a:path>
            </a:pathLst>
          </a:custGeom>
          <a:solidFill>
            <a:srgbClr val="282055"/>
          </a:solidFill>
          <a:ln/>
        </p:spPr>
      </p:sp>
      <p:sp>
        <p:nvSpPr>
          <p:cNvPr id="14" name="Text 6"/>
          <p:cNvSpPr/>
          <p:nvPr/>
        </p:nvSpPr>
        <p:spPr>
          <a:xfrm>
            <a:off x="-1848" y="2834868"/>
            <a:ext cx="630364" cy="539496"/>
          </a:xfrm>
          <a:prstGeom prst="rect">
            <a:avLst/>
          </a:prstGeom>
          <a:noFill/>
          <a:ln/>
        </p:spPr>
        <p:txBody>
          <a:bodyPr wrap="square" lIns="95250" tIns="95250" rIns="95250" bIns="95250" rtlCol="0" anchor="t">
            <a:spAutoFit/>
          </a:bodyPr>
          <a:lstStyle/>
          <a:p>
            <a:pPr algn="ctr" indent="0" marL="0">
              <a:lnSpc>
                <a:spcPct val="112500"/>
              </a:lnSpc>
              <a:spcBef>
                <a:spcPts val="375"/>
              </a:spcBef>
              <a:buNone/>
            </a:pPr>
            <a:r>
              <a:rPr lang="en-US" sz="1872" b="1" dirty="0">
                <a:solidFill>
                  <a:srgbClr val="6764FB"/>
                </a:solidFill>
                <a:latin typeface="Noto Sans" pitchFamily="34" charset="0"/>
                <a:ea typeface="Noto Sans" pitchFamily="34" charset="-122"/>
                <a:cs typeface="Noto Sans" pitchFamily="34" charset="-120"/>
              </a:rPr>
              <a:t>3</a:t>
            </a:r>
            <a:endParaRPr lang="en-US" sz="1440" dirty="0"/>
          </a:p>
        </p:txBody>
      </p:sp>
      <p:pic>
        <p:nvPicPr>
          <p:cNvPr id="15" name="Image 6" descr="preencoded.png">    </p:cNvPr>
          <p:cNvPicPr>
            <a:picLocks noChangeAspect="1"/>
          </p:cNvPicPr>
          <p:nvPr/>
        </p:nvPicPr>
        <p:blipFill>
          <a:blip r:embed="rId8"/>
          <a:stretch>
            <a:fillRect/>
          </a:stretch>
        </p:blipFill>
        <p:spPr>
          <a:xfrm>
            <a:off x="106312" y="3829336"/>
            <a:ext cx="2770049" cy="790366"/>
          </a:xfrm>
          <a:prstGeom prst="rect">
            <a:avLst/>
          </a:prstGeom>
        </p:spPr>
      </p:pic>
      <p:sp>
        <p:nvSpPr>
          <p:cNvPr id="16" name="Shape 7"/>
          <p:cNvSpPr/>
          <p:nvPr/>
        </p:nvSpPr>
        <p:spPr>
          <a:xfrm>
            <a:off x="138889" y="3863680"/>
            <a:ext cx="392531" cy="402420"/>
          </a:xfrm>
          <a:custGeom>
            <a:avLst/>
            <a:gdLst/>
            <a:ahLst/>
            <a:cxnLst/>
            <a:rect l="l" t="t" r="r" b="b"/>
            <a:pathLst>
              <a:path w="392531" h="402420">
                <a:moveTo>
                  <a:pt x="196265" y="0"/>
                </a:moveTo>
                <a:moveTo>
                  <a:pt x="196265" y="0"/>
                </a:moveTo>
                <a:cubicBezTo>
                  <a:pt x="304587" y="0"/>
                  <a:pt x="392531" y="90159"/>
                  <a:pt x="392531" y="201210"/>
                </a:cubicBezTo>
                <a:cubicBezTo>
                  <a:pt x="392531" y="312261"/>
                  <a:pt x="304587" y="402420"/>
                  <a:pt x="196265" y="402420"/>
                </a:cubicBezTo>
                <a:cubicBezTo>
                  <a:pt x="87944" y="402420"/>
                  <a:pt x="0" y="312261"/>
                  <a:pt x="0" y="201210"/>
                </a:cubicBezTo>
                <a:cubicBezTo>
                  <a:pt x="0" y="90159"/>
                  <a:pt x="87944" y="0"/>
                  <a:pt x="196265" y="0"/>
                </a:cubicBezTo>
                <a:close/>
              </a:path>
            </a:pathLst>
          </a:custGeom>
          <a:solidFill>
            <a:srgbClr val="282055"/>
          </a:solidFill>
          <a:ln/>
        </p:spPr>
      </p:sp>
      <p:sp>
        <p:nvSpPr>
          <p:cNvPr id="17" name="Text 8"/>
          <p:cNvSpPr/>
          <p:nvPr/>
        </p:nvSpPr>
        <p:spPr>
          <a:xfrm>
            <a:off x="-1848" y="3795142"/>
            <a:ext cx="630364" cy="539496"/>
          </a:xfrm>
          <a:prstGeom prst="rect">
            <a:avLst/>
          </a:prstGeom>
          <a:noFill/>
          <a:ln/>
        </p:spPr>
        <p:txBody>
          <a:bodyPr wrap="square" lIns="95250" tIns="95250" rIns="95250" bIns="95250" rtlCol="0" anchor="t">
            <a:spAutoFit/>
          </a:bodyPr>
          <a:lstStyle/>
          <a:p>
            <a:pPr algn="ctr" indent="0" marL="0">
              <a:lnSpc>
                <a:spcPct val="112500"/>
              </a:lnSpc>
              <a:spcBef>
                <a:spcPts val="375"/>
              </a:spcBef>
              <a:buNone/>
            </a:pPr>
            <a:r>
              <a:rPr lang="en-US" sz="1872" b="1" dirty="0">
                <a:solidFill>
                  <a:srgbClr val="6764FB"/>
                </a:solidFill>
                <a:latin typeface="Noto Sans" pitchFamily="34" charset="0"/>
                <a:ea typeface="Noto Sans" pitchFamily="34" charset="-122"/>
                <a:cs typeface="Noto Sans" pitchFamily="34" charset="-120"/>
              </a:rPr>
              <a:t>4</a:t>
            </a:r>
            <a:endParaRPr lang="en-US" sz="1440" dirty="0"/>
          </a:p>
        </p:txBody>
      </p:sp>
      <p:sp>
        <p:nvSpPr>
          <p:cNvPr id="18" name="Text 9"/>
          <p:cNvSpPr/>
          <p:nvPr/>
        </p:nvSpPr>
        <p:spPr>
          <a:xfrm>
            <a:off x="487748" y="904313"/>
            <a:ext cx="2778993" cy="365760"/>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296" b="1" dirty="0">
                <a:solidFill>
                  <a:srgbClr val="FFFFFF"/>
                </a:solidFill>
                <a:latin typeface="Noto Sans" pitchFamily="34" charset="0"/>
                <a:ea typeface="Noto Sans" pitchFamily="34" charset="-122"/>
                <a:cs typeface="Noto Sans" pitchFamily="34" charset="-120"/>
              </a:rPr>
              <a:t>Step-by-step </a:t>
            </a:r>
            <a:endParaRPr lang="en-US" sz="1440" dirty="0"/>
          </a:p>
        </p:txBody>
      </p:sp>
      <p:sp>
        <p:nvSpPr>
          <p:cNvPr id="19" name="Text 10"/>
          <p:cNvSpPr/>
          <p:nvPr/>
        </p:nvSpPr>
        <p:spPr>
          <a:xfrm>
            <a:off x="221410" y="1231506"/>
            <a:ext cx="2778993" cy="365760"/>
          </a:xfrm>
          <a:prstGeom prst="rect">
            <a:avLst/>
          </a:prstGeom>
          <a:noFill/>
          <a:ln/>
        </p:spPr>
        <p:txBody>
          <a:bodyPr wrap="square" lIns="95250" tIns="95250" rIns="95250" bIns="95250" rtlCol="0" anchor="t">
            <a:spAutoFit/>
          </a:bodyPr>
          <a:lstStyle/>
          <a:p>
            <a:pPr marL="160020" indent="-160020">
              <a:lnSpc>
                <a:spcPct val="1000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Build orders part by part</a:t>
            </a:r>
            <a:endParaRPr lang="en-US" sz="1440" dirty="0"/>
          </a:p>
        </p:txBody>
      </p:sp>
      <p:sp>
        <p:nvSpPr>
          <p:cNvPr id="20" name="Text 11"/>
          <p:cNvSpPr/>
          <p:nvPr/>
        </p:nvSpPr>
        <p:spPr>
          <a:xfrm>
            <a:off x="509568" y="1883373"/>
            <a:ext cx="2778993" cy="365760"/>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296" b="1" dirty="0">
                <a:solidFill>
                  <a:srgbClr val="FFFFFF"/>
                </a:solidFill>
                <a:latin typeface="Noto Sans" pitchFamily="34" charset="0"/>
                <a:ea typeface="Noto Sans" pitchFamily="34" charset="-122"/>
                <a:cs typeface="Noto Sans" pitchFamily="34" charset="-120"/>
              </a:rPr>
              <a:t>Multiple Builders</a:t>
            </a:r>
            <a:endParaRPr lang="en-US" sz="1440" dirty="0"/>
          </a:p>
        </p:txBody>
      </p:sp>
      <p:sp>
        <p:nvSpPr>
          <p:cNvPr id="21" name="Text 12"/>
          <p:cNvSpPr/>
          <p:nvPr/>
        </p:nvSpPr>
        <p:spPr>
          <a:xfrm>
            <a:off x="221410" y="2137258"/>
            <a:ext cx="2856074" cy="548640"/>
          </a:xfrm>
          <a:prstGeom prst="rect">
            <a:avLst/>
          </a:prstGeom>
          <a:noFill/>
          <a:ln/>
        </p:spPr>
        <p:txBody>
          <a:bodyPr wrap="square" lIns="95250" tIns="95250" rIns="95250" bIns="95250" rtlCol="0" anchor="t">
            <a:spAutoFit/>
          </a:bodyPr>
          <a:lstStyle/>
          <a:p>
            <a:pPr marL="160020" indent="-160020">
              <a:lnSpc>
                <a:spcPct val="1000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AddPlant, AddPot, AddSeed, AddDecoration</a:t>
            </a:r>
            <a:endParaRPr lang="en-US" sz="1440" dirty="0"/>
          </a:p>
        </p:txBody>
      </p:sp>
      <p:sp>
        <p:nvSpPr>
          <p:cNvPr id="22" name="Text 13"/>
          <p:cNvSpPr/>
          <p:nvPr/>
        </p:nvSpPr>
        <p:spPr>
          <a:xfrm>
            <a:off x="509568" y="2898485"/>
            <a:ext cx="2778993" cy="365760"/>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296" b="1" dirty="0">
                <a:solidFill>
                  <a:srgbClr val="FFFFFF"/>
                </a:solidFill>
                <a:latin typeface="Noto Sans" pitchFamily="34" charset="0"/>
                <a:ea typeface="Noto Sans" pitchFamily="34" charset="-122"/>
                <a:cs typeface="Noto Sans" pitchFamily="34" charset="-120"/>
              </a:rPr>
              <a:t>Customizable</a:t>
            </a:r>
            <a:endParaRPr lang="en-US" sz="1440" dirty="0"/>
          </a:p>
        </p:txBody>
      </p:sp>
      <p:sp>
        <p:nvSpPr>
          <p:cNvPr id="23" name="Text 14"/>
          <p:cNvSpPr/>
          <p:nvPr/>
        </p:nvSpPr>
        <p:spPr>
          <a:xfrm>
            <a:off x="243230" y="3225678"/>
            <a:ext cx="2778993" cy="365760"/>
          </a:xfrm>
          <a:prstGeom prst="rect">
            <a:avLst/>
          </a:prstGeom>
          <a:noFill/>
          <a:ln/>
        </p:spPr>
        <p:txBody>
          <a:bodyPr wrap="square" lIns="95250" tIns="95250" rIns="95250" bIns="95250" rtlCol="0" anchor="t">
            <a:spAutoFit/>
          </a:bodyPr>
          <a:lstStyle/>
          <a:p>
            <a:pPr marL="160020" indent="-160020">
              <a:lnSpc>
                <a:spcPct val="1000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Personalized plant packages</a:t>
            </a:r>
            <a:endParaRPr lang="en-US" sz="1440" dirty="0"/>
          </a:p>
        </p:txBody>
      </p:sp>
      <p:sp>
        <p:nvSpPr>
          <p:cNvPr id="24" name="Text 15"/>
          <p:cNvSpPr/>
          <p:nvPr/>
        </p:nvSpPr>
        <p:spPr>
          <a:xfrm>
            <a:off x="509568" y="3858759"/>
            <a:ext cx="2778993" cy="365760"/>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296" b="1" dirty="0">
                <a:solidFill>
                  <a:srgbClr val="FFFFFF"/>
                </a:solidFill>
                <a:latin typeface="Noto Sans" pitchFamily="34" charset="0"/>
                <a:ea typeface="Noto Sans" pitchFamily="34" charset="-122"/>
                <a:cs typeface="Noto Sans" pitchFamily="34" charset="-120"/>
              </a:rPr>
              <a:t>Clean Logic</a:t>
            </a:r>
            <a:endParaRPr lang="en-US" sz="1440" dirty="0"/>
          </a:p>
        </p:txBody>
      </p:sp>
      <p:sp>
        <p:nvSpPr>
          <p:cNvPr id="25" name="Text 16"/>
          <p:cNvSpPr/>
          <p:nvPr/>
        </p:nvSpPr>
        <p:spPr>
          <a:xfrm>
            <a:off x="243230" y="4185952"/>
            <a:ext cx="2778993" cy="365760"/>
          </a:xfrm>
          <a:prstGeom prst="rect">
            <a:avLst/>
          </a:prstGeom>
          <a:noFill/>
          <a:ln/>
        </p:spPr>
        <p:txBody>
          <a:bodyPr wrap="square" lIns="95250" tIns="95250" rIns="95250" bIns="95250" rtlCol="0" anchor="t">
            <a:spAutoFit/>
          </a:bodyPr>
          <a:lstStyle/>
          <a:p>
            <a:pPr marL="160020" indent="-160020">
              <a:lnSpc>
                <a:spcPct val="1000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Simple interface, complex work hidden</a:t>
            </a:r>
            <a:endParaRPr lang="en-US" sz="1440" dirty="0"/>
          </a:p>
        </p:txBody>
      </p:sp>
      <p:pic>
        <p:nvPicPr>
          <p:cNvPr id="26" name="Image 7" descr="https://oceandoc-ai.obs.ap-southeast-3.myhuaweicloud.com/176218225639393/4df6180e-f406-48da-977c-bb1a676e314e/1762202834779/Builder.png">    </p:cNvPr>
          <p:cNvPicPr>
            <a:picLocks noChangeAspect="1"/>
          </p:cNvPicPr>
          <p:nvPr/>
        </p:nvPicPr>
        <p:blipFill>
          <a:blip r:embed="rId9"/>
          <a:stretch>
            <a:fillRect/>
          </a:stretch>
        </p:blipFill>
        <p:spPr>
          <a:xfrm>
            <a:off x="3187600" y="767721"/>
            <a:ext cx="5519996" cy="413429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5078" y="67884"/>
            <a:ext cx="8005161" cy="566928"/>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Customer Order Processing</a:t>
            </a:r>
            <a:endParaRPr lang="en-US" sz="1440" dirty="0"/>
          </a:p>
        </p:txBody>
      </p:sp>
      <p:pic>
        <p:nvPicPr>
          <p:cNvPr id="3" name="Image 0" descr="preencoded.png">    </p:cNvPr>
          <p:cNvPicPr>
            <a:picLocks noChangeAspect="1"/>
          </p:cNvPicPr>
          <p:nvPr/>
        </p:nvPicPr>
        <p:blipFill>
          <a:blip r:embed="rId2"/>
          <a:stretch>
            <a:fillRect/>
          </a:stretch>
        </p:blipFill>
        <p:spPr>
          <a:xfrm>
            <a:off x="201357" y="244913"/>
            <a:ext cx="616423" cy="231159"/>
          </a:xfrm>
          <a:prstGeom prst="rect">
            <a:avLst/>
          </a:prstGeom>
        </p:spPr>
      </p:pic>
      <p:pic>
        <p:nvPicPr>
          <p:cNvPr id="4" name="Image 1" descr="preencoded.png">    </p:cNvPr>
          <p:cNvPicPr>
            <a:picLocks noChangeAspect="1"/>
          </p:cNvPicPr>
          <p:nvPr/>
        </p:nvPicPr>
        <p:blipFill>
          <a:blip r:embed="rId3"/>
          <a:stretch>
            <a:fillRect/>
          </a:stretch>
        </p:blipFill>
        <p:spPr>
          <a:xfrm>
            <a:off x="201357" y="244913"/>
            <a:ext cx="616423" cy="231159"/>
          </a:xfrm>
          <a:prstGeom prst="rect">
            <a:avLst/>
          </a:prstGeom>
        </p:spPr>
      </p:pic>
      <p:pic>
        <p:nvPicPr>
          <p:cNvPr id="5" name="Image 2" descr="preencoded.png">    </p:cNvPr>
          <p:cNvPicPr>
            <a:picLocks noChangeAspect="1"/>
          </p:cNvPicPr>
          <p:nvPr/>
        </p:nvPicPr>
        <p:blipFill>
          <a:blip r:embed="rId4"/>
          <a:stretch>
            <a:fillRect/>
          </a:stretch>
        </p:blipFill>
        <p:spPr>
          <a:xfrm>
            <a:off x="201357" y="244913"/>
            <a:ext cx="616423" cy="231159"/>
          </a:xfrm>
          <a:prstGeom prst="rect">
            <a:avLst/>
          </a:prstGeom>
        </p:spPr>
      </p:pic>
      <p:pic>
        <p:nvPicPr>
          <p:cNvPr id="6" name="Image 3" descr="preencoded.png">    </p:cNvPr>
          <p:cNvPicPr>
            <a:picLocks noChangeAspect="1"/>
          </p:cNvPicPr>
          <p:nvPr/>
        </p:nvPicPr>
        <p:blipFill>
          <a:blip r:embed="rId5"/>
          <a:stretch>
            <a:fillRect/>
          </a:stretch>
        </p:blipFill>
        <p:spPr>
          <a:xfrm>
            <a:off x="2476119" y="2074006"/>
            <a:ext cx="2271826" cy="1298186"/>
          </a:xfrm>
          <a:prstGeom prst="rect">
            <a:avLst/>
          </a:prstGeom>
        </p:spPr>
      </p:pic>
      <p:sp>
        <p:nvSpPr>
          <p:cNvPr id="7" name="Shape 1"/>
          <p:cNvSpPr/>
          <p:nvPr/>
        </p:nvSpPr>
        <p:spPr>
          <a:xfrm>
            <a:off x="1552494" y="2480310"/>
            <a:ext cx="890007" cy="890007"/>
          </a:xfrm>
          <a:custGeom>
            <a:avLst/>
            <a:gdLst/>
            <a:ahLst/>
            <a:cxnLst/>
            <a:rect l="l" t="t" r="r" b="b"/>
            <a:pathLst>
              <a:path w="890007" h="890007">
                <a:moveTo>
                  <a:pt x="445004" y="0"/>
                </a:moveTo>
                <a:moveTo>
                  <a:pt x="445004" y="0"/>
                </a:moveTo>
                <a:cubicBezTo>
                  <a:pt x="690608" y="0"/>
                  <a:pt x="890007" y="199399"/>
                  <a:pt x="890007" y="445004"/>
                </a:cubicBezTo>
                <a:cubicBezTo>
                  <a:pt x="890007" y="690608"/>
                  <a:pt x="690608" y="890007"/>
                  <a:pt x="445004" y="890007"/>
                </a:cubicBezTo>
                <a:cubicBezTo>
                  <a:pt x="199399" y="890007"/>
                  <a:pt x="0" y="690608"/>
                  <a:pt x="0" y="445004"/>
                </a:cubicBezTo>
                <a:cubicBezTo>
                  <a:pt x="0" y="199399"/>
                  <a:pt x="199399" y="0"/>
                  <a:pt x="445004" y="0"/>
                </a:cubicBezTo>
                <a:close/>
              </a:path>
            </a:pathLst>
          </a:custGeom>
          <a:solidFill>
            <a:srgbClr val="6764FB"/>
          </a:solidFill>
          <a:ln/>
        </p:spPr>
      </p:sp>
      <p:pic>
        <p:nvPicPr>
          <p:cNvPr id="8" name="Image 4" descr="preencoded.png">    </p:cNvPr>
          <p:cNvPicPr>
            <a:picLocks noChangeAspect="1"/>
          </p:cNvPicPr>
          <p:nvPr/>
        </p:nvPicPr>
        <p:blipFill>
          <a:blip r:embed="rId6"/>
          <a:stretch>
            <a:fillRect/>
          </a:stretch>
        </p:blipFill>
        <p:spPr>
          <a:xfrm>
            <a:off x="1768097" y="2695913"/>
            <a:ext cx="458801" cy="458801"/>
          </a:xfrm>
          <a:prstGeom prst="rect">
            <a:avLst/>
          </a:prstGeom>
        </p:spPr>
      </p:pic>
      <p:sp>
        <p:nvSpPr>
          <p:cNvPr id="9" name="Shape 2"/>
          <p:cNvSpPr/>
          <p:nvPr/>
        </p:nvSpPr>
        <p:spPr>
          <a:xfrm>
            <a:off x="6701499" y="2480310"/>
            <a:ext cx="890007" cy="890007"/>
          </a:xfrm>
          <a:custGeom>
            <a:avLst/>
            <a:gdLst/>
            <a:ahLst/>
            <a:cxnLst/>
            <a:rect l="l" t="t" r="r" b="b"/>
            <a:pathLst>
              <a:path w="890007" h="890007">
                <a:moveTo>
                  <a:pt x="445004" y="0"/>
                </a:moveTo>
                <a:moveTo>
                  <a:pt x="445004" y="0"/>
                </a:moveTo>
                <a:cubicBezTo>
                  <a:pt x="690608" y="0"/>
                  <a:pt x="890007" y="199399"/>
                  <a:pt x="890007" y="445004"/>
                </a:cubicBezTo>
                <a:cubicBezTo>
                  <a:pt x="890007" y="690608"/>
                  <a:pt x="690608" y="890007"/>
                  <a:pt x="445004" y="890007"/>
                </a:cubicBezTo>
                <a:cubicBezTo>
                  <a:pt x="199399" y="890007"/>
                  <a:pt x="0" y="690608"/>
                  <a:pt x="0" y="445004"/>
                </a:cubicBezTo>
                <a:cubicBezTo>
                  <a:pt x="0" y="199399"/>
                  <a:pt x="199399" y="0"/>
                  <a:pt x="445004" y="0"/>
                </a:cubicBezTo>
                <a:close/>
              </a:path>
            </a:pathLst>
          </a:custGeom>
          <a:solidFill>
            <a:srgbClr val="6764FB">
              <a:alpha val="12941"/>
            </a:srgbClr>
          </a:solidFill>
          <a:ln/>
        </p:spPr>
      </p:sp>
      <p:pic>
        <p:nvPicPr>
          <p:cNvPr id="10" name="Image 5" descr="preencoded.png">    </p:cNvPr>
          <p:cNvPicPr>
            <a:picLocks noChangeAspect="1"/>
          </p:cNvPicPr>
          <p:nvPr/>
        </p:nvPicPr>
        <p:blipFill>
          <a:blip r:embed="rId7"/>
          <a:stretch>
            <a:fillRect/>
          </a:stretch>
        </p:blipFill>
        <p:spPr>
          <a:xfrm flipV="1" rot="10800000">
            <a:off x="4429673" y="2074006"/>
            <a:ext cx="2271826" cy="1298186"/>
          </a:xfrm>
          <a:prstGeom prst="rect">
            <a:avLst/>
          </a:prstGeom>
        </p:spPr>
      </p:pic>
      <p:pic>
        <p:nvPicPr>
          <p:cNvPr id="11" name="Image 6" descr="preencoded.png">    </p:cNvPr>
          <p:cNvPicPr>
            <a:picLocks noChangeAspect="1"/>
          </p:cNvPicPr>
          <p:nvPr/>
        </p:nvPicPr>
        <p:blipFill>
          <a:blip r:embed="rId8"/>
          <a:stretch>
            <a:fillRect/>
          </a:stretch>
        </p:blipFill>
        <p:spPr>
          <a:xfrm>
            <a:off x="6943590" y="2722401"/>
            <a:ext cx="405824" cy="405824"/>
          </a:xfrm>
          <a:prstGeom prst="rect">
            <a:avLst/>
          </a:prstGeom>
        </p:spPr>
      </p:pic>
      <p:sp>
        <p:nvSpPr>
          <p:cNvPr id="12" name="Text 3"/>
          <p:cNvSpPr/>
          <p:nvPr/>
        </p:nvSpPr>
        <p:spPr>
          <a:xfrm>
            <a:off x="241511" y="889791"/>
            <a:ext cx="3370521" cy="393192"/>
          </a:xfrm>
          <a:prstGeom prst="rect">
            <a:avLst/>
          </a:prstGeom>
          <a:noFill/>
          <a:ln/>
        </p:spPr>
        <p:txBody>
          <a:bodyPr wrap="square" lIns="95250" tIns="95250" rIns="95250" bIns="95250" rtlCol="0" anchor="t">
            <a:spAutoFit/>
          </a:bodyPr>
          <a:lstStyle/>
          <a:p>
            <a:pPr algn="r" indent="0" marL="0">
              <a:lnSpc>
                <a:spcPct val="100000"/>
              </a:lnSpc>
              <a:spcBef>
                <a:spcPts val="375"/>
              </a:spcBef>
              <a:buNone/>
            </a:pPr>
            <a:r>
              <a:rPr lang="en-US" sz="1296" b="1" dirty="0">
                <a:solidFill>
                  <a:srgbClr val="6764FB"/>
                </a:solidFill>
                <a:latin typeface="Noto Sans" pitchFamily="34" charset="0"/>
                <a:ea typeface="Noto Sans" pitchFamily="34" charset="-122"/>
                <a:cs typeface="Noto Sans" pitchFamily="34" charset="-120"/>
              </a:rPr>
              <a:t>Builder Pattern</a:t>
            </a:r>
            <a:endParaRPr lang="en-US" sz="1440" dirty="0"/>
          </a:p>
        </p:txBody>
      </p:sp>
      <p:sp>
        <p:nvSpPr>
          <p:cNvPr id="13" name="Text 4"/>
          <p:cNvSpPr/>
          <p:nvPr/>
        </p:nvSpPr>
        <p:spPr>
          <a:xfrm>
            <a:off x="241511" y="1378983"/>
            <a:ext cx="3370521" cy="603504"/>
          </a:xfrm>
          <a:prstGeom prst="rect">
            <a:avLst/>
          </a:prstGeom>
          <a:noFill/>
          <a:ln/>
        </p:spPr>
        <p:txBody>
          <a:bodyPr wrap="square" lIns="95250" tIns="95250" rIns="95250" bIns="95250" rtlCol="0" anchor="t">
            <a:spAutoFit/>
          </a:bodyPr>
          <a:lstStyle/>
          <a:p>
            <a:pPr algn="r" indent="0" marL="0">
              <a:lnSpc>
                <a:spcPct val="100000"/>
              </a:lnSpc>
              <a:buNone/>
            </a:pPr>
            <a:r>
              <a:rPr lang="en-US" sz="1008" dirty="0">
                <a:solidFill>
                  <a:srgbClr val="FFFFFF"/>
                </a:solidFill>
                <a:latin typeface="Noto Sans" pitchFamily="34" charset="0"/>
                <a:ea typeface="Noto Sans" pitchFamily="34" charset="-122"/>
                <a:cs typeface="Noto Sans" pitchFamily="34" charset="-120"/>
              </a:rPr>
              <a:t>Constructs complex orders step-by-step, simplifying creation of customizable customer orders.</a:t>
            </a:r>
            <a:endParaRPr lang="en-US" sz="1440" dirty="0"/>
          </a:p>
        </p:txBody>
      </p:sp>
      <p:sp>
        <p:nvSpPr>
          <p:cNvPr id="14" name="Text 5"/>
          <p:cNvSpPr/>
          <p:nvPr/>
        </p:nvSpPr>
        <p:spPr>
          <a:xfrm>
            <a:off x="5533525" y="889813"/>
            <a:ext cx="3390968" cy="393192"/>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296" b="1" dirty="0">
                <a:solidFill>
                  <a:srgbClr val="6764FB"/>
                </a:solidFill>
                <a:latin typeface="Noto Sans" pitchFamily="34" charset="0"/>
                <a:ea typeface="Noto Sans" pitchFamily="34" charset="-122"/>
                <a:cs typeface="Noto Sans" pitchFamily="34" charset="-120"/>
              </a:rPr>
              <a:t>Decorator Pattern</a:t>
            </a:r>
            <a:endParaRPr lang="en-US" sz="1440" dirty="0"/>
          </a:p>
        </p:txBody>
      </p:sp>
      <p:sp>
        <p:nvSpPr>
          <p:cNvPr id="15" name="Text 6"/>
          <p:cNvSpPr/>
          <p:nvPr/>
        </p:nvSpPr>
        <p:spPr>
          <a:xfrm>
            <a:off x="5565586" y="1378983"/>
            <a:ext cx="3390968" cy="603504"/>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008" dirty="0">
                <a:solidFill>
                  <a:srgbClr val="FFFFFF"/>
                </a:solidFill>
                <a:latin typeface="Noto Sans" pitchFamily="34" charset="0"/>
                <a:ea typeface="Noto Sans" pitchFamily="34" charset="-122"/>
                <a:cs typeface="Noto Sans" pitchFamily="34" charset="-120"/>
              </a:rPr>
              <a:t>Adds optional features to plants, enabling customization with pots and decorations in orders.</a:t>
            </a:r>
            <a:endParaRPr lang="en-US" sz="1440" dirty="0"/>
          </a:p>
        </p:txBody>
      </p:sp>
      <p:sp>
        <p:nvSpPr>
          <p:cNvPr id="16" name="Text 7"/>
          <p:cNvSpPr/>
          <p:nvPr/>
        </p:nvSpPr>
        <p:spPr>
          <a:xfrm>
            <a:off x="241511" y="3372192"/>
            <a:ext cx="3370521" cy="393192"/>
          </a:xfrm>
          <a:prstGeom prst="rect">
            <a:avLst/>
          </a:prstGeom>
          <a:noFill/>
          <a:ln/>
        </p:spPr>
        <p:txBody>
          <a:bodyPr wrap="square" lIns="95250" tIns="95250" rIns="95250" bIns="95250" rtlCol="0" anchor="t">
            <a:spAutoFit/>
          </a:bodyPr>
          <a:lstStyle/>
          <a:p>
            <a:pPr algn="r" indent="0" marL="0">
              <a:lnSpc>
                <a:spcPct val="100000"/>
              </a:lnSpc>
              <a:spcBef>
                <a:spcPts val="375"/>
              </a:spcBef>
              <a:buNone/>
            </a:pPr>
            <a:r>
              <a:rPr lang="en-US" sz="1296" b="1" dirty="0">
                <a:solidFill>
                  <a:srgbClr val="6764FB"/>
                </a:solidFill>
                <a:latin typeface="Noto Sans" pitchFamily="34" charset="0"/>
                <a:ea typeface="Noto Sans" pitchFamily="34" charset="-122"/>
                <a:cs typeface="Noto Sans" pitchFamily="34" charset="-120"/>
              </a:rPr>
              <a:t>Order Components</a:t>
            </a:r>
            <a:endParaRPr lang="en-US" sz="1440" dirty="0"/>
          </a:p>
        </p:txBody>
      </p:sp>
      <p:sp>
        <p:nvSpPr>
          <p:cNvPr id="17" name="Text 8"/>
          <p:cNvSpPr/>
          <p:nvPr/>
        </p:nvSpPr>
        <p:spPr>
          <a:xfrm>
            <a:off x="241511" y="3774528"/>
            <a:ext cx="3370521" cy="603504"/>
          </a:xfrm>
          <a:prstGeom prst="rect">
            <a:avLst/>
          </a:prstGeom>
          <a:noFill/>
          <a:ln/>
        </p:spPr>
        <p:txBody>
          <a:bodyPr wrap="square" lIns="95250" tIns="95250" rIns="95250" bIns="95250" rtlCol="0" anchor="t">
            <a:spAutoFit/>
          </a:bodyPr>
          <a:lstStyle/>
          <a:p>
            <a:pPr algn="r" indent="0" marL="0">
              <a:lnSpc>
                <a:spcPct val="100000"/>
              </a:lnSpc>
              <a:spcBef>
                <a:spcPts val="375"/>
              </a:spcBef>
              <a:buNone/>
            </a:pPr>
            <a:r>
              <a:rPr lang="en-US" sz="1008" dirty="0">
                <a:solidFill>
                  <a:srgbClr val="FFFFFF"/>
                </a:solidFill>
                <a:latin typeface="Noto Sans" pitchFamily="34" charset="0"/>
                <a:ea typeface="Noto Sans" pitchFamily="34" charset="-122"/>
                <a:cs typeface="Noto Sans" pitchFamily="34" charset="-120"/>
              </a:rPr>
              <a:t>Includes plants, seeds, pots, and decorations that can be combined into unique customer purchases.</a:t>
            </a:r>
            <a:endParaRPr lang="en-US" sz="1440" dirty="0"/>
          </a:p>
        </p:txBody>
      </p:sp>
      <p:sp>
        <p:nvSpPr>
          <p:cNvPr id="18" name="Text 9"/>
          <p:cNvSpPr/>
          <p:nvPr/>
        </p:nvSpPr>
        <p:spPr>
          <a:xfrm>
            <a:off x="5570108" y="3372192"/>
            <a:ext cx="3354385" cy="393192"/>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296" b="1" dirty="0">
                <a:solidFill>
                  <a:srgbClr val="6764FB"/>
                </a:solidFill>
                <a:latin typeface="Noto Sans" pitchFamily="34" charset="0"/>
                <a:ea typeface="Noto Sans" pitchFamily="34" charset="-122"/>
                <a:cs typeface="Noto Sans" pitchFamily="34" charset="-120"/>
              </a:rPr>
              <a:t>Sales Command</a:t>
            </a:r>
            <a:endParaRPr lang="en-US" sz="1440" dirty="0"/>
          </a:p>
        </p:txBody>
      </p:sp>
      <p:sp>
        <p:nvSpPr>
          <p:cNvPr id="19" name="Text 10"/>
          <p:cNvSpPr/>
          <p:nvPr/>
        </p:nvSpPr>
        <p:spPr>
          <a:xfrm>
            <a:off x="5565586" y="3774528"/>
            <a:ext cx="3390968" cy="603504"/>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008" dirty="0">
                <a:solidFill>
                  <a:srgbClr val="FFFFFF"/>
                </a:solidFill>
                <a:latin typeface="Noto Sans" pitchFamily="34" charset="0"/>
                <a:ea typeface="Noto Sans" pitchFamily="34" charset="-122"/>
                <a:cs typeface="Noto Sans" pitchFamily="34" charset="-120"/>
              </a:rPr>
              <a:t>Decouples order requests from execution, allowing staff to process customer orders efficiently.</a:t>
            </a:r>
            <a:endParaRPr lang="en-US" sz="144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5078" y="67884"/>
            <a:ext cx="8005161" cy="566928"/>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Decorator for Plant Customization</a:t>
            </a:r>
            <a:endParaRPr lang="en-US" sz="1440" dirty="0"/>
          </a:p>
        </p:txBody>
      </p:sp>
      <p:pic>
        <p:nvPicPr>
          <p:cNvPr id="3" name="Image 0" descr="preencoded.png">    </p:cNvPr>
          <p:cNvPicPr>
            <a:picLocks noChangeAspect="1"/>
          </p:cNvPicPr>
          <p:nvPr/>
        </p:nvPicPr>
        <p:blipFill>
          <a:blip r:embed="rId2"/>
          <a:stretch>
            <a:fillRect/>
          </a:stretch>
        </p:blipFill>
        <p:spPr>
          <a:xfrm>
            <a:off x="201357" y="244913"/>
            <a:ext cx="616423" cy="231159"/>
          </a:xfrm>
          <a:prstGeom prst="rect">
            <a:avLst/>
          </a:prstGeom>
        </p:spPr>
      </p:pic>
      <p:pic>
        <p:nvPicPr>
          <p:cNvPr id="4" name="Image 1" descr="preencoded.png">    </p:cNvPr>
          <p:cNvPicPr>
            <a:picLocks noChangeAspect="1"/>
          </p:cNvPicPr>
          <p:nvPr/>
        </p:nvPicPr>
        <p:blipFill>
          <a:blip r:embed="rId3"/>
          <a:stretch>
            <a:fillRect/>
          </a:stretch>
        </p:blipFill>
        <p:spPr>
          <a:xfrm>
            <a:off x="201357" y="244913"/>
            <a:ext cx="616423" cy="231159"/>
          </a:xfrm>
          <a:prstGeom prst="rect">
            <a:avLst/>
          </a:prstGeom>
        </p:spPr>
      </p:pic>
      <p:pic>
        <p:nvPicPr>
          <p:cNvPr id="5" name="Image 2" descr="preencoded.png">    </p:cNvPr>
          <p:cNvPicPr>
            <a:picLocks noChangeAspect="1"/>
          </p:cNvPicPr>
          <p:nvPr/>
        </p:nvPicPr>
        <p:blipFill>
          <a:blip r:embed="rId4"/>
          <a:stretch>
            <a:fillRect/>
          </a:stretch>
        </p:blipFill>
        <p:spPr>
          <a:xfrm>
            <a:off x="201357" y="244913"/>
            <a:ext cx="616423" cy="231159"/>
          </a:xfrm>
          <a:prstGeom prst="rect">
            <a:avLst/>
          </a:prstGeom>
        </p:spPr>
      </p:pic>
      <p:sp>
        <p:nvSpPr>
          <p:cNvPr id="6" name="Text 1"/>
          <p:cNvSpPr/>
          <p:nvPr/>
        </p:nvSpPr>
        <p:spPr>
          <a:xfrm>
            <a:off x="201357" y="811487"/>
            <a:ext cx="4765364" cy="365760"/>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296" b="1" dirty="0">
                <a:solidFill>
                  <a:srgbClr val="6764FB"/>
                </a:solidFill>
                <a:latin typeface="Noto Sans" pitchFamily="34" charset="0"/>
                <a:ea typeface="Noto Sans" pitchFamily="34" charset="-122"/>
                <a:cs typeface="Noto Sans" pitchFamily="34" charset="-120"/>
              </a:rPr>
              <a:t>Optional Features Addition</a:t>
            </a:r>
            <a:endParaRPr lang="en-US" sz="1440" dirty="0"/>
          </a:p>
        </p:txBody>
      </p:sp>
      <p:sp>
        <p:nvSpPr>
          <p:cNvPr id="7" name="Text 2"/>
          <p:cNvSpPr/>
          <p:nvPr/>
        </p:nvSpPr>
        <p:spPr>
          <a:xfrm>
            <a:off x="201357" y="1042437"/>
            <a:ext cx="4753729" cy="393192"/>
          </a:xfrm>
          <a:prstGeom prst="rect">
            <a:avLst/>
          </a:prstGeom>
          <a:noFill/>
          <a:ln/>
        </p:spPr>
        <p:txBody>
          <a:bodyPr wrap="square" lIns="95250" tIns="95250" rIns="95250" bIns="95250" rtlCol="0" anchor="t">
            <a:spAutoFit/>
          </a:bodyPr>
          <a:lstStyle/>
          <a:p>
            <a:pPr marL="160020" indent="-160020">
              <a:lnSpc>
                <a:spcPct val="1000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Pots &amp; decorations for unique plants</a:t>
            </a:r>
            <a:endParaRPr lang="en-US" sz="1440" dirty="0"/>
          </a:p>
        </p:txBody>
      </p:sp>
      <p:sp>
        <p:nvSpPr>
          <p:cNvPr id="8" name="Text 3"/>
          <p:cNvSpPr/>
          <p:nvPr/>
        </p:nvSpPr>
        <p:spPr>
          <a:xfrm>
            <a:off x="201357" y="1831917"/>
            <a:ext cx="4765364" cy="365760"/>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296" b="1" dirty="0">
                <a:solidFill>
                  <a:srgbClr val="6764FB"/>
                </a:solidFill>
                <a:latin typeface="Noto Sans" pitchFamily="34" charset="0"/>
                <a:ea typeface="Noto Sans" pitchFamily="34" charset="-122"/>
                <a:cs typeface="Noto Sans" pitchFamily="34" charset="-120"/>
              </a:rPr>
              <a:t>Component Structure</a:t>
            </a:r>
            <a:endParaRPr lang="en-US" sz="1440" dirty="0"/>
          </a:p>
        </p:txBody>
      </p:sp>
      <p:sp>
        <p:nvSpPr>
          <p:cNvPr id="9" name="Text 4"/>
          <p:cNvSpPr/>
          <p:nvPr/>
        </p:nvSpPr>
        <p:spPr>
          <a:xfrm>
            <a:off x="201357" y="2063723"/>
            <a:ext cx="4753692" cy="393192"/>
          </a:xfrm>
          <a:prstGeom prst="rect">
            <a:avLst/>
          </a:prstGeom>
          <a:noFill/>
          <a:ln/>
        </p:spPr>
        <p:txBody>
          <a:bodyPr wrap="square" lIns="95250" tIns="95250" rIns="95250" bIns="95250" rtlCol="0" anchor="t">
            <a:spAutoFit/>
          </a:bodyPr>
          <a:lstStyle/>
          <a:p>
            <a:pPr marL="160020" indent="-160020">
              <a:lnSpc>
                <a:spcPct val="1000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OrderPlant + PlantDecorator + concrete decorators</a:t>
            </a:r>
            <a:endParaRPr lang="en-US" sz="1440" dirty="0"/>
          </a:p>
        </p:txBody>
      </p:sp>
      <p:sp>
        <p:nvSpPr>
          <p:cNvPr id="10" name="Text 5"/>
          <p:cNvSpPr/>
          <p:nvPr/>
        </p:nvSpPr>
        <p:spPr>
          <a:xfrm>
            <a:off x="201357" y="2852347"/>
            <a:ext cx="4765364" cy="365760"/>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296" b="1" dirty="0">
                <a:solidFill>
                  <a:srgbClr val="6764FB"/>
                </a:solidFill>
                <a:latin typeface="Noto Sans" pitchFamily="34" charset="0"/>
                <a:ea typeface="Noto Sans" pitchFamily="34" charset="-122"/>
                <a:cs typeface="Noto Sans" pitchFamily="34" charset="-120"/>
              </a:rPr>
              <a:t>Flexibility</a:t>
            </a:r>
            <a:endParaRPr lang="en-US" sz="1440" dirty="0"/>
          </a:p>
        </p:txBody>
      </p:sp>
      <p:sp>
        <p:nvSpPr>
          <p:cNvPr id="11" name="Text 6"/>
          <p:cNvSpPr/>
          <p:nvPr/>
        </p:nvSpPr>
        <p:spPr>
          <a:xfrm>
            <a:off x="201357" y="3085108"/>
            <a:ext cx="4753692" cy="393192"/>
          </a:xfrm>
          <a:prstGeom prst="rect">
            <a:avLst/>
          </a:prstGeom>
          <a:noFill/>
          <a:ln/>
        </p:spPr>
        <p:txBody>
          <a:bodyPr wrap="square" lIns="95250" tIns="95250" rIns="95250" bIns="95250" rtlCol="0" anchor="t">
            <a:spAutoFit/>
          </a:bodyPr>
          <a:lstStyle/>
          <a:p>
            <a:pPr marL="160020" indent="-160020">
              <a:lnSpc>
                <a:spcPct val="1000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Customize without editing plant classes</a:t>
            </a:r>
            <a:endParaRPr lang="en-US" sz="1440" dirty="0"/>
          </a:p>
        </p:txBody>
      </p:sp>
      <p:sp>
        <p:nvSpPr>
          <p:cNvPr id="12" name="Text 7"/>
          <p:cNvSpPr/>
          <p:nvPr/>
        </p:nvSpPr>
        <p:spPr>
          <a:xfrm>
            <a:off x="201357" y="3872777"/>
            <a:ext cx="4765364" cy="365760"/>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296" b="1" dirty="0">
                <a:solidFill>
                  <a:srgbClr val="6764FB"/>
                </a:solidFill>
                <a:latin typeface="Noto Sans" pitchFamily="34" charset="0"/>
                <a:ea typeface="Noto Sans" pitchFamily="34" charset="-122"/>
                <a:cs typeface="Noto Sans" pitchFamily="34" charset="-120"/>
              </a:rPr>
              <a:t>Price Composition</a:t>
            </a:r>
            <a:endParaRPr lang="en-US" sz="1440" dirty="0"/>
          </a:p>
        </p:txBody>
      </p:sp>
      <p:sp>
        <p:nvSpPr>
          <p:cNvPr id="13" name="Text 8"/>
          <p:cNvSpPr/>
          <p:nvPr/>
        </p:nvSpPr>
        <p:spPr>
          <a:xfrm>
            <a:off x="201357" y="4106493"/>
            <a:ext cx="4753692" cy="393192"/>
          </a:xfrm>
          <a:prstGeom prst="rect">
            <a:avLst/>
          </a:prstGeom>
          <a:noFill/>
          <a:ln/>
        </p:spPr>
        <p:txBody>
          <a:bodyPr wrap="square" lIns="95250" tIns="95250" rIns="95250" bIns="95250" rtlCol="0" anchor="t">
            <a:spAutoFit/>
          </a:bodyPr>
          <a:lstStyle/>
          <a:p>
            <a:pPr marL="160020" indent="-160020">
              <a:lnSpc>
                <a:spcPct val="1000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Base price + add-ons</a:t>
            </a:r>
            <a:endParaRPr lang="en-US" sz="1440" dirty="0"/>
          </a:p>
        </p:txBody>
      </p:sp>
      <p:pic>
        <p:nvPicPr>
          <p:cNvPr id="14" name="Image 3" descr="https://oceandoc-ai.obs.ap-southeast-3.myhuaweicloud.com/176218225639393/194dc005-6297-467c-b77a-011dbbba70ae/1762202994808/Decorator.png">    </p:cNvPr>
          <p:cNvPicPr>
            <a:picLocks noChangeAspect="1"/>
          </p:cNvPicPr>
          <p:nvPr/>
        </p:nvPicPr>
        <p:blipFill>
          <a:blip r:embed="rId5"/>
          <a:stretch>
            <a:fillRect/>
          </a:stretch>
        </p:blipFill>
        <p:spPr>
          <a:xfrm>
            <a:off x="3637498" y="811487"/>
            <a:ext cx="5192742" cy="397803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5078" y="67884"/>
            <a:ext cx="8005161" cy="566928"/>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Adapter for Item Integration</a:t>
            </a:r>
            <a:endParaRPr lang="en-US" sz="1440" dirty="0"/>
          </a:p>
        </p:txBody>
      </p:sp>
      <p:pic>
        <p:nvPicPr>
          <p:cNvPr id="3" name="Image 0" descr="preencoded.png">    </p:cNvPr>
          <p:cNvPicPr>
            <a:picLocks noChangeAspect="1"/>
          </p:cNvPicPr>
          <p:nvPr/>
        </p:nvPicPr>
        <p:blipFill>
          <a:blip r:embed="rId2"/>
          <a:stretch>
            <a:fillRect/>
          </a:stretch>
        </p:blipFill>
        <p:spPr>
          <a:xfrm>
            <a:off x="201357" y="244913"/>
            <a:ext cx="616423" cy="231159"/>
          </a:xfrm>
          <a:prstGeom prst="rect">
            <a:avLst/>
          </a:prstGeom>
        </p:spPr>
      </p:pic>
      <p:pic>
        <p:nvPicPr>
          <p:cNvPr id="4" name="Image 1" descr="preencoded.png">    </p:cNvPr>
          <p:cNvPicPr>
            <a:picLocks noChangeAspect="1"/>
          </p:cNvPicPr>
          <p:nvPr/>
        </p:nvPicPr>
        <p:blipFill>
          <a:blip r:embed="rId3"/>
          <a:stretch>
            <a:fillRect/>
          </a:stretch>
        </p:blipFill>
        <p:spPr>
          <a:xfrm>
            <a:off x="201357" y="244913"/>
            <a:ext cx="616423" cy="231159"/>
          </a:xfrm>
          <a:prstGeom prst="rect">
            <a:avLst/>
          </a:prstGeom>
        </p:spPr>
      </p:pic>
      <p:pic>
        <p:nvPicPr>
          <p:cNvPr id="5" name="Image 2" descr="preencoded.png">    </p:cNvPr>
          <p:cNvPicPr>
            <a:picLocks noChangeAspect="1"/>
          </p:cNvPicPr>
          <p:nvPr/>
        </p:nvPicPr>
        <p:blipFill>
          <a:blip r:embed="rId4"/>
          <a:stretch>
            <a:fillRect/>
          </a:stretch>
        </p:blipFill>
        <p:spPr>
          <a:xfrm>
            <a:off x="201357" y="244913"/>
            <a:ext cx="616423" cy="231159"/>
          </a:xfrm>
          <a:prstGeom prst="rect">
            <a:avLst/>
          </a:prstGeom>
        </p:spPr>
      </p:pic>
      <p:pic>
        <p:nvPicPr>
          <p:cNvPr id="6" name="Image 3" descr="preencoded.png">    </p:cNvPr>
          <p:cNvPicPr>
            <a:picLocks noChangeAspect="1"/>
          </p:cNvPicPr>
          <p:nvPr/>
        </p:nvPicPr>
        <p:blipFill>
          <a:blip r:embed="rId5"/>
          <a:stretch>
            <a:fillRect/>
          </a:stretch>
        </p:blipFill>
        <p:spPr>
          <a:xfrm>
            <a:off x="-187760" y="684470"/>
            <a:ext cx="5257673" cy="4332497"/>
          </a:xfrm>
          <a:prstGeom prst="rect">
            <a:avLst/>
          </a:prstGeom>
        </p:spPr>
      </p:pic>
      <p:pic>
        <p:nvPicPr>
          <p:cNvPr id="7" name="Image 4" descr="preencoded.png">    </p:cNvPr>
          <p:cNvPicPr>
            <a:picLocks noChangeAspect="1"/>
          </p:cNvPicPr>
          <p:nvPr/>
        </p:nvPicPr>
        <p:blipFill>
          <a:blip r:embed="rId6"/>
          <a:stretch>
            <a:fillRect/>
          </a:stretch>
        </p:blipFill>
        <p:spPr>
          <a:xfrm>
            <a:off x="120668" y="972281"/>
            <a:ext cx="3496048" cy="540309"/>
          </a:xfrm>
          <a:prstGeom prst="rect">
            <a:avLst/>
          </a:prstGeom>
        </p:spPr>
      </p:pic>
      <p:pic>
        <p:nvPicPr>
          <p:cNvPr id="8" name="Image 5" descr="preencoded.png">    </p:cNvPr>
          <p:cNvPicPr>
            <a:picLocks noChangeAspect="1"/>
          </p:cNvPicPr>
          <p:nvPr/>
        </p:nvPicPr>
        <p:blipFill>
          <a:blip r:embed="rId7"/>
          <a:stretch>
            <a:fillRect/>
          </a:stretch>
        </p:blipFill>
        <p:spPr>
          <a:xfrm>
            <a:off x="8230817" y="67884"/>
            <a:ext cx="782846" cy="815880"/>
          </a:xfrm>
          <a:prstGeom prst="rect">
            <a:avLst/>
          </a:prstGeom>
        </p:spPr>
      </p:pic>
      <p:pic>
        <p:nvPicPr>
          <p:cNvPr id="9" name="Image 6" descr="preencoded.png">    </p:cNvPr>
          <p:cNvPicPr>
            <a:picLocks noChangeAspect="1"/>
          </p:cNvPicPr>
          <p:nvPr/>
        </p:nvPicPr>
        <p:blipFill>
          <a:blip r:embed="rId8"/>
          <a:stretch>
            <a:fillRect/>
          </a:stretch>
        </p:blipFill>
        <p:spPr>
          <a:xfrm>
            <a:off x="8422043" y="267179"/>
            <a:ext cx="400395" cy="417291"/>
          </a:xfrm>
          <a:prstGeom prst="rect">
            <a:avLst/>
          </a:prstGeom>
        </p:spPr>
      </p:pic>
      <p:pic>
        <p:nvPicPr>
          <p:cNvPr id="10" name="Image 7" descr="preencoded.png">    </p:cNvPr>
          <p:cNvPicPr>
            <a:picLocks noChangeAspect="1"/>
          </p:cNvPicPr>
          <p:nvPr/>
        </p:nvPicPr>
        <p:blipFill>
          <a:blip r:embed="rId9"/>
          <a:stretch>
            <a:fillRect/>
          </a:stretch>
        </p:blipFill>
        <p:spPr>
          <a:xfrm>
            <a:off x="120668" y="1845541"/>
            <a:ext cx="3496048" cy="540309"/>
          </a:xfrm>
          <a:prstGeom prst="rect">
            <a:avLst/>
          </a:prstGeom>
        </p:spPr>
      </p:pic>
      <p:pic>
        <p:nvPicPr>
          <p:cNvPr id="11" name="Image 8" descr="preencoded.png">    </p:cNvPr>
          <p:cNvPicPr>
            <a:picLocks noChangeAspect="1"/>
          </p:cNvPicPr>
          <p:nvPr/>
        </p:nvPicPr>
        <p:blipFill>
          <a:blip r:embed="rId10"/>
          <a:stretch>
            <a:fillRect/>
          </a:stretch>
        </p:blipFill>
        <p:spPr>
          <a:xfrm>
            <a:off x="120668" y="2850719"/>
            <a:ext cx="3496048" cy="540309"/>
          </a:xfrm>
          <a:prstGeom prst="rect">
            <a:avLst/>
          </a:prstGeom>
        </p:spPr>
      </p:pic>
      <p:pic>
        <p:nvPicPr>
          <p:cNvPr id="12" name="Image 9" descr="preencoded.png">    </p:cNvPr>
          <p:cNvPicPr>
            <a:picLocks noChangeAspect="1"/>
          </p:cNvPicPr>
          <p:nvPr/>
        </p:nvPicPr>
        <p:blipFill>
          <a:blip r:embed="rId11"/>
          <a:stretch>
            <a:fillRect/>
          </a:stretch>
        </p:blipFill>
        <p:spPr>
          <a:xfrm>
            <a:off x="120668" y="3926726"/>
            <a:ext cx="3496048" cy="540309"/>
          </a:xfrm>
          <a:prstGeom prst="rect">
            <a:avLst/>
          </a:prstGeom>
        </p:spPr>
      </p:pic>
      <p:sp>
        <p:nvSpPr>
          <p:cNvPr id="13" name="Text 1"/>
          <p:cNvSpPr/>
          <p:nvPr/>
        </p:nvSpPr>
        <p:spPr>
          <a:xfrm>
            <a:off x="120668" y="972281"/>
            <a:ext cx="3496048" cy="540309"/>
          </a:xfrm>
          <a:prstGeom prst="rect">
            <a:avLst/>
          </a:prstGeom>
          <a:noFill/>
          <a:ln/>
        </p:spPr>
        <p:txBody>
          <a:bodyPr wrap="square" lIns="95250" tIns="95250" rIns="95250" bIns="95250" rtlCol="0" anchor="ctr"/>
          <a:lstStyle/>
          <a:p>
            <a:pPr algn="ctr" indent="0" marL="0">
              <a:lnSpc>
                <a:spcPct val="100000"/>
              </a:lnSpc>
              <a:spcBef>
                <a:spcPts val="375"/>
              </a:spcBef>
              <a:buNone/>
            </a:pPr>
            <a:r>
              <a:rPr lang="en-US" sz="1296" b="1" dirty="0">
                <a:solidFill>
                  <a:srgbClr val="FFFFFF"/>
                </a:solidFill>
                <a:latin typeface="Noto Sans" pitchFamily="34" charset="0"/>
                <a:ea typeface="Noto Sans" pitchFamily="34" charset="-122"/>
                <a:cs typeface="Noto Sans" pitchFamily="34" charset="-120"/>
              </a:rPr>
              <a:t>Diverse Item Integration</a:t>
            </a:r>
            <a:endParaRPr lang="en-US" sz="1440" dirty="0"/>
          </a:p>
        </p:txBody>
      </p:sp>
      <p:sp>
        <p:nvSpPr>
          <p:cNvPr id="14" name="Text 2"/>
          <p:cNvSpPr/>
          <p:nvPr/>
        </p:nvSpPr>
        <p:spPr>
          <a:xfrm>
            <a:off x="120668" y="1505002"/>
            <a:ext cx="3628662" cy="402336"/>
          </a:xfrm>
          <a:prstGeom prst="rect">
            <a:avLst/>
          </a:prstGeom>
          <a:noFill/>
          <a:ln/>
        </p:spPr>
        <p:txBody>
          <a:bodyPr wrap="square" lIns="95250" tIns="95250" rIns="95250" bIns="95250" rtlCol="0" anchor="t">
            <a:spAutoFit/>
          </a:bodyPr>
          <a:lstStyle/>
          <a:p>
            <a:pPr marL="160020" indent="-160020">
              <a:lnSpc>
                <a:spcPct val="1000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Pots, seeds, decorations as Items</a:t>
            </a:r>
            <a:endParaRPr lang="en-US" sz="1440" dirty="0"/>
          </a:p>
        </p:txBody>
      </p:sp>
      <p:sp>
        <p:nvSpPr>
          <p:cNvPr id="15" name="Text 3"/>
          <p:cNvSpPr/>
          <p:nvPr/>
        </p:nvSpPr>
        <p:spPr>
          <a:xfrm>
            <a:off x="120668" y="1845541"/>
            <a:ext cx="3496048" cy="540309"/>
          </a:xfrm>
          <a:prstGeom prst="rect">
            <a:avLst/>
          </a:prstGeom>
          <a:noFill/>
          <a:ln/>
        </p:spPr>
        <p:txBody>
          <a:bodyPr wrap="square" lIns="95250" tIns="95250" rIns="95250" bIns="95250" rtlCol="0" anchor="ctr"/>
          <a:lstStyle/>
          <a:p>
            <a:pPr algn="ctr" indent="0" marL="0">
              <a:lnSpc>
                <a:spcPct val="100000"/>
              </a:lnSpc>
              <a:spcBef>
                <a:spcPts val="375"/>
              </a:spcBef>
              <a:buNone/>
            </a:pPr>
            <a:r>
              <a:rPr lang="en-US" sz="1296" b="1" dirty="0">
                <a:solidFill>
                  <a:srgbClr val="FFFFFF"/>
                </a:solidFill>
                <a:latin typeface="Noto Sans" pitchFamily="34" charset="0"/>
                <a:ea typeface="Noto Sans" pitchFamily="34" charset="-122"/>
                <a:cs typeface="Noto Sans" pitchFamily="34" charset="-120"/>
              </a:rPr>
              <a:t>Adapter Classes</a:t>
            </a:r>
            <a:endParaRPr lang="en-US" sz="1440" dirty="0"/>
          </a:p>
        </p:txBody>
      </p:sp>
      <p:sp>
        <p:nvSpPr>
          <p:cNvPr id="16" name="Text 4"/>
          <p:cNvSpPr/>
          <p:nvPr/>
        </p:nvSpPr>
        <p:spPr>
          <a:xfrm>
            <a:off x="120668" y="2378263"/>
            <a:ext cx="3628662" cy="402336"/>
          </a:xfrm>
          <a:prstGeom prst="rect">
            <a:avLst/>
          </a:prstGeom>
          <a:noFill/>
          <a:ln/>
        </p:spPr>
        <p:txBody>
          <a:bodyPr wrap="square" lIns="95250" tIns="95250" rIns="95250" bIns="95250" rtlCol="0" anchor="t">
            <a:spAutoFit/>
          </a:bodyPr>
          <a:lstStyle/>
          <a:p>
            <a:pPr marL="160020" indent="-160020">
              <a:lnSpc>
                <a:spcPct val="1000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SeedPacketAdapter, PotAdapter, DecorationAdapter</a:t>
            </a:r>
            <a:endParaRPr lang="en-US" sz="1440" dirty="0"/>
          </a:p>
        </p:txBody>
      </p:sp>
      <p:sp>
        <p:nvSpPr>
          <p:cNvPr id="17" name="Text 5"/>
          <p:cNvSpPr/>
          <p:nvPr/>
        </p:nvSpPr>
        <p:spPr>
          <a:xfrm>
            <a:off x="120668" y="2850719"/>
            <a:ext cx="3496048" cy="540309"/>
          </a:xfrm>
          <a:prstGeom prst="rect">
            <a:avLst/>
          </a:prstGeom>
          <a:noFill/>
          <a:ln/>
        </p:spPr>
        <p:txBody>
          <a:bodyPr wrap="square" lIns="95250" tIns="95250" rIns="95250" bIns="95250" rtlCol="0" anchor="ctr"/>
          <a:lstStyle/>
          <a:p>
            <a:pPr algn="ctr" indent="0" marL="0">
              <a:lnSpc>
                <a:spcPct val="100000"/>
              </a:lnSpc>
              <a:spcBef>
                <a:spcPts val="375"/>
              </a:spcBef>
              <a:buNone/>
            </a:pPr>
            <a:r>
              <a:rPr lang="en-US" sz="1296" b="1" dirty="0">
                <a:solidFill>
                  <a:srgbClr val="FFFFFF"/>
                </a:solidFill>
                <a:latin typeface="Noto Sans" pitchFamily="34" charset="0"/>
                <a:ea typeface="Noto Sans" pitchFamily="34" charset="-122"/>
                <a:cs typeface="Noto Sans" pitchFamily="34" charset="-120"/>
              </a:rPr>
              <a:t>Reusability</a:t>
            </a:r>
            <a:endParaRPr lang="en-US" sz="1440" dirty="0"/>
          </a:p>
        </p:txBody>
      </p:sp>
      <p:sp>
        <p:nvSpPr>
          <p:cNvPr id="18" name="Text 6"/>
          <p:cNvSpPr/>
          <p:nvPr/>
        </p:nvSpPr>
        <p:spPr>
          <a:xfrm>
            <a:off x="120668" y="3383440"/>
            <a:ext cx="3628662" cy="402336"/>
          </a:xfrm>
          <a:prstGeom prst="rect">
            <a:avLst/>
          </a:prstGeom>
          <a:noFill/>
          <a:ln/>
        </p:spPr>
        <p:txBody>
          <a:bodyPr wrap="square" lIns="95250" tIns="95250" rIns="95250" bIns="95250" rtlCol="0" anchor="t">
            <a:spAutoFit/>
          </a:bodyPr>
          <a:lstStyle/>
          <a:p>
            <a:pPr marL="160020" indent="-160020">
              <a:lnSpc>
                <a:spcPct val="1000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No need to change existing classes</a:t>
            </a:r>
            <a:endParaRPr lang="en-US" sz="1440" dirty="0"/>
          </a:p>
        </p:txBody>
      </p:sp>
      <p:sp>
        <p:nvSpPr>
          <p:cNvPr id="19" name="Text 7"/>
          <p:cNvSpPr/>
          <p:nvPr/>
        </p:nvSpPr>
        <p:spPr>
          <a:xfrm>
            <a:off x="120668" y="3926726"/>
            <a:ext cx="3496048" cy="540309"/>
          </a:xfrm>
          <a:prstGeom prst="rect">
            <a:avLst/>
          </a:prstGeom>
          <a:noFill/>
          <a:ln/>
        </p:spPr>
        <p:txBody>
          <a:bodyPr wrap="square" lIns="95250" tIns="95250" rIns="95250" bIns="95250" rtlCol="0" anchor="ctr"/>
          <a:lstStyle/>
          <a:p>
            <a:pPr algn="ctr" indent="0" marL="0">
              <a:lnSpc>
                <a:spcPct val="100000"/>
              </a:lnSpc>
              <a:spcBef>
                <a:spcPts val="375"/>
              </a:spcBef>
              <a:buNone/>
            </a:pPr>
            <a:r>
              <a:rPr lang="en-US" sz="1296" b="1" dirty="0">
                <a:solidFill>
                  <a:srgbClr val="FFFFFF"/>
                </a:solidFill>
                <a:latin typeface="Noto Sans" pitchFamily="34" charset="0"/>
                <a:ea typeface="Noto Sans" pitchFamily="34" charset="-122"/>
                <a:cs typeface="Noto Sans" pitchFamily="34" charset="-120"/>
              </a:rPr>
              <a:t>Unified Interface</a:t>
            </a:r>
            <a:endParaRPr lang="en-US" sz="1440" dirty="0"/>
          </a:p>
        </p:txBody>
      </p:sp>
      <p:sp>
        <p:nvSpPr>
          <p:cNvPr id="20" name="Text 8"/>
          <p:cNvSpPr/>
          <p:nvPr/>
        </p:nvSpPr>
        <p:spPr>
          <a:xfrm>
            <a:off x="120668" y="4459448"/>
            <a:ext cx="3628662" cy="402336"/>
          </a:xfrm>
          <a:prstGeom prst="rect">
            <a:avLst/>
          </a:prstGeom>
          <a:noFill/>
          <a:ln/>
        </p:spPr>
        <p:txBody>
          <a:bodyPr wrap="square" lIns="95250" tIns="95250" rIns="95250" bIns="95250" rtlCol="0" anchor="t">
            <a:spAutoFit/>
          </a:bodyPr>
          <a:lstStyle/>
          <a:p>
            <a:pPr marL="160020" indent="-160020">
              <a:lnSpc>
                <a:spcPct val="1000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Standard “Item” operations</a:t>
            </a:r>
            <a:endParaRPr lang="en-US" sz="1440" dirty="0"/>
          </a:p>
        </p:txBody>
      </p:sp>
      <p:pic>
        <p:nvPicPr>
          <p:cNvPr id="21" name="Image 10" descr="https://oceandoc-ai.obs.ap-southeast-3.myhuaweicloud.com/176218225639393/b5aeb225-65f2-41f4-808c-5a31297e11c6/1762204501863/Adapter.png">    </p:cNvPr>
          <p:cNvPicPr>
            <a:picLocks noChangeAspect="1"/>
          </p:cNvPicPr>
          <p:nvPr/>
        </p:nvPicPr>
        <p:blipFill>
          <a:blip r:embed="rId12"/>
          <a:stretch>
            <a:fillRect/>
          </a:stretch>
        </p:blipFill>
        <p:spPr>
          <a:xfrm>
            <a:off x="3683261" y="972281"/>
            <a:ext cx="5330402" cy="35535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5078" y="67884"/>
            <a:ext cx="8005161" cy="566928"/>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Bridge Pattern for Representation</a:t>
            </a:r>
            <a:endParaRPr lang="en-US" sz="1440" dirty="0"/>
          </a:p>
        </p:txBody>
      </p:sp>
      <p:pic>
        <p:nvPicPr>
          <p:cNvPr id="3" name="Image 0" descr="preencoded.png">    </p:cNvPr>
          <p:cNvPicPr>
            <a:picLocks noChangeAspect="1"/>
          </p:cNvPicPr>
          <p:nvPr/>
        </p:nvPicPr>
        <p:blipFill>
          <a:blip r:embed="rId2"/>
          <a:stretch>
            <a:fillRect/>
          </a:stretch>
        </p:blipFill>
        <p:spPr>
          <a:xfrm>
            <a:off x="201357" y="244913"/>
            <a:ext cx="616423" cy="231159"/>
          </a:xfrm>
          <a:prstGeom prst="rect">
            <a:avLst/>
          </a:prstGeom>
        </p:spPr>
      </p:pic>
      <p:pic>
        <p:nvPicPr>
          <p:cNvPr id="4" name="Image 1" descr="preencoded.png">    </p:cNvPr>
          <p:cNvPicPr>
            <a:picLocks noChangeAspect="1"/>
          </p:cNvPicPr>
          <p:nvPr/>
        </p:nvPicPr>
        <p:blipFill>
          <a:blip r:embed="rId3"/>
          <a:stretch>
            <a:fillRect/>
          </a:stretch>
        </p:blipFill>
        <p:spPr>
          <a:xfrm>
            <a:off x="201357" y="244913"/>
            <a:ext cx="616423" cy="231159"/>
          </a:xfrm>
          <a:prstGeom prst="rect">
            <a:avLst/>
          </a:prstGeom>
        </p:spPr>
      </p:pic>
      <p:pic>
        <p:nvPicPr>
          <p:cNvPr id="5" name="Image 2" descr="preencoded.png">    </p:cNvPr>
          <p:cNvPicPr>
            <a:picLocks noChangeAspect="1"/>
          </p:cNvPicPr>
          <p:nvPr/>
        </p:nvPicPr>
        <p:blipFill>
          <a:blip r:embed="rId4"/>
          <a:stretch>
            <a:fillRect/>
          </a:stretch>
        </p:blipFill>
        <p:spPr>
          <a:xfrm>
            <a:off x="201357" y="244913"/>
            <a:ext cx="616423" cy="231159"/>
          </a:xfrm>
          <a:prstGeom prst="rect">
            <a:avLst/>
          </a:prstGeom>
        </p:spPr>
      </p:pic>
      <p:pic>
        <p:nvPicPr>
          <p:cNvPr id="6" name="Image 3" descr="preencoded.png">    </p:cNvPr>
          <p:cNvPicPr>
            <a:picLocks noChangeAspect="1"/>
          </p:cNvPicPr>
          <p:nvPr/>
        </p:nvPicPr>
        <p:blipFill>
          <a:blip r:embed="rId5"/>
          <a:stretch>
            <a:fillRect/>
          </a:stretch>
        </p:blipFill>
        <p:spPr>
          <a:xfrm>
            <a:off x="541666" y="962983"/>
            <a:ext cx="2952927" cy="790366"/>
          </a:xfrm>
          <a:prstGeom prst="rect">
            <a:avLst/>
          </a:prstGeom>
        </p:spPr>
      </p:pic>
      <p:sp>
        <p:nvSpPr>
          <p:cNvPr id="7" name="Shape 1"/>
          <p:cNvSpPr/>
          <p:nvPr/>
        </p:nvSpPr>
        <p:spPr>
          <a:xfrm>
            <a:off x="576394" y="997327"/>
            <a:ext cx="418446" cy="402420"/>
          </a:xfrm>
          <a:custGeom>
            <a:avLst/>
            <a:gdLst/>
            <a:ahLst/>
            <a:cxnLst/>
            <a:rect l="l" t="t" r="r" b="b"/>
            <a:pathLst>
              <a:path w="418446" h="402420">
                <a:moveTo>
                  <a:pt x="209223" y="0"/>
                </a:moveTo>
                <a:moveTo>
                  <a:pt x="209223" y="0"/>
                </a:moveTo>
                <a:cubicBezTo>
                  <a:pt x="324696" y="0"/>
                  <a:pt x="418446" y="90159"/>
                  <a:pt x="418446" y="201210"/>
                </a:cubicBezTo>
                <a:cubicBezTo>
                  <a:pt x="418446" y="312261"/>
                  <a:pt x="324696" y="402420"/>
                  <a:pt x="209223" y="402420"/>
                </a:cubicBezTo>
                <a:cubicBezTo>
                  <a:pt x="93750" y="402420"/>
                  <a:pt x="0" y="312261"/>
                  <a:pt x="0" y="201210"/>
                </a:cubicBezTo>
                <a:cubicBezTo>
                  <a:pt x="0" y="90159"/>
                  <a:pt x="93750" y="0"/>
                  <a:pt x="209223" y="0"/>
                </a:cubicBezTo>
                <a:close/>
              </a:path>
            </a:pathLst>
          </a:custGeom>
          <a:solidFill>
            <a:srgbClr val="282055"/>
          </a:solidFill>
          <a:ln/>
        </p:spPr>
      </p:sp>
      <p:sp>
        <p:nvSpPr>
          <p:cNvPr id="8" name="Text 2"/>
          <p:cNvSpPr/>
          <p:nvPr/>
        </p:nvSpPr>
        <p:spPr>
          <a:xfrm>
            <a:off x="449626" y="928789"/>
            <a:ext cx="671981" cy="539496"/>
          </a:xfrm>
          <a:prstGeom prst="rect">
            <a:avLst/>
          </a:prstGeom>
          <a:noFill/>
          <a:ln/>
        </p:spPr>
        <p:txBody>
          <a:bodyPr wrap="square" lIns="95250" tIns="95250" rIns="95250" bIns="95250" rtlCol="0" anchor="t">
            <a:spAutoFit/>
          </a:bodyPr>
          <a:lstStyle/>
          <a:p>
            <a:pPr algn="ctr" indent="0" marL="0">
              <a:lnSpc>
                <a:spcPct val="112500"/>
              </a:lnSpc>
              <a:spcBef>
                <a:spcPts val="375"/>
              </a:spcBef>
              <a:buNone/>
            </a:pPr>
            <a:r>
              <a:rPr lang="en-US" sz="1872" b="1" dirty="0">
                <a:solidFill>
                  <a:srgbClr val="6764FB"/>
                </a:solidFill>
                <a:latin typeface="Noto Sans" pitchFamily="34" charset="0"/>
                <a:ea typeface="Noto Sans" pitchFamily="34" charset="-122"/>
                <a:cs typeface="Noto Sans" pitchFamily="34" charset="-120"/>
              </a:rPr>
              <a:t>1</a:t>
            </a:r>
            <a:endParaRPr lang="en-US" sz="1440" dirty="0"/>
          </a:p>
        </p:txBody>
      </p:sp>
      <p:pic>
        <p:nvPicPr>
          <p:cNvPr id="9" name="Image 4" descr="preencoded.png">    </p:cNvPr>
          <p:cNvPicPr>
            <a:picLocks noChangeAspect="1"/>
          </p:cNvPicPr>
          <p:nvPr/>
        </p:nvPicPr>
        <p:blipFill>
          <a:blip r:embed="rId6"/>
          <a:stretch>
            <a:fillRect/>
          </a:stretch>
        </p:blipFill>
        <p:spPr>
          <a:xfrm>
            <a:off x="541666" y="1971466"/>
            <a:ext cx="2952927" cy="790366"/>
          </a:xfrm>
          <a:prstGeom prst="rect">
            <a:avLst/>
          </a:prstGeom>
        </p:spPr>
      </p:pic>
      <p:sp>
        <p:nvSpPr>
          <p:cNvPr id="10" name="Shape 3"/>
          <p:cNvSpPr/>
          <p:nvPr/>
        </p:nvSpPr>
        <p:spPr>
          <a:xfrm>
            <a:off x="576394" y="2005810"/>
            <a:ext cx="418446" cy="402420"/>
          </a:xfrm>
          <a:custGeom>
            <a:avLst/>
            <a:gdLst/>
            <a:ahLst/>
            <a:cxnLst/>
            <a:rect l="l" t="t" r="r" b="b"/>
            <a:pathLst>
              <a:path w="418446" h="402420">
                <a:moveTo>
                  <a:pt x="209223" y="0"/>
                </a:moveTo>
                <a:moveTo>
                  <a:pt x="209223" y="0"/>
                </a:moveTo>
                <a:cubicBezTo>
                  <a:pt x="324696" y="0"/>
                  <a:pt x="418446" y="90159"/>
                  <a:pt x="418446" y="201210"/>
                </a:cubicBezTo>
                <a:cubicBezTo>
                  <a:pt x="418446" y="312261"/>
                  <a:pt x="324696" y="402420"/>
                  <a:pt x="209223" y="402420"/>
                </a:cubicBezTo>
                <a:cubicBezTo>
                  <a:pt x="93750" y="402420"/>
                  <a:pt x="0" y="312261"/>
                  <a:pt x="0" y="201210"/>
                </a:cubicBezTo>
                <a:cubicBezTo>
                  <a:pt x="0" y="90159"/>
                  <a:pt x="93750" y="0"/>
                  <a:pt x="209223" y="0"/>
                </a:cubicBezTo>
                <a:close/>
              </a:path>
            </a:pathLst>
          </a:custGeom>
          <a:solidFill>
            <a:srgbClr val="282055"/>
          </a:solidFill>
          <a:ln/>
        </p:spPr>
      </p:sp>
      <p:sp>
        <p:nvSpPr>
          <p:cNvPr id="11" name="Text 4"/>
          <p:cNvSpPr/>
          <p:nvPr/>
        </p:nvSpPr>
        <p:spPr>
          <a:xfrm>
            <a:off x="449626" y="1937272"/>
            <a:ext cx="671981" cy="539496"/>
          </a:xfrm>
          <a:prstGeom prst="rect">
            <a:avLst/>
          </a:prstGeom>
          <a:noFill/>
          <a:ln/>
        </p:spPr>
        <p:txBody>
          <a:bodyPr wrap="square" lIns="95250" tIns="95250" rIns="95250" bIns="95250" rtlCol="0" anchor="t">
            <a:spAutoFit/>
          </a:bodyPr>
          <a:lstStyle/>
          <a:p>
            <a:pPr algn="ctr" indent="0" marL="0">
              <a:lnSpc>
                <a:spcPct val="112500"/>
              </a:lnSpc>
              <a:spcBef>
                <a:spcPts val="375"/>
              </a:spcBef>
              <a:buNone/>
            </a:pPr>
            <a:r>
              <a:rPr lang="en-US" sz="1872" b="1" dirty="0">
                <a:solidFill>
                  <a:srgbClr val="6764FB"/>
                </a:solidFill>
                <a:latin typeface="Noto Sans" pitchFamily="34" charset="0"/>
                <a:ea typeface="Noto Sans" pitchFamily="34" charset="-122"/>
                <a:cs typeface="Noto Sans" pitchFamily="34" charset="-120"/>
              </a:rPr>
              <a:t>2</a:t>
            </a:r>
            <a:endParaRPr lang="en-US" sz="1440" dirty="0"/>
          </a:p>
        </p:txBody>
      </p:sp>
      <p:pic>
        <p:nvPicPr>
          <p:cNvPr id="12" name="Image 5" descr="preencoded.png">    </p:cNvPr>
          <p:cNvPicPr>
            <a:picLocks noChangeAspect="1"/>
          </p:cNvPicPr>
          <p:nvPr/>
        </p:nvPicPr>
        <p:blipFill>
          <a:blip r:embed="rId7"/>
          <a:stretch>
            <a:fillRect/>
          </a:stretch>
        </p:blipFill>
        <p:spPr>
          <a:xfrm>
            <a:off x="564927" y="2957155"/>
            <a:ext cx="2952927" cy="790366"/>
          </a:xfrm>
          <a:prstGeom prst="rect">
            <a:avLst/>
          </a:prstGeom>
        </p:spPr>
      </p:pic>
      <p:sp>
        <p:nvSpPr>
          <p:cNvPr id="13" name="Shape 5"/>
          <p:cNvSpPr/>
          <p:nvPr/>
        </p:nvSpPr>
        <p:spPr>
          <a:xfrm>
            <a:off x="599655" y="2991499"/>
            <a:ext cx="418446" cy="402420"/>
          </a:xfrm>
          <a:custGeom>
            <a:avLst/>
            <a:gdLst/>
            <a:ahLst/>
            <a:cxnLst/>
            <a:rect l="l" t="t" r="r" b="b"/>
            <a:pathLst>
              <a:path w="418446" h="402420">
                <a:moveTo>
                  <a:pt x="209223" y="0"/>
                </a:moveTo>
                <a:moveTo>
                  <a:pt x="209223" y="0"/>
                </a:moveTo>
                <a:cubicBezTo>
                  <a:pt x="324696" y="0"/>
                  <a:pt x="418446" y="90159"/>
                  <a:pt x="418446" y="201210"/>
                </a:cubicBezTo>
                <a:cubicBezTo>
                  <a:pt x="418446" y="312261"/>
                  <a:pt x="324696" y="402420"/>
                  <a:pt x="209223" y="402420"/>
                </a:cubicBezTo>
                <a:cubicBezTo>
                  <a:pt x="93750" y="402420"/>
                  <a:pt x="0" y="312261"/>
                  <a:pt x="0" y="201210"/>
                </a:cubicBezTo>
                <a:cubicBezTo>
                  <a:pt x="0" y="90159"/>
                  <a:pt x="93750" y="0"/>
                  <a:pt x="209223" y="0"/>
                </a:cubicBezTo>
                <a:close/>
              </a:path>
            </a:pathLst>
          </a:custGeom>
          <a:solidFill>
            <a:srgbClr val="282055"/>
          </a:solidFill>
          <a:ln/>
        </p:spPr>
      </p:sp>
      <p:sp>
        <p:nvSpPr>
          <p:cNvPr id="14" name="Text 6"/>
          <p:cNvSpPr/>
          <p:nvPr/>
        </p:nvSpPr>
        <p:spPr>
          <a:xfrm>
            <a:off x="449626" y="2922961"/>
            <a:ext cx="671981" cy="539496"/>
          </a:xfrm>
          <a:prstGeom prst="rect">
            <a:avLst/>
          </a:prstGeom>
          <a:noFill/>
          <a:ln/>
        </p:spPr>
        <p:txBody>
          <a:bodyPr wrap="square" lIns="95250" tIns="95250" rIns="95250" bIns="95250" rtlCol="0" anchor="t">
            <a:spAutoFit/>
          </a:bodyPr>
          <a:lstStyle/>
          <a:p>
            <a:pPr algn="ctr" indent="0" marL="0">
              <a:lnSpc>
                <a:spcPct val="112500"/>
              </a:lnSpc>
              <a:spcBef>
                <a:spcPts val="375"/>
              </a:spcBef>
              <a:buNone/>
            </a:pPr>
            <a:r>
              <a:rPr lang="en-US" sz="1872" b="1" dirty="0">
                <a:solidFill>
                  <a:srgbClr val="6764FB"/>
                </a:solidFill>
                <a:latin typeface="Noto Sans" pitchFamily="34" charset="0"/>
                <a:ea typeface="Noto Sans" pitchFamily="34" charset="-122"/>
                <a:cs typeface="Noto Sans" pitchFamily="34" charset="-120"/>
              </a:rPr>
              <a:t>3</a:t>
            </a:r>
            <a:endParaRPr lang="en-US" sz="1440" dirty="0"/>
          </a:p>
        </p:txBody>
      </p:sp>
      <p:pic>
        <p:nvPicPr>
          <p:cNvPr id="15" name="Image 6" descr="preencoded.png">    </p:cNvPr>
          <p:cNvPicPr>
            <a:picLocks noChangeAspect="1"/>
          </p:cNvPicPr>
          <p:nvPr/>
        </p:nvPicPr>
        <p:blipFill>
          <a:blip r:embed="rId8"/>
          <a:stretch>
            <a:fillRect/>
          </a:stretch>
        </p:blipFill>
        <p:spPr>
          <a:xfrm>
            <a:off x="564927" y="3917429"/>
            <a:ext cx="2952927" cy="790366"/>
          </a:xfrm>
          <a:prstGeom prst="rect">
            <a:avLst/>
          </a:prstGeom>
        </p:spPr>
      </p:pic>
      <p:sp>
        <p:nvSpPr>
          <p:cNvPr id="16" name="Shape 7"/>
          <p:cNvSpPr/>
          <p:nvPr/>
        </p:nvSpPr>
        <p:spPr>
          <a:xfrm>
            <a:off x="599655" y="3951773"/>
            <a:ext cx="418446" cy="402420"/>
          </a:xfrm>
          <a:custGeom>
            <a:avLst/>
            <a:gdLst/>
            <a:ahLst/>
            <a:cxnLst/>
            <a:rect l="l" t="t" r="r" b="b"/>
            <a:pathLst>
              <a:path w="418446" h="402420">
                <a:moveTo>
                  <a:pt x="209223" y="0"/>
                </a:moveTo>
                <a:moveTo>
                  <a:pt x="209223" y="0"/>
                </a:moveTo>
                <a:cubicBezTo>
                  <a:pt x="324696" y="0"/>
                  <a:pt x="418446" y="90159"/>
                  <a:pt x="418446" y="201210"/>
                </a:cubicBezTo>
                <a:cubicBezTo>
                  <a:pt x="418446" y="312261"/>
                  <a:pt x="324696" y="402420"/>
                  <a:pt x="209223" y="402420"/>
                </a:cubicBezTo>
                <a:cubicBezTo>
                  <a:pt x="93750" y="402420"/>
                  <a:pt x="0" y="312261"/>
                  <a:pt x="0" y="201210"/>
                </a:cubicBezTo>
                <a:cubicBezTo>
                  <a:pt x="0" y="90159"/>
                  <a:pt x="93750" y="0"/>
                  <a:pt x="209223" y="0"/>
                </a:cubicBezTo>
                <a:close/>
              </a:path>
            </a:pathLst>
          </a:custGeom>
          <a:solidFill>
            <a:srgbClr val="282055"/>
          </a:solidFill>
          <a:ln/>
        </p:spPr>
      </p:sp>
      <p:sp>
        <p:nvSpPr>
          <p:cNvPr id="17" name="Text 8"/>
          <p:cNvSpPr/>
          <p:nvPr/>
        </p:nvSpPr>
        <p:spPr>
          <a:xfrm>
            <a:off x="449626" y="3883235"/>
            <a:ext cx="671981" cy="539496"/>
          </a:xfrm>
          <a:prstGeom prst="rect">
            <a:avLst/>
          </a:prstGeom>
          <a:noFill/>
          <a:ln/>
        </p:spPr>
        <p:txBody>
          <a:bodyPr wrap="square" lIns="95250" tIns="95250" rIns="95250" bIns="95250" rtlCol="0" anchor="t">
            <a:spAutoFit/>
          </a:bodyPr>
          <a:lstStyle/>
          <a:p>
            <a:pPr algn="ctr" indent="0" marL="0">
              <a:lnSpc>
                <a:spcPct val="112500"/>
              </a:lnSpc>
              <a:spcBef>
                <a:spcPts val="375"/>
              </a:spcBef>
              <a:buNone/>
            </a:pPr>
            <a:r>
              <a:rPr lang="en-US" sz="1872" b="1" dirty="0">
                <a:solidFill>
                  <a:srgbClr val="6764FB"/>
                </a:solidFill>
                <a:latin typeface="Noto Sans" pitchFamily="34" charset="0"/>
                <a:ea typeface="Noto Sans" pitchFamily="34" charset="-122"/>
                <a:cs typeface="Noto Sans" pitchFamily="34" charset="-120"/>
              </a:rPr>
              <a:t>4</a:t>
            </a:r>
            <a:endParaRPr lang="en-US" sz="1440" dirty="0"/>
          </a:p>
        </p:txBody>
      </p:sp>
      <p:sp>
        <p:nvSpPr>
          <p:cNvPr id="18" name="Text 9"/>
          <p:cNvSpPr/>
          <p:nvPr/>
        </p:nvSpPr>
        <p:spPr>
          <a:xfrm>
            <a:off x="939222" y="992406"/>
            <a:ext cx="2778993" cy="365760"/>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296" b="1" dirty="0">
                <a:solidFill>
                  <a:srgbClr val="FFFFFF"/>
                </a:solidFill>
                <a:latin typeface="Noto Sans" pitchFamily="34" charset="0"/>
                <a:ea typeface="Noto Sans" pitchFamily="34" charset="-122"/>
                <a:cs typeface="Noto Sans" pitchFamily="34" charset="-120"/>
              </a:rPr>
              <a:t>Separation</a:t>
            </a:r>
            <a:endParaRPr lang="en-US" sz="1440" dirty="0"/>
          </a:p>
        </p:txBody>
      </p:sp>
      <p:sp>
        <p:nvSpPr>
          <p:cNvPr id="19" name="Text 10"/>
          <p:cNvSpPr/>
          <p:nvPr/>
        </p:nvSpPr>
        <p:spPr>
          <a:xfrm>
            <a:off x="687623" y="1319599"/>
            <a:ext cx="2962462" cy="365760"/>
          </a:xfrm>
          <a:prstGeom prst="rect">
            <a:avLst/>
          </a:prstGeom>
          <a:noFill/>
          <a:ln/>
        </p:spPr>
        <p:txBody>
          <a:bodyPr wrap="square" lIns="95250" tIns="95250" rIns="95250" bIns="95250" rtlCol="0" anchor="t">
            <a:spAutoFit/>
          </a:bodyPr>
          <a:lstStyle/>
          <a:p>
            <a:pPr marL="160020" indent="-160020">
              <a:lnSpc>
                <a:spcPct val="1000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Greenhouse plants ≠ Order plants</a:t>
            </a:r>
            <a:endParaRPr lang="en-US" sz="1440" dirty="0"/>
          </a:p>
        </p:txBody>
      </p:sp>
      <p:sp>
        <p:nvSpPr>
          <p:cNvPr id="20" name="Text 11"/>
          <p:cNvSpPr/>
          <p:nvPr/>
        </p:nvSpPr>
        <p:spPr>
          <a:xfrm>
            <a:off x="961042" y="1971466"/>
            <a:ext cx="2778993" cy="365760"/>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296" b="1" dirty="0">
                <a:solidFill>
                  <a:srgbClr val="FFFFFF"/>
                </a:solidFill>
                <a:latin typeface="Noto Sans" pitchFamily="34" charset="0"/>
                <a:ea typeface="Noto Sans" pitchFamily="34" charset="-122"/>
                <a:cs typeface="Noto Sans" pitchFamily="34" charset="-120"/>
              </a:rPr>
              <a:t>Key Classes</a:t>
            </a:r>
            <a:endParaRPr lang="en-US" sz="1440" dirty="0"/>
          </a:p>
        </p:txBody>
      </p:sp>
      <p:sp>
        <p:nvSpPr>
          <p:cNvPr id="21" name="Text 12"/>
          <p:cNvSpPr/>
          <p:nvPr/>
        </p:nvSpPr>
        <p:spPr>
          <a:xfrm>
            <a:off x="672884" y="2225350"/>
            <a:ext cx="2856074" cy="594360"/>
          </a:xfrm>
          <a:prstGeom prst="rect">
            <a:avLst/>
          </a:prstGeom>
          <a:noFill/>
          <a:ln/>
        </p:spPr>
        <p:txBody>
          <a:bodyPr wrap="square" lIns="95250" tIns="95250" rIns="95250" bIns="95250" rtlCol="0" anchor="t">
            <a:spAutoFit/>
          </a:bodyPr>
          <a:lstStyle/>
          <a:p>
            <a:pPr marL="160020" indent="-160020">
              <a:lnSpc>
                <a:spcPct val="1000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Plant, PlantImplementor</a:t>
            </a:r>
            <a:endParaRPr lang="en-US" sz="1440" dirty="0"/>
          </a:p>
          <a:p>
            <a:pPr marL="160020" indent="-160020">
              <a:lnSpc>
                <a:spcPct val="1000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GreenHousePlant, OrderPlant</a:t>
            </a:r>
            <a:endParaRPr lang="en-US" sz="1440" dirty="0"/>
          </a:p>
        </p:txBody>
      </p:sp>
      <p:sp>
        <p:nvSpPr>
          <p:cNvPr id="22" name="Text 13"/>
          <p:cNvSpPr/>
          <p:nvPr/>
        </p:nvSpPr>
        <p:spPr>
          <a:xfrm>
            <a:off x="961042" y="2986578"/>
            <a:ext cx="2778993" cy="365760"/>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296" b="1" dirty="0">
                <a:solidFill>
                  <a:srgbClr val="FFFFFF"/>
                </a:solidFill>
                <a:latin typeface="Noto Sans" pitchFamily="34" charset="0"/>
                <a:ea typeface="Noto Sans" pitchFamily="34" charset="-122"/>
                <a:cs typeface="Noto Sans" pitchFamily="34" charset="-120"/>
              </a:rPr>
              <a:t>Flexibility</a:t>
            </a:r>
            <a:endParaRPr lang="en-US" sz="1440" dirty="0"/>
          </a:p>
        </p:txBody>
      </p:sp>
      <p:sp>
        <p:nvSpPr>
          <p:cNvPr id="23" name="Text 14"/>
          <p:cNvSpPr/>
          <p:nvPr/>
        </p:nvSpPr>
        <p:spPr>
          <a:xfrm>
            <a:off x="694704" y="3313771"/>
            <a:ext cx="2778993" cy="365760"/>
          </a:xfrm>
          <a:prstGeom prst="rect">
            <a:avLst/>
          </a:prstGeom>
          <a:noFill/>
          <a:ln/>
        </p:spPr>
        <p:txBody>
          <a:bodyPr wrap="square" lIns="95250" tIns="95250" rIns="95250" bIns="95250" rtlCol="0" anchor="t">
            <a:spAutoFit/>
          </a:bodyPr>
          <a:lstStyle/>
          <a:p>
            <a:pPr marL="160020" indent="-160020">
              <a:lnSpc>
                <a:spcPct val="1000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Update representations independently</a:t>
            </a:r>
            <a:endParaRPr lang="en-US" sz="1440" dirty="0"/>
          </a:p>
        </p:txBody>
      </p:sp>
      <p:sp>
        <p:nvSpPr>
          <p:cNvPr id="24" name="Text 15"/>
          <p:cNvSpPr/>
          <p:nvPr/>
        </p:nvSpPr>
        <p:spPr>
          <a:xfrm>
            <a:off x="961042" y="3946852"/>
            <a:ext cx="2778993" cy="365760"/>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296" b="1" dirty="0">
                <a:solidFill>
                  <a:srgbClr val="FFFFFF"/>
                </a:solidFill>
                <a:latin typeface="Noto Sans" pitchFamily="34" charset="0"/>
                <a:ea typeface="Noto Sans" pitchFamily="34" charset="-122"/>
                <a:cs typeface="Noto Sans" pitchFamily="34" charset="-120"/>
              </a:rPr>
              <a:t>Benefit</a:t>
            </a:r>
            <a:endParaRPr lang="en-US" sz="1440" dirty="0"/>
          </a:p>
        </p:txBody>
      </p:sp>
      <p:sp>
        <p:nvSpPr>
          <p:cNvPr id="25" name="Text 16"/>
          <p:cNvSpPr/>
          <p:nvPr/>
        </p:nvSpPr>
        <p:spPr>
          <a:xfrm>
            <a:off x="694704" y="4274045"/>
            <a:ext cx="2778993" cy="365760"/>
          </a:xfrm>
          <a:prstGeom prst="rect">
            <a:avLst/>
          </a:prstGeom>
          <a:noFill/>
          <a:ln/>
        </p:spPr>
        <p:txBody>
          <a:bodyPr wrap="square" lIns="95250" tIns="95250" rIns="95250" bIns="95250" rtlCol="0" anchor="t">
            <a:spAutoFit/>
          </a:bodyPr>
          <a:lstStyle/>
          <a:p>
            <a:pPr marL="160020" indent="-160020">
              <a:lnSpc>
                <a:spcPct val="1000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Less coupling</a:t>
            </a:r>
            <a:endParaRPr lang="en-US" sz="1440" dirty="0"/>
          </a:p>
        </p:txBody>
      </p:sp>
      <p:pic>
        <p:nvPicPr>
          <p:cNvPr id="26" name="Image 7" descr="https://oceandoc-ai.obs.ap-southeast-3.myhuaweicloud.com/176218225639393/6d38912f-ac68-4f6a-a102-2ba51e4d29e0/1762204688543/Bridge.png">    </p:cNvPr>
          <p:cNvPicPr>
            <a:picLocks noChangeAspect="1"/>
          </p:cNvPicPr>
          <p:nvPr/>
        </p:nvPicPr>
        <p:blipFill>
          <a:blip r:embed="rId9"/>
          <a:stretch>
            <a:fillRect/>
          </a:stretch>
        </p:blipFill>
        <p:spPr>
          <a:xfrm>
            <a:off x="5335922" y="67884"/>
            <a:ext cx="3725600" cy="489858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5078" y="67884"/>
            <a:ext cx="8005161" cy="566928"/>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Prototype for Plant Cloning</a:t>
            </a:r>
            <a:endParaRPr lang="en-US" sz="1440" dirty="0"/>
          </a:p>
        </p:txBody>
      </p:sp>
      <p:pic>
        <p:nvPicPr>
          <p:cNvPr id="3" name="Image 0" descr="preencoded.png">    </p:cNvPr>
          <p:cNvPicPr>
            <a:picLocks noChangeAspect="1"/>
          </p:cNvPicPr>
          <p:nvPr/>
        </p:nvPicPr>
        <p:blipFill>
          <a:blip r:embed="rId2"/>
          <a:stretch>
            <a:fillRect/>
          </a:stretch>
        </p:blipFill>
        <p:spPr>
          <a:xfrm>
            <a:off x="201357" y="244913"/>
            <a:ext cx="616423" cy="231159"/>
          </a:xfrm>
          <a:prstGeom prst="rect">
            <a:avLst/>
          </a:prstGeom>
        </p:spPr>
      </p:pic>
      <p:pic>
        <p:nvPicPr>
          <p:cNvPr id="4" name="Image 1" descr="preencoded.png">    </p:cNvPr>
          <p:cNvPicPr>
            <a:picLocks noChangeAspect="1"/>
          </p:cNvPicPr>
          <p:nvPr/>
        </p:nvPicPr>
        <p:blipFill>
          <a:blip r:embed="rId3"/>
          <a:stretch>
            <a:fillRect/>
          </a:stretch>
        </p:blipFill>
        <p:spPr>
          <a:xfrm>
            <a:off x="201357" y="244913"/>
            <a:ext cx="616423" cy="231159"/>
          </a:xfrm>
          <a:prstGeom prst="rect">
            <a:avLst/>
          </a:prstGeom>
        </p:spPr>
      </p:pic>
      <p:pic>
        <p:nvPicPr>
          <p:cNvPr id="5" name="Image 2" descr="preencoded.png">    </p:cNvPr>
          <p:cNvPicPr>
            <a:picLocks noChangeAspect="1"/>
          </p:cNvPicPr>
          <p:nvPr/>
        </p:nvPicPr>
        <p:blipFill>
          <a:blip r:embed="rId4"/>
          <a:stretch>
            <a:fillRect/>
          </a:stretch>
        </p:blipFill>
        <p:spPr>
          <a:xfrm>
            <a:off x="201357" y="244913"/>
            <a:ext cx="616423" cy="231159"/>
          </a:xfrm>
          <a:prstGeom prst="rect">
            <a:avLst/>
          </a:prstGeom>
        </p:spPr>
      </p:pic>
      <p:sp>
        <p:nvSpPr>
          <p:cNvPr id="6" name="Text 1"/>
          <p:cNvSpPr/>
          <p:nvPr/>
        </p:nvSpPr>
        <p:spPr>
          <a:xfrm>
            <a:off x="201357" y="811487"/>
            <a:ext cx="4765364" cy="365760"/>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296" b="1" dirty="0">
                <a:solidFill>
                  <a:srgbClr val="6764FB"/>
                </a:solidFill>
                <a:latin typeface="Noto Sans" pitchFamily="34" charset="0"/>
                <a:ea typeface="Noto Sans" pitchFamily="34" charset="-122"/>
                <a:cs typeface="Noto Sans" pitchFamily="34" charset="-120"/>
              </a:rPr>
              <a:t>Clone Plants</a:t>
            </a:r>
            <a:endParaRPr lang="en-US" sz="1440" dirty="0"/>
          </a:p>
        </p:txBody>
      </p:sp>
      <p:sp>
        <p:nvSpPr>
          <p:cNvPr id="7" name="Text 2"/>
          <p:cNvSpPr/>
          <p:nvPr/>
        </p:nvSpPr>
        <p:spPr>
          <a:xfrm>
            <a:off x="201357" y="1042437"/>
            <a:ext cx="4753729" cy="393192"/>
          </a:xfrm>
          <a:prstGeom prst="rect">
            <a:avLst/>
          </a:prstGeom>
          <a:noFill/>
          <a:ln/>
        </p:spPr>
        <p:txBody>
          <a:bodyPr wrap="square" lIns="95250" tIns="95250" rIns="95250" bIns="95250" rtlCol="0" anchor="t">
            <a:spAutoFit/>
          </a:bodyPr>
          <a:lstStyle/>
          <a:p>
            <a:pPr marL="160020" indent="-160020">
              <a:lnSpc>
                <a:spcPct val="1000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Make new plants efficiently</a:t>
            </a:r>
            <a:endParaRPr lang="en-US" sz="1440" dirty="0"/>
          </a:p>
        </p:txBody>
      </p:sp>
      <p:sp>
        <p:nvSpPr>
          <p:cNvPr id="8" name="Text 3"/>
          <p:cNvSpPr/>
          <p:nvPr/>
        </p:nvSpPr>
        <p:spPr>
          <a:xfrm>
            <a:off x="201357" y="1831917"/>
            <a:ext cx="4765364" cy="365760"/>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296" b="1" dirty="0">
                <a:solidFill>
                  <a:srgbClr val="6764FB"/>
                </a:solidFill>
                <a:latin typeface="Noto Sans" pitchFamily="34" charset="0"/>
                <a:ea typeface="Noto Sans" pitchFamily="34" charset="-122"/>
                <a:cs typeface="Noto Sans" pitchFamily="34" charset="-120"/>
              </a:rPr>
              <a:t>Multiple Prototypes</a:t>
            </a:r>
            <a:endParaRPr lang="en-US" sz="1440" dirty="0"/>
          </a:p>
        </p:txBody>
      </p:sp>
      <p:sp>
        <p:nvSpPr>
          <p:cNvPr id="9" name="Text 4"/>
          <p:cNvSpPr/>
          <p:nvPr/>
        </p:nvSpPr>
        <p:spPr>
          <a:xfrm>
            <a:off x="201357" y="2063723"/>
            <a:ext cx="4753692" cy="393192"/>
          </a:xfrm>
          <a:prstGeom prst="rect">
            <a:avLst/>
          </a:prstGeom>
          <a:noFill/>
          <a:ln/>
        </p:spPr>
        <p:txBody>
          <a:bodyPr wrap="square" lIns="95250" tIns="95250" rIns="95250" bIns="95250" rtlCol="0" anchor="t">
            <a:spAutoFit/>
          </a:bodyPr>
          <a:lstStyle/>
          <a:p>
            <a:pPr marL="160020" indent="-160020">
              <a:lnSpc>
                <a:spcPct val="1000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PlantType, Decoration, Pot, SeedPacket</a:t>
            </a:r>
            <a:endParaRPr lang="en-US" sz="1440" dirty="0"/>
          </a:p>
        </p:txBody>
      </p:sp>
      <p:sp>
        <p:nvSpPr>
          <p:cNvPr id="10" name="Text 5"/>
          <p:cNvSpPr/>
          <p:nvPr/>
        </p:nvSpPr>
        <p:spPr>
          <a:xfrm>
            <a:off x="201357" y="2852347"/>
            <a:ext cx="4765364" cy="365760"/>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296" b="1" dirty="0">
                <a:solidFill>
                  <a:srgbClr val="6764FB"/>
                </a:solidFill>
                <a:latin typeface="Noto Sans" pitchFamily="34" charset="0"/>
                <a:ea typeface="Noto Sans" pitchFamily="34" charset="-122"/>
                <a:cs typeface="Noto Sans" pitchFamily="34" charset="-120"/>
              </a:rPr>
              <a:t>Reduced Overhead</a:t>
            </a:r>
            <a:endParaRPr lang="en-US" sz="1440" dirty="0"/>
          </a:p>
        </p:txBody>
      </p:sp>
      <p:sp>
        <p:nvSpPr>
          <p:cNvPr id="11" name="Text 6"/>
          <p:cNvSpPr/>
          <p:nvPr/>
        </p:nvSpPr>
        <p:spPr>
          <a:xfrm>
            <a:off x="201357" y="3085108"/>
            <a:ext cx="4753692" cy="393192"/>
          </a:xfrm>
          <a:prstGeom prst="rect">
            <a:avLst/>
          </a:prstGeom>
          <a:noFill/>
          <a:ln/>
        </p:spPr>
        <p:txBody>
          <a:bodyPr wrap="square" lIns="95250" tIns="95250" rIns="95250" bIns="95250" rtlCol="0" anchor="t">
            <a:spAutoFit/>
          </a:bodyPr>
          <a:lstStyle/>
          <a:p>
            <a:pPr marL="160020" indent="-160020">
              <a:lnSpc>
                <a:spcPct val="1000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Avoid recreating objects from scratch</a:t>
            </a:r>
            <a:endParaRPr lang="en-US" sz="1440" dirty="0"/>
          </a:p>
        </p:txBody>
      </p:sp>
      <p:sp>
        <p:nvSpPr>
          <p:cNvPr id="12" name="Text 7"/>
          <p:cNvSpPr/>
          <p:nvPr/>
        </p:nvSpPr>
        <p:spPr>
          <a:xfrm>
            <a:off x="201357" y="3872777"/>
            <a:ext cx="4765364" cy="365760"/>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296" b="1" dirty="0">
                <a:solidFill>
                  <a:srgbClr val="6764FB"/>
                </a:solidFill>
                <a:latin typeface="Noto Sans" pitchFamily="34" charset="0"/>
                <a:ea typeface="Noto Sans" pitchFamily="34" charset="-122"/>
                <a:cs typeface="Noto Sans" pitchFamily="34" charset="-120"/>
              </a:rPr>
              <a:t>Reusable Templates</a:t>
            </a:r>
            <a:endParaRPr lang="en-US" sz="1440" dirty="0"/>
          </a:p>
        </p:txBody>
      </p:sp>
      <p:sp>
        <p:nvSpPr>
          <p:cNvPr id="13" name="Text 8"/>
          <p:cNvSpPr/>
          <p:nvPr/>
        </p:nvSpPr>
        <p:spPr>
          <a:xfrm>
            <a:off x="201357" y="4106493"/>
            <a:ext cx="4753692" cy="393192"/>
          </a:xfrm>
          <a:prstGeom prst="rect">
            <a:avLst/>
          </a:prstGeom>
          <a:noFill/>
          <a:ln/>
        </p:spPr>
        <p:txBody>
          <a:bodyPr wrap="square" lIns="95250" tIns="95250" rIns="95250" bIns="95250" rtlCol="0" anchor="t">
            <a:spAutoFit/>
          </a:bodyPr>
          <a:lstStyle/>
          <a:p>
            <a:pPr marL="160020" indent="-160020">
              <a:lnSpc>
                <a:spcPct val="1000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Consistent properties for same types</a:t>
            </a:r>
            <a:endParaRPr lang="en-US" sz="1440" dirty="0"/>
          </a:p>
        </p:txBody>
      </p:sp>
      <p:pic>
        <p:nvPicPr>
          <p:cNvPr id="14" name="Image 3" descr="https://oceandoc-ai.obs.ap-southeast-3.myhuaweicloud.com/176218225639393/030e5ac3-b5e2-448c-a19a-3c052e053b4b/1762205242979/Prototype.png">    </p:cNvPr>
          <p:cNvPicPr>
            <a:picLocks noChangeAspect="1"/>
          </p:cNvPicPr>
          <p:nvPr/>
        </p:nvPicPr>
        <p:blipFill>
          <a:blip r:embed="rId5"/>
          <a:stretch>
            <a:fillRect/>
          </a:stretch>
        </p:blipFill>
        <p:spPr>
          <a:xfrm>
            <a:off x="3050783" y="569233"/>
            <a:ext cx="5857480" cy="433201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5078" y="67884"/>
            <a:ext cx="8005161" cy="566928"/>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Facade Pattern</a:t>
            </a:r>
            <a:endParaRPr lang="en-US" sz="1440" dirty="0"/>
          </a:p>
        </p:txBody>
      </p:sp>
      <p:pic>
        <p:nvPicPr>
          <p:cNvPr id="3" name="Image 0" descr="preencoded.png">    </p:cNvPr>
          <p:cNvPicPr>
            <a:picLocks noChangeAspect="1"/>
          </p:cNvPicPr>
          <p:nvPr/>
        </p:nvPicPr>
        <p:blipFill>
          <a:blip r:embed="rId2"/>
          <a:stretch>
            <a:fillRect/>
          </a:stretch>
        </p:blipFill>
        <p:spPr>
          <a:xfrm>
            <a:off x="201357" y="244913"/>
            <a:ext cx="616423" cy="231159"/>
          </a:xfrm>
          <a:prstGeom prst="rect">
            <a:avLst/>
          </a:prstGeom>
        </p:spPr>
      </p:pic>
      <p:pic>
        <p:nvPicPr>
          <p:cNvPr id="4" name="Image 1" descr="preencoded.png">    </p:cNvPr>
          <p:cNvPicPr>
            <a:picLocks noChangeAspect="1"/>
          </p:cNvPicPr>
          <p:nvPr/>
        </p:nvPicPr>
        <p:blipFill>
          <a:blip r:embed="rId3"/>
          <a:stretch>
            <a:fillRect/>
          </a:stretch>
        </p:blipFill>
        <p:spPr>
          <a:xfrm>
            <a:off x="201357" y="244913"/>
            <a:ext cx="616423" cy="231159"/>
          </a:xfrm>
          <a:prstGeom prst="rect">
            <a:avLst/>
          </a:prstGeom>
        </p:spPr>
      </p:pic>
      <p:pic>
        <p:nvPicPr>
          <p:cNvPr id="5" name="Image 2" descr="preencoded.png">    </p:cNvPr>
          <p:cNvPicPr>
            <a:picLocks noChangeAspect="1"/>
          </p:cNvPicPr>
          <p:nvPr/>
        </p:nvPicPr>
        <p:blipFill>
          <a:blip r:embed="rId4"/>
          <a:stretch>
            <a:fillRect/>
          </a:stretch>
        </p:blipFill>
        <p:spPr>
          <a:xfrm>
            <a:off x="201357" y="244913"/>
            <a:ext cx="616423" cy="231159"/>
          </a:xfrm>
          <a:prstGeom prst="rect">
            <a:avLst/>
          </a:prstGeom>
        </p:spPr>
      </p:pic>
      <p:sp>
        <p:nvSpPr>
          <p:cNvPr id="6" name="Text 1"/>
          <p:cNvSpPr/>
          <p:nvPr/>
        </p:nvSpPr>
        <p:spPr>
          <a:xfrm>
            <a:off x="201357" y="1207903"/>
            <a:ext cx="4765364" cy="365760"/>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296" b="1" dirty="0">
                <a:solidFill>
                  <a:srgbClr val="6764FB"/>
                </a:solidFill>
                <a:latin typeface="Noto Sans" pitchFamily="34" charset="0"/>
                <a:ea typeface="Noto Sans" pitchFamily="34" charset="-122"/>
                <a:cs typeface="Noto Sans" pitchFamily="34" charset="-120"/>
              </a:rPr>
              <a:t>Simplifies use for clients</a:t>
            </a:r>
            <a:endParaRPr lang="en-US" sz="1440" dirty="0"/>
          </a:p>
        </p:txBody>
      </p:sp>
      <p:sp>
        <p:nvSpPr>
          <p:cNvPr id="7" name="Text 2"/>
          <p:cNvSpPr/>
          <p:nvPr/>
        </p:nvSpPr>
        <p:spPr>
          <a:xfrm>
            <a:off x="201357" y="1975067"/>
            <a:ext cx="4765364" cy="603504"/>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296" b="1" dirty="0">
                <a:solidFill>
                  <a:srgbClr val="6764FB"/>
                </a:solidFill>
                <a:latin typeface="Noto Sans" pitchFamily="34" charset="0"/>
                <a:ea typeface="Noto Sans" pitchFamily="34" charset="-122"/>
                <a:cs typeface="Noto Sans" pitchFamily="34" charset="-120"/>
              </a:rPr>
              <a:t>Hides system complexity </a:t>
            </a:r>
            <a:endParaRPr lang="en-US" sz="1440" dirty="0"/>
          </a:p>
          <a:p>
            <a:pPr indent="0" marL="0">
              <a:lnSpc>
                <a:spcPct val="100000"/>
              </a:lnSpc>
              <a:spcBef>
                <a:spcPts val="375"/>
              </a:spcBef>
              <a:buNone/>
            </a:pPr>
            <a:r>
              <a:rPr lang="en-US" sz="1296" b="1" dirty="0">
                <a:solidFill>
                  <a:srgbClr val="6764FB"/>
                </a:solidFill>
                <a:latin typeface="Noto Sans" pitchFamily="34" charset="0"/>
                <a:ea typeface="Noto Sans" pitchFamily="34" charset="-122"/>
                <a:cs typeface="Noto Sans" pitchFamily="34" charset="-120"/>
              </a:rPr>
              <a:t>behind simple functions</a:t>
            </a:r>
            <a:endParaRPr lang="en-US" sz="1440" dirty="0"/>
          </a:p>
        </p:txBody>
      </p:sp>
      <p:sp>
        <p:nvSpPr>
          <p:cNvPr id="8" name="Text 3"/>
          <p:cNvSpPr/>
          <p:nvPr/>
        </p:nvSpPr>
        <p:spPr>
          <a:xfrm>
            <a:off x="201357" y="2852347"/>
            <a:ext cx="4765364" cy="603504"/>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296" b="1" dirty="0">
                <a:solidFill>
                  <a:srgbClr val="6764FB"/>
                </a:solidFill>
                <a:latin typeface="Noto Sans" pitchFamily="34" charset="0"/>
                <a:ea typeface="Noto Sans" pitchFamily="34" charset="-122"/>
                <a:cs typeface="Noto Sans" pitchFamily="34" charset="-120"/>
              </a:rPr>
              <a:t>GUISystemHandler provides </a:t>
            </a:r>
            <a:endParaRPr lang="en-US" sz="1440" dirty="0"/>
          </a:p>
          <a:p>
            <a:pPr indent="0" marL="0">
              <a:lnSpc>
                <a:spcPct val="100000"/>
              </a:lnSpc>
              <a:spcBef>
                <a:spcPts val="375"/>
              </a:spcBef>
              <a:buNone/>
            </a:pPr>
            <a:r>
              <a:rPr lang="en-US" sz="1296" b="1" dirty="0">
                <a:solidFill>
                  <a:srgbClr val="6764FB"/>
                </a:solidFill>
                <a:latin typeface="Noto Sans" pitchFamily="34" charset="0"/>
                <a:ea typeface="Noto Sans" pitchFamily="34" charset="-122"/>
                <a:cs typeface="Noto Sans" pitchFamily="34" charset="-120"/>
              </a:rPr>
              <a:t>a unified interface</a:t>
            </a:r>
            <a:endParaRPr lang="en-US" sz="1440" dirty="0"/>
          </a:p>
        </p:txBody>
      </p:sp>
      <p:sp>
        <p:nvSpPr>
          <p:cNvPr id="9" name="Text 4"/>
          <p:cNvSpPr/>
          <p:nvPr/>
        </p:nvSpPr>
        <p:spPr>
          <a:xfrm>
            <a:off x="201357" y="3872777"/>
            <a:ext cx="4765364" cy="603504"/>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296" b="1" dirty="0">
                <a:solidFill>
                  <a:srgbClr val="6764FB"/>
                </a:solidFill>
                <a:latin typeface="Noto Sans" pitchFamily="34" charset="0"/>
                <a:ea typeface="Noto Sans" pitchFamily="34" charset="-122"/>
                <a:cs typeface="Noto Sans" pitchFamily="34" charset="-120"/>
              </a:rPr>
              <a:t>Wraps complex subsystem calls </a:t>
            </a:r>
            <a:endParaRPr lang="en-US" sz="1440" dirty="0"/>
          </a:p>
          <a:p>
            <a:pPr indent="0" marL="0">
              <a:lnSpc>
                <a:spcPct val="100000"/>
              </a:lnSpc>
              <a:spcBef>
                <a:spcPts val="375"/>
              </a:spcBef>
              <a:buNone/>
            </a:pPr>
            <a:r>
              <a:rPr lang="en-US" sz="1296" b="1" dirty="0">
                <a:solidFill>
                  <a:srgbClr val="6764FB"/>
                </a:solidFill>
                <a:latin typeface="Noto Sans" pitchFamily="34" charset="0"/>
                <a:ea typeface="Noto Sans" pitchFamily="34" charset="-122"/>
                <a:cs typeface="Noto Sans" pitchFamily="34" charset="-120"/>
              </a:rPr>
              <a:t>(orders, plants, staff, inventory)</a:t>
            </a:r>
            <a:endParaRPr lang="en-US" sz="1440" dirty="0"/>
          </a:p>
        </p:txBody>
      </p:sp>
      <p:pic>
        <p:nvPicPr>
          <p:cNvPr id="10" name="Image 3" descr="https://oceandoc-ai.obs.ap-southeast-3.myhuaweicloud.com/176218225639393/baa2426e-5d87-4d74-ba65-610b6707f581/1762212219539/Facade.png">    </p:cNvPr>
          <p:cNvPicPr>
            <a:picLocks noChangeAspect="1"/>
          </p:cNvPicPr>
          <p:nvPr/>
        </p:nvPicPr>
        <p:blipFill>
          <a:blip r:embed="rId5"/>
          <a:stretch>
            <a:fillRect/>
          </a:stretch>
        </p:blipFill>
        <p:spPr>
          <a:xfrm>
            <a:off x="2977541" y="756429"/>
            <a:ext cx="5852699" cy="402650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5078" y="67884"/>
            <a:ext cx="8005161" cy="566928"/>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State Pattern for Growth</a:t>
            </a:r>
            <a:endParaRPr lang="en-US" sz="1440" dirty="0"/>
          </a:p>
        </p:txBody>
      </p:sp>
      <p:pic>
        <p:nvPicPr>
          <p:cNvPr id="3" name="Image 0" descr="preencoded.png">    </p:cNvPr>
          <p:cNvPicPr>
            <a:picLocks noChangeAspect="1"/>
          </p:cNvPicPr>
          <p:nvPr/>
        </p:nvPicPr>
        <p:blipFill>
          <a:blip r:embed="rId2"/>
          <a:stretch>
            <a:fillRect/>
          </a:stretch>
        </p:blipFill>
        <p:spPr>
          <a:xfrm>
            <a:off x="201357" y="244913"/>
            <a:ext cx="616423" cy="231159"/>
          </a:xfrm>
          <a:prstGeom prst="rect">
            <a:avLst/>
          </a:prstGeom>
        </p:spPr>
      </p:pic>
      <p:pic>
        <p:nvPicPr>
          <p:cNvPr id="4" name="Image 1" descr="preencoded.png">    </p:cNvPr>
          <p:cNvPicPr>
            <a:picLocks noChangeAspect="1"/>
          </p:cNvPicPr>
          <p:nvPr/>
        </p:nvPicPr>
        <p:blipFill>
          <a:blip r:embed="rId3"/>
          <a:stretch>
            <a:fillRect/>
          </a:stretch>
        </p:blipFill>
        <p:spPr>
          <a:xfrm>
            <a:off x="201357" y="244913"/>
            <a:ext cx="616423" cy="231159"/>
          </a:xfrm>
          <a:prstGeom prst="rect">
            <a:avLst/>
          </a:prstGeom>
        </p:spPr>
      </p:pic>
      <p:pic>
        <p:nvPicPr>
          <p:cNvPr id="5" name="Image 2" descr="preencoded.png">    </p:cNvPr>
          <p:cNvPicPr>
            <a:picLocks noChangeAspect="1"/>
          </p:cNvPicPr>
          <p:nvPr/>
        </p:nvPicPr>
        <p:blipFill>
          <a:blip r:embed="rId4"/>
          <a:stretch>
            <a:fillRect/>
          </a:stretch>
        </p:blipFill>
        <p:spPr>
          <a:xfrm>
            <a:off x="201357" y="244913"/>
            <a:ext cx="616423" cy="231159"/>
          </a:xfrm>
          <a:prstGeom prst="rect">
            <a:avLst/>
          </a:prstGeom>
        </p:spPr>
      </p:pic>
      <p:pic>
        <p:nvPicPr>
          <p:cNvPr id="6" name="Image 3" descr="preencoded.png">    </p:cNvPr>
          <p:cNvPicPr>
            <a:picLocks noChangeAspect="1"/>
          </p:cNvPicPr>
          <p:nvPr/>
        </p:nvPicPr>
        <p:blipFill>
          <a:blip r:embed="rId5"/>
          <a:stretch>
            <a:fillRect/>
          </a:stretch>
        </p:blipFill>
        <p:spPr>
          <a:xfrm>
            <a:off x="269265" y="981293"/>
            <a:ext cx="3576549" cy="860443"/>
          </a:xfrm>
          <a:prstGeom prst="rect">
            <a:avLst/>
          </a:prstGeom>
        </p:spPr>
      </p:pic>
      <p:pic>
        <p:nvPicPr>
          <p:cNvPr id="7" name="Image 4" descr="preencoded.png">    </p:cNvPr>
          <p:cNvPicPr>
            <a:picLocks noChangeAspect="1"/>
          </p:cNvPicPr>
          <p:nvPr/>
        </p:nvPicPr>
        <p:blipFill>
          <a:blip r:embed="rId6"/>
          <a:stretch>
            <a:fillRect/>
          </a:stretch>
        </p:blipFill>
        <p:spPr>
          <a:xfrm>
            <a:off x="269265" y="1574667"/>
            <a:ext cx="3576549" cy="265160"/>
          </a:xfrm>
          <a:prstGeom prst="rect">
            <a:avLst/>
          </a:prstGeom>
        </p:spPr>
      </p:pic>
      <p:pic>
        <p:nvPicPr>
          <p:cNvPr id="8" name="Image 5" descr="preencoded.png">    </p:cNvPr>
          <p:cNvPicPr>
            <a:picLocks noChangeAspect="1"/>
          </p:cNvPicPr>
          <p:nvPr/>
        </p:nvPicPr>
        <p:blipFill>
          <a:blip r:embed="rId7"/>
          <a:stretch>
            <a:fillRect/>
          </a:stretch>
        </p:blipFill>
        <p:spPr>
          <a:xfrm>
            <a:off x="387983" y="1011740"/>
            <a:ext cx="382277" cy="92251"/>
          </a:xfrm>
          <a:prstGeom prst="rect">
            <a:avLst/>
          </a:prstGeom>
        </p:spPr>
      </p:pic>
      <p:pic>
        <p:nvPicPr>
          <p:cNvPr id="9" name="Image 6" descr="preencoded.png">    </p:cNvPr>
          <p:cNvPicPr>
            <a:picLocks noChangeAspect="1"/>
          </p:cNvPicPr>
          <p:nvPr/>
        </p:nvPicPr>
        <p:blipFill>
          <a:blip r:embed="rId8">
            <a:alphaModFix amt="40000"/>
          </a:blip>
          <a:stretch>
            <a:fillRect/>
          </a:stretch>
        </p:blipFill>
        <p:spPr>
          <a:xfrm>
            <a:off x="532887" y="1011740"/>
            <a:ext cx="382277" cy="92251"/>
          </a:xfrm>
          <a:prstGeom prst="rect">
            <a:avLst/>
          </a:prstGeom>
        </p:spPr>
      </p:pic>
      <p:pic>
        <p:nvPicPr>
          <p:cNvPr id="10" name="Image 7" descr="preencoded.png">    </p:cNvPr>
          <p:cNvPicPr>
            <a:picLocks noChangeAspect="1"/>
          </p:cNvPicPr>
          <p:nvPr/>
        </p:nvPicPr>
        <p:blipFill>
          <a:blip r:embed="rId9"/>
          <a:stretch>
            <a:fillRect/>
          </a:stretch>
        </p:blipFill>
        <p:spPr>
          <a:xfrm>
            <a:off x="269265" y="1953658"/>
            <a:ext cx="3576549" cy="860443"/>
          </a:xfrm>
          <a:prstGeom prst="rect">
            <a:avLst/>
          </a:prstGeom>
        </p:spPr>
      </p:pic>
      <p:pic>
        <p:nvPicPr>
          <p:cNvPr id="11" name="Image 8" descr="preencoded.png">    </p:cNvPr>
          <p:cNvPicPr>
            <a:picLocks noChangeAspect="1"/>
          </p:cNvPicPr>
          <p:nvPr/>
        </p:nvPicPr>
        <p:blipFill>
          <a:blip r:embed="rId10"/>
          <a:stretch>
            <a:fillRect/>
          </a:stretch>
        </p:blipFill>
        <p:spPr>
          <a:xfrm>
            <a:off x="269265" y="2547031"/>
            <a:ext cx="3576549" cy="265160"/>
          </a:xfrm>
          <a:prstGeom prst="rect">
            <a:avLst/>
          </a:prstGeom>
        </p:spPr>
      </p:pic>
      <p:pic>
        <p:nvPicPr>
          <p:cNvPr id="12" name="Image 9" descr="preencoded.png">    </p:cNvPr>
          <p:cNvPicPr>
            <a:picLocks noChangeAspect="1"/>
          </p:cNvPicPr>
          <p:nvPr/>
        </p:nvPicPr>
        <p:blipFill>
          <a:blip r:embed="rId11"/>
          <a:stretch>
            <a:fillRect/>
          </a:stretch>
        </p:blipFill>
        <p:spPr>
          <a:xfrm>
            <a:off x="387983" y="1984105"/>
            <a:ext cx="382277" cy="92251"/>
          </a:xfrm>
          <a:prstGeom prst="rect">
            <a:avLst/>
          </a:prstGeom>
        </p:spPr>
      </p:pic>
      <p:pic>
        <p:nvPicPr>
          <p:cNvPr id="13" name="Image 10" descr="preencoded.png">    </p:cNvPr>
          <p:cNvPicPr>
            <a:picLocks noChangeAspect="1"/>
          </p:cNvPicPr>
          <p:nvPr/>
        </p:nvPicPr>
        <p:blipFill>
          <a:blip r:embed="rId12">
            <a:alphaModFix amt="40000"/>
          </a:blip>
          <a:stretch>
            <a:fillRect/>
          </a:stretch>
        </p:blipFill>
        <p:spPr>
          <a:xfrm>
            <a:off x="532887" y="1984105"/>
            <a:ext cx="382277" cy="92251"/>
          </a:xfrm>
          <a:prstGeom prst="rect">
            <a:avLst/>
          </a:prstGeom>
        </p:spPr>
      </p:pic>
      <p:pic>
        <p:nvPicPr>
          <p:cNvPr id="14" name="Image 11" descr="preencoded.png">    </p:cNvPr>
          <p:cNvPicPr>
            <a:picLocks noChangeAspect="1"/>
          </p:cNvPicPr>
          <p:nvPr/>
        </p:nvPicPr>
        <p:blipFill>
          <a:blip r:embed="rId13"/>
          <a:stretch>
            <a:fillRect/>
          </a:stretch>
        </p:blipFill>
        <p:spPr>
          <a:xfrm>
            <a:off x="269265" y="2950644"/>
            <a:ext cx="3576549" cy="860443"/>
          </a:xfrm>
          <a:prstGeom prst="rect">
            <a:avLst/>
          </a:prstGeom>
        </p:spPr>
      </p:pic>
      <p:pic>
        <p:nvPicPr>
          <p:cNvPr id="15" name="Image 12" descr="preencoded.png">    </p:cNvPr>
          <p:cNvPicPr>
            <a:picLocks noChangeAspect="1"/>
          </p:cNvPicPr>
          <p:nvPr/>
        </p:nvPicPr>
        <p:blipFill>
          <a:blip r:embed="rId14"/>
          <a:stretch>
            <a:fillRect/>
          </a:stretch>
        </p:blipFill>
        <p:spPr>
          <a:xfrm>
            <a:off x="269265" y="3544017"/>
            <a:ext cx="3576549" cy="265160"/>
          </a:xfrm>
          <a:prstGeom prst="rect">
            <a:avLst/>
          </a:prstGeom>
        </p:spPr>
      </p:pic>
      <p:pic>
        <p:nvPicPr>
          <p:cNvPr id="16" name="Image 13" descr="preencoded.png">    </p:cNvPr>
          <p:cNvPicPr>
            <a:picLocks noChangeAspect="1"/>
          </p:cNvPicPr>
          <p:nvPr/>
        </p:nvPicPr>
        <p:blipFill>
          <a:blip r:embed="rId15"/>
          <a:stretch>
            <a:fillRect/>
          </a:stretch>
        </p:blipFill>
        <p:spPr>
          <a:xfrm>
            <a:off x="387983" y="2981090"/>
            <a:ext cx="382277" cy="92251"/>
          </a:xfrm>
          <a:prstGeom prst="rect">
            <a:avLst/>
          </a:prstGeom>
        </p:spPr>
      </p:pic>
      <p:pic>
        <p:nvPicPr>
          <p:cNvPr id="17" name="Image 14" descr="preencoded.png">    </p:cNvPr>
          <p:cNvPicPr>
            <a:picLocks noChangeAspect="1"/>
          </p:cNvPicPr>
          <p:nvPr/>
        </p:nvPicPr>
        <p:blipFill>
          <a:blip r:embed="rId16">
            <a:alphaModFix amt="40000"/>
          </a:blip>
          <a:stretch>
            <a:fillRect/>
          </a:stretch>
        </p:blipFill>
        <p:spPr>
          <a:xfrm>
            <a:off x="532887" y="2981090"/>
            <a:ext cx="382277" cy="92251"/>
          </a:xfrm>
          <a:prstGeom prst="rect">
            <a:avLst/>
          </a:prstGeom>
        </p:spPr>
      </p:pic>
      <p:pic>
        <p:nvPicPr>
          <p:cNvPr id="18" name="Image 15" descr="preencoded.png">    </p:cNvPr>
          <p:cNvPicPr>
            <a:picLocks noChangeAspect="1"/>
          </p:cNvPicPr>
          <p:nvPr/>
        </p:nvPicPr>
        <p:blipFill>
          <a:blip r:embed="rId17"/>
          <a:stretch>
            <a:fillRect/>
          </a:stretch>
        </p:blipFill>
        <p:spPr>
          <a:xfrm>
            <a:off x="269265" y="3980319"/>
            <a:ext cx="3576549" cy="860443"/>
          </a:xfrm>
          <a:prstGeom prst="rect">
            <a:avLst/>
          </a:prstGeom>
        </p:spPr>
      </p:pic>
      <p:pic>
        <p:nvPicPr>
          <p:cNvPr id="19" name="Image 16" descr="preencoded.png">    </p:cNvPr>
          <p:cNvPicPr>
            <a:picLocks noChangeAspect="1"/>
          </p:cNvPicPr>
          <p:nvPr/>
        </p:nvPicPr>
        <p:blipFill>
          <a:blip r:embed="rId18"/>
          <a:stretch>
            <a:fillRect/>
          </a:stretch>
        </p:blipFill>
        <p:spPr>
          <a:xfrm>
            <a:off x="269265" y="4573693"/>
            <a:ext cx="3576549" cy="265160"/>
          </a:xfrm>
          <a:prstGeom prst="rect">
            <a:avLst/>
          </a:prstGeom>
        </p:spPr>
      </p:pic>
      <p:pic>
        <p:nvPicPr>
          <p:cNvPr id="20" name="Image 17" descr="preencoded.png">    </p:cNvPr>
          <p:cNvPicPr>
            <a:picLocks noChangeAspect="1"/>
          </p:cNvPicPr>
          <p:nvPr/>
        </p:nvPicPr>
        <p:blipFill>
          <a:blip r:embed="rId19"/>
          <a:stretch>
            <a:fillRect/>
          </a:stretch>
        </p:blipFill>
        <p:spPr>
          <a:xfrm>
            <a:off x="387983" y="4010766"/>
            <a:ext cx="382277" cy="92251"/>
          </a:xfrm>
          <a:prstGeom prst="rect">
            <a:avLst/>
          </a:prstGeom>
        </p:spPr>
      </p:pic>
      <p:pic>
        <p:nvPicPr>
          <p:cNvPr id="21" name="Image 18" descr="preencoded.png">    </p:cNvPr>
          <p:cNvPicPr>
            <a:picLocks noChangeAspect="1"/>
          </p:cNvPicPr>
          <p:nvPr/>
        </p:nvPicPr>
        <p:blipFill>
          <a:blip r:embed="rId20">
            <a:alphaModFix amt="40000"/>
          </a:blip>
          <a:stretch>
            <a:fillRect/>
          </a:stretch>
        </p:blipFill>
        <p:spPr>
          <a:xfrm>
            <a:off x="532887" y="4010766"/>
            <a:ext cx="382277" cy="92251"/>
          </a:xfrm>
          <a:prstGeom prst="rect">
            <a:avLst/>
          </a:prstGeom>
        </p:spPr>
      </p:pic>
      <p:sp>
        <p:nvSpPr>
          <p:cNvPr id="22" name="Text 1"/>
          <p:cNvSpPr/>
          <p:nvPr/>
        </p:nvSpPr>
        <p:spPr>
          <a:xfrm>
            <a:off x="343556" y="1574667"/>
            <a:ext cx="3427968" cy="267070"/>
          </a:xfrm>
          <a:prstGeom prst="rect">
            <a:avLst/>
          </a:prstGeom>
          <a:noFill/>
          <a:ln/>
        </p:spPr>
        <p:txBody>
          <a:bodyPr wrap="square" lIns="95250" tIns="95250" rIns="95250" bIns="95250" rtlCol="0" anchor="ctr"/>
          <a:lstStyle/>
          <a:p>
            <a:pPr algn="ctr" indent="0" marL="0">
              <a:lnSpc>
                <a:spcPct val="100000"/>
              </a:lnSpc>
              <a:spcBef>
                <a:spcPts val="375"/>
              </a:spcBef>
              <a:buNone/>
            </a:pPr>
            <a:r>
              <a:rPr lang="en-US" sz="1296" b="1" dirty="0">
                <a:solidFill>
                  <a:srgbClr val="FFFFFF"/>
                </a:solidFill>
                <a:latin typeface="Noto Sans" pitchFamily="34" charset="0"/>
                <a:ea typeface="Noto Sans" pitchFamily="34" charset="-122"/>
                <a:cs typeface="Noto Sans" pitchFamily="34" charset="-120"/>
              </a:rPr>
              <a:t>Plant Lifecycle</a:t>
            </a:r>
            <a:endParaRPr lang="en-US" sz="1440" dirty="0"/>
          </a:p>
        </p:txBody>
      </p:sp>
      <p:sp>
        <p:nvSpPr>
          <p:cNvPr id="23" name="Text 2"/>
          <p:cNvSpPr/>
          <p:nvPr/>
        </p:nvSpPr>
        <p:spPr>
          <a:xfrm>
            <a:off x="347894" y="1088587"/>
            <a:ext cx="3419291" cy="393192"/>
          </a:xfrm>
          <a:prstGeom prst="rect">
            <a:avLst/>
          </a:prstGeom>
          <a:noFill/>
          <a:ln/>
        </p:spPr>
        <p:txBody>
          <a:bodyPr wrap="square" lIns="95250" tIns="95250" rIns="95250" bIns="95250" rtlCol="0" anchor="t">
            <a:spAutoFit/>
          </a:bodyPr>
          <a:lstStyle/>
          <a:p>
            <a:pPr marL="160020" indent="-160020">
              <a:lnSpc>
                <a:spcPct val="1000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8 growth states</a:t>
            </a:r>
            <a:endParaRPr lang="en-US" sz="1440" dirty="0"/>
          </a:p>
        </p:txBody>
      </p:sp>
      <p:sp>
        <p:nvSpPr>
          <p:cNvPr id="24" name="Text 3"/>
          <p:cNvSpPr/>
          <p:nvPr/>
        </p:nvSpPr>
        <p:spPr>
          <a:xfrm>
            <a:off x="343556" y="2547031"/>
            <a:ext cx="3427968" cy="267070"/>
          </a:xfrm>
          <a:prstGeom prst="rect">
            <a:avLst/>
          </a:prstGeom>
          <a:noFill/>
          <a:ln/>
        </p:spPr>
        <p:txBody>
          <a:bodyPr wrap="square" lIns="95250" tIns="95250" rIns="95250" bIns="95250" rtlCol="0" anchor="ctr"/>
          <a:lstStyle/>
          <a:p>
            <a:pPr algn="ctr" indent="0" marL="0">
              <a:lnSpc>
                <a:spcPct val="100000"/>
              </a:lnSpc>
              <a:spcBef>
                <a:spcPts val="375"/>
              </a:spcBef>
              <a:buNone/>
            </a:pPr>
            <a:r>
              <a:rPr lang="en-US" sz="1296" b="1" dirty="0">
                <a:solidFill>
                  <a:srgbClr val="FFFFFF"/>
                </a:solidFill>
                <a:latin typeface="Noto Sans" pitchFamily="34" charset="0"/>
                <a:ea typeface="Noto Sans" pitchFamily="34" charset="-122"/>
                <a:cs typeface="Noto Sans" pitchFamily="34" charset="-120"/>
              </a:rPr>
              <a:t>Dynamic Changes</a:t>
            </a:r>
            <a:endParaRPr lang="en-US" sz="1440" dirty="0"/>
          </a:p>
        </p:txBody>
      </p:sp>
      <p:sp>
        <p:nvSpPr>
          <p:cNvPr id="25" name="Text 4"/>
          <p:cNvSpPr/>
          <p:nvPr/>
        </p:nvSpPr>
        <p:spPr>
          <a:xfrm>
            <a:off x="347894" y="2060952"/>
            <a:ext cx="3419291" cy="393192"/>
          </a:xfrm>
          <a:prstGeom prst="rect">
            <a:avLst/>
          </a:prstGeom>
          <a:noFill/>
          <a:ln/>
        </p:spPr>
        <p:txBody>
          <a:bodyPr wrap="square" lIns="95250" tIns="95250" rIns="95250" bIns="95250" rtlCol="0" anchor="t">
            <a:spAutoFit/>
          </a:bodyPr>
          <a:lstStyle/>
          <a:p>
            <a:pPr marL="160020" indent="-160020">
              <a:lnSpc>
                <a:spcPct val="1000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Progress based on time &amp; care</a:t>
            </a:r>
            <a:endParaRPr lang="en-US" sz="1440" dirty="0"/>
          </a:p>
        </p:txBody>
      </p:sp>
      <p:sp>
        <p:nvSpPr>
          <p:cNvPr id="26" name="Text 5"/>
          <p:cNvSpPr/>
          <p:nvPr/>
        </p:nvSpPr>
        <p:spPr>
          <a:xfrm>
            <a:off x="343556" y="3544017"/>
            <a:ext cx="3427968" cy="267070"/>
          </a:xfrm>
          <a:prstGeom prst="rect">
            <a:avLst/>
          </a:prstGeom>
          <a:noFill/>
          <a:ln/>
        </p:spPr>
        <p:txBody>
          <a:bodyPr wrap="square" lIns="95250" tIns="95250" rIns="95250" bIns="95250" rtlCol="0" anchor="ctr"/>
          <a:lstStyle/>
          <a:p>
            <a:pPr algn="ctr" indent="0" marL="0">
              <a:lnSpc>
                <a:spcPct val="100000"/>
              </a:lnSpc>
              <a:spcBef>
                <a:spcPts val="375"/>
              </a:spcBef>
              <a:buNone/>
            </a:pPr>
            <a:r>
              <a:rPr lang="en-US" sz="1296" b="1" dirty="0">
                <a:solidFill>
                  <a:srgbClr val="FFFFFF"/>
                </a:solidFill>
                <a:latin typeface="Noto Sans" pitchFamily="34" charset="0"/>
                <a:ea typeface="Noto Sans" pitchFamily="34" charset="-122"/>
                <a:cs typeface="Noto Sans" pitchFamily="34" charset="-120"/>
              </a:rPr>
              <a:t>Clear Representation</a:t>
            </a:r>
            <a:endParaRPr lang="en-US" sz="1440" dirty="0"/>
          </a:p>
        </p:txBody>
      </p:sp>
      <p:sp>
        <p:nvSpPr>
          <p:cNvPr id="27" name="Text 6"/>
          <p:cNvSpPr/>
          <p:nvPr/>
        </p:nvSpPr>
        <p:spPr>
          <a:xfrm>
            <a:off x="347894" y="3057938"/>
            <a:ext cx="3419291" cy="393192"/>
          </a:xfrm>
          <a:prstGeom prst="rect">
            <a:avLst/>
          </a:prstGeom>
          <a:noFill/>
          <a:ln/>
        </p:spPr>
        <p:txBody>
          <a:bodyPr wrap="square" lIns="95250" tIns="95250" rIns="95250" bIns="95250" rtlCol="0" anchor="t">
            <a:spAutoFit/>
          </a:bodyPr>
          <a:lstStyle/>
          <a:p>
            <a:pPr marL="160020" indent="-160020">
              <a:lnSpc>
                <a:spcPct val="1000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Separate classes for each state</a:t>
            </a:r>
            <a:endParaRPr lang="en-US" sz="1440" dirty="0"/>
          </a:p>
        </p:txBody>
      </p:sp>
      <p:sp>
        <p:nvSpPr>
          <p:cNvPr id="28" name="Text 7"/>
          <p:cNvSpPr/>
          <p:nvPr/>
        </p:nvSpPr>
        <p:spPr>
          <a:xfrm>
            <a:off x="343556" y="4573693"/>
            <a:ext cx="3427968" cy="267070"/>
          </a:xfrm>
          <a:prstGeom prst="rect">
            <a:avLst/>
          </a:prstGeom>
          <a:noFill/>
          <a:ln/>
        </p:spPr>
        <p:txBody>
          <a:bodyPr wrap="square" lIns="95250" tIns="95250" rIns="95250" bIns="95250" rtlCol="0" anchor="ctr"/>
          <a:lstStyle/>
          <a:p>
            <a:pPr algn="ctr" indent="0" marL="0">
              <a:lnSpc>
                <a:spcPct val="100000"/>
              </a:lnSpc>
              <a:spcBef>
                <a:spcPts val="375"/>
              </a:spcBef>
              <a:buNone/>
            </a:pPr>
            <a:r>
              <a:rPr lang="en-US" sz="1296" b="1" dirty="0">
                <a:solidFill>
                  <a:srgbClr val="FFFFFF"/>
                </a:solidFill>
                <a:latin typeface="Noto Sans" pitchFamily="34" charset="0"/>
                <a:ea typeface="Noto Sans" pitchFamily="34" charset="-122"/>
                <a:cs typeface="Noto Sans" pitchFamily="34" charset="-120"/>
              </a:rPr>
              <a:t>Simplified Transitions</a:t>
            </a:r>
            <a:endParaRPr lang="en-US" sz="1440" dirty="0"/>
          </a:p>
        </p:txBody>
      </p:sp>
      <p:sp>
        <p:nvSpPr>
          <p:cNvPr id="29" name="Text 8"/>
          <p:cNvSpPr/>
          <p:nvPr/>
        </p:nvSpPr>
        <p:spPr>
          <a:xfrm>
            <a:off x="347894" y="4087613"/>
            <a:ext cx="3419291" cy="393192"/>
          </a:xfrm>
          <a:prstGeom prst="rect">
            <a:avLst/>
          </a:prstGeom>
          <a:noFill/>
          <a:ln/>
        </p:spPr>
        <p:txBody>
          <a:bodyPr wrap="square" lIns="95250" tIns="95250" rIns="95250" bIns="95250" rtlCol="0" anchor="t">
            <a:spAutoFit/>
          </a:bodyPr>
          <a:lstStyle/>
          <a:p>
            <a:pPr marL="160020" indent="-160020">
              <a:lnSpc>
                <a:spcPct val="1000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No overly complex condition checks</a:t>
            </a:r>
            <a:endParaRPr lang="en-US" sz="1440" dirty="0"/>
          </a:p>
        </p:txBody>
      </p:sp>
      <p:pic>
        <p:nvPicPr>
          <p:cNvPr id="30" name="Image 19" descr="https://oceandoc-ai.obs.ap-southeast-3.myhuaweicloud.com/176218225639393/156218ef-5363-40c6-b58d-0b29b838499f/1762205940872/State.png">    </p:cNvPr>
          <p:cNvPicPr>
            <a:picLocks noChangeAspect="1"/>
          </p:cNvPicPr>
          <p:nvPr/>
        </p:nvPicPr>
        <p:blipFill>
          <a:blip r:embed="rId21"/>
          <a:stretch>
            <a:fillRect/>
          </a:stretch>
        </p:blipFill>
        <p:spPr>
          <a:xfrm>
            <a:off x="5385225" y="244913"/>
            <a:ext cx="2775916" cy="466742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5078" y="67884"/>
            <a:ext cx="8005161" cy="566928"/>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Concurrent Growth Simulation</a:t>
            </a:r>
            <a:endParaRPr lang="en-US" sz="1440" dirty="0"/>
          </a:p>
        </p:txBody>
      </p:sp>
      <p:pic>
        <p:nvPicPr>
          <p:cNvPr id="3" name="Image 0" descr="preencoded.png">    </p:cNvPr>
          <p:cNvPicPr>
            <a:picLocks noChangeAspect="1"/>
          </p:cNvPicPr>
          <p:nvPr/>
        </p:nvPicPr>
        <p:blipFill>
          <a:blip r:embed="rId2"/>
          <a:stretch>
            <a:fillRect/>
          </a:stretch>
        </p:blipFill>
        <p:spPr>
          <a:xfrm>
            <a:off x="201357" y="244913"/>
            <a:ext cx="616423" cy="231159"/>
          </a:xfrm>
          <a:prstGeom prst="rect">
            <a:avLst/>
          </a:prstGeom>
        </p:spPr>
      </p:pic>
      <p:pic>
        <p:nvPicPr>
          <p:cNvPr id="4" name="Image 1" descr="preencoded.png">    </p:cNvPr>
          <p:cNvPicPr>
            <a:picLocks noChangeAspect="1"/>
          </p:cNvPicPr>
          <p:nvPr/>
        </p:nvPicPr>
        <p:blipFill>
          <a:blip r:embed="rId3"/>
          <a:stretch>
            <a:fillRect/>
          </a:stretch>
        </p:blipFill>
        <p:spPr>
          <a:xfrm>
            <a:off x="201357" y="244913"/>
            <a:ext cx="616423" cy="231159"/>
          </a:xfrm>
          <a:prstGeom prst="rect">
            <a:avLst/>
          </a:prstGeom>
        </p:spPr>
      </p:pic>
      <p:pic>
        <p:nvPicPr>
          <p:cNvPr id="5" name="Image 2" descr="preencoded.png">    </p:cNvPr>
          <p:cNvPicPr>
            <a:picLocks noChangeAspect="1"/>
          </p:cNvPicPr>
          <p:nvPr/>
        </p:nvPicPr>
        <p:blipFill>
          <a:blip r:embed="rId4"/>
          <a:stretch>
            <a:fillRect/>
          </a:stretch>
        </p:blipFill>
        <p:spPr>
          <a:xfrm>
            <a:off x="201357" y="244913"/>
            <a:ext cx="616423" cy="231159"/>
          </a:xfrm>
          <a:prstGeom prst="rect">
            <a:avLst/>
          </a:prstGeom>
        </p:spPr>
      </p:pic>
      <p:sp>
        <p:nvSpPr>
          <p:cNvPr id="6" name="Shape 1"/>
          <p:cNvSpPr/>
          <p:nvPr/>
        </p:nvSpPr>
        <p:spPr>
          <a:xfrm>
            <a:off x="4854253" y="2957327"/>
            <a:ext cx="4005154" cy="1859343"/>
          </a:xfrm>
          <a:custGeom>
            <a:avLst/>
            <a:gdLst/>
            <a:ahLst/>
            <a:cxnLst/>
            <a:rect l="l" t="t" r="r" b="b"/>
            <a:pathLst>
              <a:path w="4005154" h="1859343">
                <a:moveTo>
                  <a:pt x="232418" y="0"/>
                </a:moveTo>
                <a:moveTo>
                  <a:pt x="232418" y="0"/>
                </a:moveTo>
                <a:lnTo>
                  <a:pt x="3772736" y="0"/>
                </a:lnTo>
                <a:quadBezTo>
                  <a:pt x="4005154" y="0"/>
                  <a:pt x="4005154" y="232418"/>
                </a:quadBezTo>
                <a:lnTo>
                  <a:pt x="4005154" y="1626925"/>
                </a:lnTo>
                <a:quadBezTo>
                  <a:pt x="4005154" y="1859343"/>
                  <a:pt x="3772736" y="1859343"/>
                </a:quadBezTo>
                <a:lnTo>
                  <a:pt x="232418" y="1859343"/>
                </a:lnTo>
                <a:quadBezTo>
                  <a:pt x="0" y="1859343"/>
                  <a:pt x="0" y="1626925"/>
                </a:quadBezTo>
                <a:lnTo>
                  <a:pt x="0" y="232418"/>
                </a:lnTo>
                <a:quadBezTo>
                  <a:pt x="0" y="0"/>
                  <a:pt x="232418" y="0"/>
                </a:quadBezTo>
                <a:close/>
              </a:path>
            </a:pathLst>
          </a:custGeom>
          <a:solidFill>
            <a:srgbClr val="6764FB">
              <a:alpha val="10000"/>
            </a:srgbClr>
          </a:solidFill>
          <a:ln/>
        </p:spPr>
      </p:sp>
      <p:sp>
        <p:nvSpPr>
          <p:cNvPr id="7" name="Shape 2"/>
          <p:cNvSpPr/>
          <p:nvPr/>
        </p:nvSpPr>
        <p:spPr>
          <a:xfrm>
            <a:off x="4854253" y="911002"/>
            <a:ext cx="4005154" cy="1867683"/>
          </a:xfrm>
          <a:custGeom>
            <a:avLst/>
            <a:gdLst/>
            <a:ahLst/>
            <a:cxnLst/>
            <a:rect l="l" t="t" r="r" b="b"/>
            <a:pathLst>
              <a:path w="4005154" h="1867683">
                <a:moveTo>
                  <a:pt x="233460" y="0"/>
                </a:moveTo>
                <a:moveTo>
                  <a:pt x="233460" y="0"/>
                </a:moveTo>
                <a:lnTo>
                  <a:pt x="3771693" y="0"/>
                </a:lnTo>
                <a:quadBezTo>
                  <a:pt x="4005154" y="0"/>
                  <a:pt x="4005154" y="233460"/>
                </a:quadBezTo>
                <a:lnTo>
                  <a:pt x="4005154" y="1634223"/>
                </a:lnTo>
                <a:quadBezTo>
                  <a:pt x="4005154" y="1867683"/>
                  <a:pt x="3771693" y="1867683"/>
                </a:quadBezTo>
                <a:lnTo>
                  <a:pt x="233460" y="1867683"/>
                </a:lnTo>
                <a:quadBezTo>
                  <a:pt x="0" y="1867683"/>
                  <a:pt x="0" y="1634223"/>
                </a:quadBezTo>
                <a:lnTo>
                  <a:pt x="0" y="233460"/>
                </a:lnTo>
                <a:quadBezTo>
                  <a:pt x="0" y="0"/>
                  <a:pt x="233460" y="0"/>
                </a:quadBezTo>
                <a:close/>
              </a:path>
            </a:pathLst>
          </a:custGeom>
          <a:solidFill>
            <a:srgbClr val="6764FB">
              <a:alpha val="10000"/>
            </a:srgbClr>
          </a:solidFill>
          <a:ln/>
        </p:spPr>
      </p:sp>
      <p:sp>
        <p:nvSpPr>
          <p:cNvPr id="8" name="Shape 3"/>
          <p:cNvSpPr/>
          <p:nvPr/>
        </p:nvSpPr>
        <p:spPr>
          <a:xfrm>
            <a:off x="504668" y="911002"/>
            <a:ext cx="4005154" cy="1867683"/>
          </a:xfrm>
          <a:custGeom>
            <a:avLst/>
            <a:gdLst/>
            <a:ahLst/>
            <a:cxnLst/>
            <a:rect l="l" t="t" r="r" b="b"/>
            <a:pathLst>
              <a:path w="4005154" h="1867683">
                <a:moveTo>
                  <a:pt x="233460" y="0"/>
                </a:moveTo>
                <a:moveTo>
                  <a:pt x="233460" y="0"/>
                </a:moveTo>
                <a:lnTo>
                  <a:pt x="3771693" y="0"/>
                </a:lnTo>
                <a:quadBezTo>
                  <a:pt x="4005154" y="0"/>
                  <a:pt x="4005154" y="233460"/>
                </a:quadBezTo>
                <a:lnTo>
                  <a:pt x="4005154" y="1634223"/>
                </a:lnTo>
                <a:quadBezTo>
                  <a:pt x="4005154" y="1867683"/>
                  <a:pt x="3771693" y="1867683"/>
                </a:quadBezTo>
                <a:lnTo>
                  <a:pt x="233460" y="1867683"/>
                </a:lnTo>
                <a:quadBezTo>
                  <a:pt x="0" y="1867683"/>
                  <a:pt x="0" y="1634223"/>
                </a:quadBezTo>
                <a:lnTo>
                  <a:pt x="0" y="233460"/>
                </a:lnTo>
                <a:quadBezTo>
                  <a:pt x="0" y="0"/>
                  <a:pt x="233460" y="0"/>
                </a:quadBezTo>
                <a:close/>
              </a:path>
            </a:pathLst>
          </a:custGeom>
          <a:solidFill>
            <a:srgbClr val="6764FB">
              <a:alpha val="10000"/>
            </a:srgbClr>
          </a:solidFill>
          <a:ln/>
        </p:spPr>
      </p:sp>
      <p:sp>
        <p:nvSpPr>
          <p:cNvPr id="9" name="Shape 4"/>
          <p:cNvSpPr/>
          <p:nvPr/>
        </p:nvSpPr>
        <p:spPr>
          <a:xfrm>
            <a:off x="303600" y="1568644"/>
            <a:ext cx="552398" cy="552398"/>
          </a:xfrm>
          <a:custGeom>
            <a:avLst/>
            <a:gdLst/>
            <a:ahLst/>
            <a:cxnLst/>
            <a:rect l="l" t="t" r="r" b="b"/>
            <a:pathLst>
              <a:path w="552398" h="552398">
                <a:moveTo>
                  <a:pt x="276199" y="0"/>
                </a:moveTo>
                <a:moveTo>
                  <a:pt x="276199" y="0"/>
                </a:moveTo>
                <a:cubicBezTo>
                  <a:pt x="428637" y="0"/>
                  <a:pt x="552398" y="123761"/>
                  <a:pt x="552398" y="276199"/>
                </a:cubicBezTo>
                <a:cubicBezTo>
                  <a:pt x="552398" y="428637"/>
                  <a:pt x="428637" y="552398"/>
                  <a:pt x="276199" y="552398"/>
                </a:cubicBezTo>
                <a:cubicBezTo>
                  <a:pt x="123761" y="552398"/>
                  <a:pt x="0" y="428637"/>
                  <a:pt x="0" y="276199"/>
                </a:cubicBezTo>
                <a:cubicBezTo>
                  <a:pt x="0" y="123761"/>
                  <a:pt x="123761" y="0"/>
                  <a:pt x="276199" y="0"/>
                </a:cubicBezTo>
                <a:close/>
              </a:path>
            </a:pathLst>
          </a:custGeom>
          <a:solidFill>
            <a:srgbClr val="6764FB"/>
          </a:solidFill>
          <a:ln/>
        </p:spPr>
      </p:sp>
      <p:sp>
        <p:nvSpPr>
          <p:cNvPr id="10" name="Shape 5"/>
          <p:cNvSpPr/>
          <p:nvPr/>
        </p:nvSpPr>
        <p:spPr>
          <a:xfrm>
            <a:off x="504668" y="2957327"/>
            <a:ext cx="4005154" cy="1859343"/>
          </a:xfrm>
          <a:custGeom>
            <a:avLst/>
            <a:gdLst/>
            <a:ahLst/>
            <a:cxnLst/>
            <a:rect l="l" t="t" r="r" b="b"/>
            <a:pathLst>
              <a:path w="4005154" h="1859343">
                <a:moveTo>
                  <a:pt x="232418" y="0"/>
                </a:moveTo>
                <a:moveTo>
                  <a:pt x="232418" y="0"/>
                </a:moveTo>
                <a:lnTo>
                  <a:pt x="3772736" y="0"/>
                </a:lnTo>
                <a:quadBezTo>
                  <a:pt x="4005154" y="0"/>
                  <a:pt x="4005154" y="232418"/>
                </a:quadBezTo>
                <a:lnTo>
                  <a:pt x="4005154" y="1626925"/>
                </a:lnTo>
                <a:quadBezTo>
                  <a:pt x="4005154" y="1859343"/>
                  <a:pt x="3772736" y="1859343"/>
                </a:quadBezTo>
                <a:lnTo>
                  <a:pt x="232418" y="1859343"/>
                </a:lnTo>
                <a:quadBezTo>
                  <a:pt x="0" y="1859343"/>
                  <a:pt x="0" y="1626925"/>
                </a:quadBezTo>
                <a:lnTo>
                  <a:pt x="0" y="232418"/>
                </a:lnTo>
                <a:quadBezTo>
                  <a:pt x="0" y="0"/>
                  <a:pt x="232418" y="0"/>
                </a:quadBezTo>
                <a:close/>
              </a:path>
            </a:pathLst>
          </a:custGeom>
          <a:solidFill>
            <a:srgbClr val="6764FB">
              <a:alpha val="10000"/>
            </a:srgbClr>
          </a:solidFill>
          <a:ln/>
        </p:spPr>
      </p:sp>
      <p:sp>
        <p:nvSpPr>
          <p:cNvPr id="11" name="Shape 6"/>
          <p:cNvSpPr/>
          <p:nvPr/>
        </p:nvSpPr>
        <p:spPr>
          <a:xfrm>
            <a:off x="303670" y="3610870"/>
            <a:ext cx="552257" cy="552257"/>
          </a:xfrm>
          <a:custGeom>
            <a:avLst/>
            <a:gdLst/>
            <a:ahLst/>
            <a:cxnLst/>
            <a:rect l="l" t="t" r="r" b="b"/>
            <a:pathLst>
              <a:path w="552257" h="552257">
                <a:moveTo>
                  <a:pt x="276128" y="0"/>
                </a:moveTo>
                <a:moveTo>
                  <a:pt x="276128" y="0"/>
                </a:moveTo>
                <a:cubicBezTo>
                  <a:pt x="428528" y="0"/>
                  <a:pt x="552257" y="123729"/>
                  <a:pt x="552257" y="276128"/>
                </a:cubicBezTo>
                <a:cubicBezTo>
                  <a:pt x="552257" y="428528"/>
                  <a:pt x="428528" y="552257"/>
                  <a:pt x="276128" y="552257"/>
                </a:cubicBezTo>
                <a:cubicBezTo>
                  <a:pt x="123729" y="552257"/>
                  <a:pt x="0" y="428528"/>
                  <a:pt x="0" y="276128"/>
                </a:cubicBezTo>
                <a:cubicBezTo>
                  <a:pt x="0" y="123729"/>
                  <a:pt x="123729" y="0"/>
                  <a:pt x="276128" y="0"/>
                </a:cubicBezTo>
                <a:close/>
              </a:path>
            </a:pathLst>
          </a:custGeom>
          <a:solidFill>
            <a:srgbClr val="6764FB"/>
          </a:solidFill>
          <a:ln/>
        </p:spPr>
      </p:sp>
      <p:sp>
        <p:nvSpPr>
          <p:cNvPr id="12" name="Shape 7"/>
          <p:cNvSpPr/>
          <p:nvPr/>
        </p:nvSpPr>
        <p:spPr>
          <a:xfrm>
            <a:off x="4624780" y="1568644"/>
            <a:ext cx="552398" cy="552398"/>
          </a:xfrm>
          <a:custGeom>
            <a:avLst/>
            <a:gdLst/>
            <a:ahLst/>
            <a:cxnLst/>
            <a:rect l="l" t="t" r="r" b="b"/>
            <a:pathLst>
              <a:path w="552398" h="552398">
                <a:moveTo>
                  <a:pt x="276199" y="0"/>
                </a:moveTo>
                <a:moveTo>
                  <a:pt x="276199" y="0"/>
                </a:moveTo>
                <a:cubicBezTo>
                  <a:pt x="428637" y="0"/>
                  <a:pt x="552398" y="123761"/>
                  <a:pt x="552398" y="276199"/>
                </a:cubicBezTo>
                <a:cubicBezTo>
                  <a:pt x="552398" y="428637"/>
                  <a:pt x="428637" y="552398"/>
                  <a:pt x="276199" y="552398"/>
                </a:cubicBezTo>
                <a:cubicBezTo>
                  <a:pt x="123761" y="552398"/>
                  <a:pt x="0" y="428637"/>
                  <a:pt x="0" y="276199"/>
                </a:cubicBezTo>
                <a:cubicBezTo>
                  <a:pt x="0" y="123761"/>
                  <a:pt x="123761" y="0"/>
                  <a:pt x="276199" y="0"/>
                </a:cubicBezTo>
                <a:close/>
              </a:path>
            </a:pathLst>
          </a:custGeom>
          <a:solidFill>
            <a:srgbClr val="6764FB"/>
          </a:solidFill>
          <a:ln/>
        </p:spPr>
      </p:sp>
      <p:sp>
        <p:nvSpPr>
          <p:cNvPr id="13" name="Shape 8"/>
          <p:cNvSpPr/>
          <p:nvPr/>
        </p:nvSpPr>
        <p:spPr>
          <a:xfrm>
            <a:off x="4624780" y="3610800"/>
            <a:ext cx="552398" cy="552398"/>
          </a:xfrm>
          <a:custGeom>
            <a:avLst/>
            <a:gdLst/>
            <a:ahLst/>
            <a:cxnLst/>
            <a:rect l="l" t="t" r="r" b="b"/>
            <a:pathLst>
              <a:path w="552398" h="552398">
                <a:moveTo>
                  <a:pt x="276199" y="0"/>
                </a:moveTo>
                <a:moveTo>
                  <a:pt x="276199" y="0"/>
                </a:moveTo>
                <a:cubicBezTo>
                  <a:pt x="428637" y="0"/>
                  <a:pt x="552398" y="123761"/>
                  <a:pt x="552398" y="276199"/>
                </a:cubicBezTo>
                <a:cubicBezTo>
                  <a:pt x="552398" y="428637"/>
                  <a:pt x="428637" y="552398"/>
                  <a:pt x="276199" y="552398"/>
                </a:cubicBezTo>
                <a:cubicBezTo>
                  <a:pt x="123761" y="552398"/>
                  <a:pt x="0" y="428637"/>
                  <a:pt x="0" y="276199"/>
                </a:cubicBezTo>
                <a:cubicBezTo>
                  <a:pt x="0" y="123761"/>
                  <a:pt x="123761" y="0"/>
                  <a:pt x="276199" y="0"/>
                </a:cubicBezTo>
                <a:close/>
              </a:path>
            </a:pathLst>
          </a:custGeom>
          <a:solidFill>
            <a:srgbClr val="6764FB"/>
          </a:solidFill>
          <a:ln/>
        </p:spPr>
      </p:sp>
      <p:sp>
        <p:nvSpPr>
          <p:cNvPr id="14" name="Text 9"/>
          <p:cNvSpPr/>
          <p:nvPr/>
        </p:nvSpPr>
        <p:spPr>
          <a:xfrm>
            <a:off x="897522" y="1012569"/>
            <a:ext cx="3567344" cy="393192"/>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296" b="1" dirty="0">
                <a:solidFill>
                  <a:srgbClr val="6764FB"/>
                </a:solidFill>
                <a:latin typeface="Noto Sans" pitchFamily="34" charset="0"/>
                <a:ea typeface="Noto Sans" pitchFamily="34" charset="-122"/>
                <a:cs typeface="Noto Sans" pitchFamily="34" charset="-120"/>
              </a:rPr>
              <a:t>Real-time plant simulation</a:t>
            </a:r>
            <a:endParaRPr lang="en-US" sz="1440" dirty="0"/>
          </a:p>
        </p:txBody>
      </p:sp>
      <p:sp>
        <p:nvSpPr>
          <p:cNvPr id="15" name="Text 10"/>
          <p:cNvSpPr/>
          <p:nvPr/>
        </p:nvSpPr>
        <p:spPr>
          <a:xfrm>
            <a:off x="897522" y="1514842"/>
            <a:ext cx="3307900" cy="731520"/>
          </a:xfrm>
          <a:prstGeom prst="rect">
            <a:avLst/>
          </a:prstGeom>
          <a:noFill/>
          <a:ln/>
        </p:spPr>
        <p:txBody>
          <a:bodyPr wrap="square" lIns="95250" tIns="95250" rIns="95250" bIns="95250" rtlCol="0" anchor="t">
            <a:spAutoFit/>
          </a:bodyPr>
          <a:lstStyle/>
          <a:p>
            <a:pPr indent="0" marL="0">
              <a:lnSpc>
                <a:spcPct val="100000"/>
              </a:lnSpc>
              <a:buNone/>
            </a:pPr>
            <a:r>
              <a:rPr lang="en-US" sz="1008" dirty="0">
                <a:solidFill>
                  <a:srgbClr val="FFFFFF"/>
                </a:solidFill>
                <a:latin typeface="Noto Sans" pitchFamily="34" charset="0"/>
                <a:ea typeface="Noto Sans" pitchFamily="34" charset="-122"/>
                <a:cs typeface="Noto Sans" pitchFamily="34" charset="-120"/>
              </a:rPr>
              <a:t>Multithreaded architecture models simultaneous plant growth, state transitions, and care requirements.</a:t>
            </a:r>
            <a:endParaRPr lang="en-US" sz="1440" dirty="0"/>
          </a:p>
        </p:txBody>
      </p:sp>
      <p:sp>
        <p:nvSpPr>
          <p:cNvPr id="16" name="Text 11"/>
          <p:cNvSpPr/>
          <p:nvPr/>
        </p:nvSpPr>
        <p:spPr>
          <a:xfrm>
            <a:off x="5212038" y="1012617"/>
            <a:ext cx="3567344" cy="393192"/>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296" b="1" dirty="0">
                <a:solidFill>
                  <a:srgbClr val="6764FB"/>
                </a:solidFill>
                <a:latin typeface="Noto Sans" pitchFamily="34" charset="0"/>
                <a:ea typeface="Noto Sans" pitchFamily="34" charset="-122"/>
                <a:cs typeface="Noto Sans" pitchFamily="34" charset="-120"/>
              </a:rPr>
              <a:t>Parallel operations</a:t>
            </a:r>
            <a:endParaRPr lang="en-US" sz="1440" dirty="0"/>
          </a:p>
        </p:txBody>
      </p:sp>
      <p:sp>
        <p:nvSpPr>
          <p:cNvPr id="17" name="Text 12"/>
          <p:cNvSpPr/>
          <p:nvPr/>
        </p:nvSpPr>
        <p:spPr>
          <a:xfrm>
            <a:off x="5212038" y="1514842"/>
            <a:ext cx="3307900" cy="731520"/>
          </a:xfrm>
          <a:prstGeom prst="rect">
            <a:avLst/>
          </a:prstGeom>
          <a:noFill/>
          <a:ln/>
        </p:spPr>
        <p:txBody>
          <a:bodyPr wrap="square" lIns="95250" tIns="95250" rIns="95250" bIns="95250" rtlCol="0" anchor="t">
            <a:spAutoFit/>
          </a:bodyPr>
          <a:lstStyle/>
          <a:p>
            <a:pPr indent="0" marL="0">
              <a:lnSpc>
                <a:spcPct val="100000"/>
              </a:lnSpc>
              <a:buNone/>
            </a:pPr>
            <a:r>
              <a:rPr lang="en-US" sz="1008" dirty="0">
                <a:solidFill>
                  <a:srgbClr val="FFFFFF"/>
                </a:solidFill>
                <a:latin typeface="Noto Sans" pitchFamily="34" charset="0"/>
                <a:ea typeface="Noto Sans" pitchFamily="34" charset="-122"/>
                <a:cs typeface="Noto Sans" pitchFamily="34" charset="-120"/>
              </a:rPr>
              <a:t>System handles growth timers, scheduled care, and order processing simultaneously for realistic nursery simulation.</a:t>
            </a:r>
            <a:endParaRPr lang="en-US" sz="1440" dirty="0"/>
          </a:p>
        </p:txBody>
      </p:sp>
      <p:sp>
        <p:nvSpPr>
          <p:cNvPr id="18" name="Text 13"/>
          <p:cNvSpPr/>
          <p:nvPr/>
        </p:nvSpPr>
        <p:spPr>
          <a:xfrm>
            <a:off x="897522" y="3051319"/>
            <a:ext cx="3567344" cy="393192"/>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296" b="1" dirty="0">
                <a:solidFill>
                  <a:srgbClr val="6764FB"/>
                </a:solidFill>
                <a:latin typeface="Noto Sans" pitchFamily="34" charset="0"/>
                <a:ea typeface="Noto Sans" pitchFamily="34" charset="-122"/>
                <a:cs typeface="Noto Sans" pitchFamily="34" charset="-120"/>
              </a:rPr>
              <a:t>Thread safety</a:t>
            </a:r>
            <a:endParaRPr lang="en-US" sz="1440" dirty="0"/>
          </a:p>
        </p:txBody>
      </p:sp>
      <p:sp>
        <p:nvSpPr>
          <p:cNvPr id="19" name="Text 14"/>
          <p:cNvSpPr/>
          <p:nvPr/>
        </p:nvSpPr>
        <p:spPr>
          <a:xfrm>
            <a:off x="897522" y="3560030"/>
            <a:ext cx="3307900" cy="731520"/>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008" dirty="0">
                <a:solidFill>
                  <a:srgbClr val="FFFFFF"/>
                </a:solidFill>
                <a:latin typeface="Noto Sans" pitchFamily="34" charset="0"/>
                <a:ea typeface="Noto Sans" pitchFamily="34" charset="-122"/>
                <a:cs typeface="Noto Sans" pitchFamily="34" charset="-120"/>
              </a:rPr>
              <a:t>Mediator pattern and careful locking prevent race conditions while maintaining system responsiveness.</a:t>
            </a:r>
            <a:endParaRPr lang="en-US" sz="1440" dirty="0"/>
          </a:p>
        </p:txBody>
      </p:sp>
      <p:sp>
        <p:nvSpPr>
          <p:cNvPr id="20" name="Text 15"/>
          <p:cNvSpPr/>
          <p:nvPr/>
        </p:nvSpPr>
        <p:spPr>
          <a:xfrm>
            <a:off x="5212038" y="3052400"/>
            <a:ext cx="3567344" cy="393192"/>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296" b="1" dirty="0">
                <a:solidFill>
                  <a:srgbClr val="6764FB"/>
                </a:solidFill>
                <a:latin typeface="Noto Sans" pitchFamily="34" charset="0"/>
                <a:ea typeface="Noto Sans" pitchFamily="34" charset="-122"/>
                <a:cs typeface="Noto Sans" pitchFamily="34" charset="-120"/>
              </a:rPr>
              <a:t>Time-based transitions</a:t>
            </a:r>
            <a:endParaRPr lang="en-US" sz="1440" dirty="0"/>
          </a:p>
        </p:txBody>
      </p:sp>
      <p:sp>
        <p:nvSpPr>
          <p:cNvPr id="21" name="Text 16"/>
          <p:cNvSpPr/>
          <p:nvPr/>
        </p:nvSpPr>
        <p:spPr>
          <a:xfrm>
            <a:off x="5212038" y="3560030"/>
            <a:ext cx="3307900" cy="548640"/>
          </a:xfrm>
          <a:prstGeom prst="rect">
            <a:avLst/>
          </a:prstGeom>
          <a:noFill/>
          <a:ln/>
        </p:spPr>
        <p:txBody>
          <a:bodyPr wrap="square" lIns="95250" tIns="95250" rIns="95250" bIns="95250" rtlCol="0" anchor="t">
            <a:spAutoFit/>
          </a:bodyPr>
          <a:lstStyle/>
          <a:p>
            <a:pPr indent="0" marL="0">
              <a:lnSpc>
                <a:spcPct val="100000"/>
              </a:lnSpc>
              <a:buNone/>
            </a:pPr>
            <a:r>
              <a:rPr lang="en-US" sz="1008" dirty="0">
                <a:solidFill>
                  <a:srgbClr val="FFFFFF"/>
                </a:solidFill>
                <a:latin typeface="Noto Sans" pitchFamily="34" charset="0"/>
                <a:ea typeface="Noto Sans" pitchFamily="34" charset="-122"/>
                <a:cs typeface="Noto Sans" pitchFamily="34" charset="-120"/>
              </a:rPr>
              <a:t>Plants progress through lifecycle states at different rates, requiring synchronized care actions.</a:t>
            </a:r>
            <a:endParaRPr lang="en-US" sz="1440" dirty="0"/>
          </a:p>
        </p:txBody>
      </p:sp>
      <p:sp>
        <p:nvSpPr>
          <p:cNvPr id="22" name="Text 17"/>
          <p:cNvSpPr/>
          <p:nvPr/>
        </p:nvSpPr>
        <p:spPr>
          <a:xfrm>
            <a:off x="266305" y="1569192"/>
            <a:ext cx="626988" cy="539496"/>
          </a:xfrm>
          <a:prstGeom prst="rect">
            <a:avLst/>
          </a:prstGeom>
          <a:noFill/>
          <a:ln/>
        </p:spPr>
        <p:txBody>
          <a:bodyPr wrap="square" lIns="95250" tIns="95250" rIns="95250" bIns="95250" rtlCol="0" anchor="ctr">
            <a:spAutoFit/>
          </a:bodyPr>
          <a:lstStyle/>
          <a:p>
            <a:pPr algn="ctr" indent="0" marL="0">
              <a:lnSpc>
                <a:spcPct val="112500"/>
              </a:lnSpc>
              <a:spcBef>
                <a:spcPts val="375"/>
              </a:spcBef>
              <a:buNone/>
            </a:pPr>
            <a:r>
              <a:rPr lang="en-US" sz="1872" b="1" dirty="0">
                <a:solidFill>
                  <a:srgbClr val="FFFFFF"/>
                </a:solidFill>
                <a:latin typeface="Noto Sans" pitchFamily="34" charset="0"/>
                <a:ea typeface="Noto Sans" pitchFamily="34" charset="-122"/>
                <a:cs typeface="Noto Sans" pitchFamily="34" charset="-120"/>
              </a:rPr>
              <a:t>01</a:t>
            </a:r>
            <a:endParaRPr lang="en-US" sz="1440" dirty="0"/>
          </a:p>
        </p:txBody>
      </p:sp>
      <p:sp>
        <p:nvSpPr>
          <p:cNvPr id="23" name="Text 18"/>
          <p:cNvSpPr/>
          <p:nvPr/>
        </p:nvSpPr>
        <p:spPr>
          <a:xfrm>
            <a:off x="4587485" y="1569192"/>
            <a:ext cx="626988" cy="539496"/>
          </a:xfrm>
          <a:prstGeom prst="rect">
            <a:avLst/>
          </a:prstGeom>
          <a:noFill/>
          <a:ln/>
        </p:spPr>
        <p:txBody>
          <a:bodyPr wrap="square" lIns="95250" tIns="95250" rIns="95250" bIns="95250" rtlCol="0" anchor="t">
            <a:spAutoFit/>
          </a:bodyPr>
          <a:lstStyle/>
          <a:p>
            <a:pPr algn="ctr" indent="0" marL="0">
              <a:lnSpc>
                <a:spcPct val="112500"/>
              </a:lnSpc>
              <a:spcBef>
                <a:spcPts val="375"/>
              </a:spcBef>
              <a:buNone/>
            </a:pPr>
            <a:r>
              <a:rPr lang="en-US" sz="1872" b="1" dirty="0">
                <a:solidFill>
                  <a:srgbClr val="FFFFFF"/>
                </a:solidFill>
                <a:latin typeface="Noto Sans" pitchFamily="34" charset="0"/>
                <a:ea typeface="Noto Sans" pitchFamily="34" charset="-122"/>
                <a:cs typeface="Noto Sans" pitchFamily="34" charset="-120"/>
              </a:rPr>
              <a:t>02</a:t>
            </a:r>
            <a:endParaRPr lang="en-US" sz="1440" dirty="0"/>
          </a:p>
        </p:txBody>
      </p:sp>
      <p:sp>
        <p:nvSpPr>
          <p:cNvPr id="24" name="Text 19"/>
          <p:cNvSpPr/>
          <p:nvPr/>
        </p:nvSpPr>
        <p:spPr>
          <a:xfrm>
            <a:off x="266305" y="3611347"/>
            <a:ext cx="626988" cy="539496"/>
          </a:xfrm>
          <a:prstGeom prst="rect">
            <a:avLst/>
          </a:prstGeom>
          <a:noFill/>
          <a:ln/>
        </p:spPr>
        <p:txBody>
          <a:bodyPr wrap="square" lIns="95250" tIns="95250" rIns="95250" bIns="95250" rtlCol="0" anchor="t">
            <a:spAutoFit/>
          </a:bodyPr>
          <a:lstStyle/>
          <a:p>
            <a:pPr algn="ctr" indent="0" marL="0">
              <a:lnSpc>
                <a:spcPct val="112500"/>
              </a:lnSpc>
              <a:spcBef>
                <a:spcPts val="375"/>
              </a:spcBef>
              <a:buNone/>
            </a:pPr>
            <a:r>
              <a:rPr lang="en-US" sz="1872" b="1" dirty="0">
                <a:solidFill>
                  <a:srgbClr val="FFFFFF"/>
                </a:solidFill>
                <a:latin typeface="Noto Sans" pitchFamily="34" charset="0"/>
                <a:ea typeface="Noto Sans" pitchFamily="34" charset="-122"/>
                <a:cs typeface="Noto Sans" pitchFamily="34" charset="-120"/>
              </a:rPr>
              <a:t>03</a:t>
            </a:r>
            <a:endParaRPr lang="en-US" sz="1440" dirty="0"/>
          </a:p>
        </p:txBody>
      </p:sp>
      <p:sp>
        <p:nvSpPr>
          <p:cNvPr id="25" name="Text 20"/>
          <p:cNvSpPr/>
          <p:nvPr/>
        </p:nvSpPr>
        <p:spPr>
          <a:xfrm>
            <a:off x="4587485" y="3611347"/>
            <a:ext cx="626988" cy="539496"/>
          </a:xfrm>
          <a:prstGeom prst="rect">
            <a:avLst/>
          </a:prstGeom>
          <a:noFill/>
          <a:ln/>
        </p:spPr>
        <p:txBody>
          <a:bodyPr wrap="square" lIns="95250" tIns="95250" rIns="95250" bIns="95250" rtlCol="0" anchor="t">
            <a:spAutoFit/>
          </a:bodyPr>
          <a:lstStyle/>
          <a:p>
            <a:pPr algn="ctr" indent="0" marL="0">
              <a:lnSpc>
                <a:spcPct val="112500"/>
              </a:lnSpc>
              <a:spcBef>
                <a:spcPts val="375"/>
              </a:spcBef>
              <a:buNone/>
            </a:pPr>
            <a:r>
              <a:rPr lang="en-US" sz="1872" b="1" dirty="0">
                <a:solidFill>
                  <a:srgbClr val="FFFFFF"/>
                </a:solidFill>
                <a:latin typeface="Noto Sans" pitchFamily="34" charset="0"/>
                <a:ea typeface="Noto Sans" pitchFamily="34" charset="-122"/>
                <a:cs typeface="Noto Sans" pitchFamily="34" charset="-120"/>
              </a:rPr>
              <a:t>04</a:t>
            </a:r>
            <a:endParaRPr lang="en-US" sz="144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5078" y="67884"/>
            <a:ext cx="8005161" cy="566928"/>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Strategy for Care Requirements</a:t>
            </a:r>
            <a:endParaRPr lang="en-US" sz="1440" dirty="0"/>
          </a:p>
        </p:txBody>
      </p:sp>
      <p:pic>
        <p:nvPicPr>
          <p:cNvPr id="3" name="Image 0" descr="preencoded.png">    </p:cNvPr>
          <p:cNvPicPr>
            <a:picLocks noChangeAspect="1"/>
          </p:cNvPicPr>
          <p:nvPr/>
        </p:nvPicPr>
        <p:blipFill>
          <a:blip r:embed="rId2"/>
          <a:stretch>
            <a:fillRect/>
          </a:stretch>
        </p:blipFill>
        <p:spPr>
          <a:xfrm>
            <a:off x="201357" y="244913"/>
            <a:ext cx="616423" cy="231159"/>
          </a:xfrm>
          <a:prstGeom prst="rect">
            <a:avLst/>
          </a:prstGeom>
        </p:spPr>
      </p:pic>
      <p:pic>
        <p:nvPicPr>
          <p:cNvPr id="4" name="Image 1" descr="preencoded.png">    </p:cNvPr>
          <p:cNvPicPr>
            <a:picLocks noChangeAspect="1"/>
          </p:cNvPicPr>
          <p:nvPr/>
        </p:nvPicPr>
        <p:blipFill>
          <a:blip r:embed="rId3"/>
          <a:stretch>
            <a:fillRect/>
          </a:stretch>
        </p:blipFill>
        <p:spPr>
          <a:xfrm>
            <a:off x="201357" y="244913"/>
            <a:ext cx="616423" cy="231159"/>
          </a:xfrm>
          <a:prstGeom prst="rect">
            <a:avLst/>
          </a:prstGeom>
        </p:spPr>
      </p:pic>
      <p:pic>
        <p:nvPicPr>
          <p:cNvPr id="5" name="Image 2" descr="preencoded.png">    </p:cNvPr>
          <p:cNvPicPr>
            <a:picLocks noChangeAspect="1"/>
          </p:cNvPicPr>
          <p:nvPr/>
        </p:nvPicPr>
        <p:blipFill>
          <a:blip r:embed="rId4"/>
          <a:stretch>
            <a:fillRect/>
          </a:stretch>
        </p:blipFill>
        <p:spPr>
          <a:xfrm>
            <a:off x="201357" y="244913"/>
            <a:ext cx="616423" cy="231159"/>
          </a:xfrm>
          <a:prstGeom prst="rect">
            <a:avLst/>
          </a:prstGeom>
        </p:spPr>
      </p:pic>
      <p:sp>
        <p:nvSpPr>
          <p:cNvPr id="6" name="Shape 1"/>
          <p:cNvSpPr/>
          <p:nvPr/>
        </p:nvSpPr>
        <p:spPr>
          <a:xfrm rot="2700000">
            <a:off x="187651" y="3850955"/>
            <a:ext cx="911657" cy="911657"/>
          </a:xfrm>
          <a:custGeom>
            <a:avLst/>
            <a:gdLst/>
            <a:ahLst/>
            <a:cxnLst/>
            <a:rect l="l" t="t" r="r" b="b"/>
            <a:pathLst>
              <a:path w="911657" h="911657">
                <a:moveTo>
                  <a:pt x="158693" y="0"/>
                </a:moveTo>
                <a:moveTo>
                  <a:pt x="158693" y="0"/>
                </a:moveTo>
                <a:lnTo>
                  <a:pt x="752964" y="0"/>
                </a:lnTo>
                <a:quadBezTo>
                  <a:pt x="911657" y="0"/>
                  <a:pt x="911657" y="158693"/>
                </a:quadBezTo>
                <a:lnTo>
                  <a:pt x="911657" y="752964"/>
                </a:lnTo>
                <a:quadBezTo>
                  <a:pt x="911657" y="911657"/>
                  <a:pt x="752964" y="911657"/>
                </a:quadBezTo>
                <a:lnTo>
                  <a:pt x="158693" y="911657"/>
                </a:lnTo>
                <a:quadBezTo>
                  <a:pt x="0" y="911657"/>
                  <a:pt x="0" y="752964"/>
                </a:quadBezTo>
                <a:lnTo>
                  <a:pt x="0" y="158693"/>
                </a:lnTo>
                <a:quadBezTo>
                  <a:pt x="0" y="0"/>
                  <a:pt x="158693" y="0"/>
                </a:quadBezTo>
                <a:close/>
              </a:path>
            </a:pathLst>
          </a:custGeom>
          <a:solidFill>
            <a:srgbClr val="6764FB"/>
          </a:solidFill>
          <a:ln/>
        </p:spPr>
      </p:sp>
      <p:pic>
        <p:nvPicPr>
          <p:cNvPr id="7" name="Image 3" descr="preencoded.png">    </p:cNvPr>
          <p:cNvPicPr>
            <a:picLocks noChangeAspect="1"/>
          </p:cNvPicPr>
          <p:nvPr/>
        </p:nvPicPr>
        <p:blipFill>
          <a:blip r:embed="rId5"/>
          <a:stretch>
            <a:fillRect/>
          </a:stretch>
        </p:blipFill>
        <p:spPr>
          <a:xfrm>
            <a:off x="443226" y="4106530"/>
            <a:ext cx="400507" cy="400507"/>
          </a:xfrm>
          <a:prstGeom prst="rect">
            <a:avLst/>
          </a:prstGeom>
        </p:spPr>
      </p:pic>
      <p:sp>
        <p:nvSpPr>
          <p:cNvPr id="8" name="Shape 2"/>
          <p:cNvSpPr/>
          <p:nvPr/>
        </p:nvSpPr>
        <p:spPr>
          <a:xfrm rot="2700000">
            <a:off x="896298" y="3102744"/>
            <a:ext cx="911657" cy="911657"/>
          </a:xfrm>
          <a:custGeom>
            <a:avLst/>
            <a:gdLst/>
            <a:ahLst/>
            <a:cxnLst/>
            <a:rect l="l" t="t" r="r" b="b"/>
            <a:pathLst>
              <a:path w="911657" h="911657">
                <a:moveTo>
                  <a:pt x="158693" y="0"/>
                </a:moveTo>
                <a:moveTo>
                  <a:pt x="158693" y="0"/>
                </a:moveTo>
                <a:lnTo>
                  <a:pt x="752964" y="0"/>
                </a:lnTo>
                <a:quadBezTo>
                  <a:pt x="911657" y="0"/>
                  <a:pt x="911657" y="158693"/>
                </a:quadBezTo>
                <a:lnTo>
                  <a:pt x="911657" y="752964"/>
                </a:lnTo>
                <a:quadBezTo>
                  <a:pt x="911657" y="911657"/>
                  <a:pt x="752964" y="911657"/>
                </a:quadBezTo>
                <a:lnTo>
                  <a:pt x="158693" y="911657"/>
                </a:lnTo>
                <a:quadBezTo>
                  <a:pt x="0" y="911657"/>
                  <a:pt x="0" y="752964"/>
                </a:quadBezTo>
                <a:lnTo>
                  <a:pt x="0" y="158693"/>
                </a:lnTo>
                <a:quadBezTo>
                  <a:pt x="0" y="0"/>
                  <a:pt x="158693" y="0"/>
                </a:quadBezTo>
                <a:close/>
              </a:path>
            </a:pathLst>
          </a:custGeom>
          <a:solidFill>
            <a:srgbClr val="C560FF"/>
          </a:solidFill>
          <a:ln/>
        </p:spPr>
      </p:sp>
      <p:pic>
        <p:nvPicPr>
          <p:cNvPr id="9" name="Image 4" descr="preencoded.png">    </p:cNvPr>
          <p:cNvPicPr>
            <a:picLocks noChangeAspect="1"/>
          </p:cNvPicPr>
          <p:nvPr/>
        </p:nvPicPr>
        <p:blipFill>
          <a:blip r:embed="rId6"/>
          <a:stretch>
            <a:fillRect/>
          </a:stretch>
        </p:blipFill>
        <p:spPr>
          <a:xfrm>
            <a:off x="1128098" y="3334545"/>
            <a:ext cx="448056" cy="448056"/>
          </a:xfrm>
          <a:prstGeom prst="rect">
            <a:avLst/>
          </a:prstGeom>
        </p:spPr>
      </p:pic>
      <p:sp>
        <p:nvSpPr>
          <p:cNvPr id="10" name="Shape 3"/>
          <p:cNvSpPr/>
          <p:nvPr/>
        </p:nvSpPr>
        <p:spPr>
          <a:xfrm rot="2700000">
            <a:off x="1713867" y="3841811"/>
            <a:ext cx="911657" cy="911657"/>
          </a:xfrm>
          <a:custGeom>
            <a:avLst/>
            <a:gdLst/>
            <a:ahLst/>
            <a:cxnLst/>
            <a:rect l="l" t="t" r="r" b="b"/>
            <a:pathLst>
              <a:path w="911657" h="911657">
                <a:moveTo>
                  <a:pt x="158693" y="0"/>
                </a:moveTo>
                <a:moveTo>
                  <a:pt x="158693" y="0"/>
                </a:moveTo>
                <a:lnTo>
                  <a:pt x="752964" y="0"/>
                </a:lnTo>
                <a:quadBezTo>
                  <a:pt x="911657" y="0"/>
                  <a:pt x="911657" y="158693"/>
                </a:quadBezTo>
                <a:lnTo>
                  <a:pt x="911657" y="752964"/>
                </a:lnTo>
                <a:quadBezTo>
                  <a:pt x="911657" y="911657"/>
                  <a:pt x="752964" y="911657"/>
                </a:quadBezTo>
                <a:lnTo>
                  <a:pt x="158693" y="911657"/>
                </a:lnTo>
                <a:quadBezTo>
                  <a:pt x="0" y="911657"/>
                  <a:pt x="0" y="752964"/>
                </a:quadBezTo>
                <a:lnTo>
                  <a:pt x="0" y="158693"/>
                </a:lnTo>
                <a:quadBezTo>
                  <a:pt x="0" y="0"/>
                  <a:pt x="158693" y="0"/>
                </a:quadBezTo>
                <a:close/>
              </a:path>
            </a:pathLst>
          </a:custGeom>
          <a:solidFill>
            <a:srgbClr val="6764FB"/>
          </a:solidFill>
          <a:ln/>
        </p:spPr>
      </p:sp>
      <p:pic>
        <p:nvPicPr>
          <p:cNvPr id="11" name="Image 5" descr="preencoded.png">    </p:cNvPr>
          <p:cNvPicPr>
            <a:picLocks noChangeAspect="1"/>
          </p:cNvPicPr>
          <p:nvPr/>
        </p:nvPicPr>
        <p:blipFill>
          <a:blip r:embed="rId7"/>
          <a:stretch>
            <a:fillRect/>
          </a:stretch>
        </p:blipFill>
        <p:spPr>
          <a:xfrm>
            <a:off x="1997686" y="4125630"/>
            <a:ext cx="344018" cy="344018"/>
          </a:xfrm>
          <a:prstGeom prst="rect">
            <a:avLst/>
          </a:prstGeom>
        </p:spPr>
      </p:pic>
      <p:pic>
        <p:nvPicPr>
          <p:cNvPr id="12" name="Image 6" descr="preencoded.png">    </p:cNvPr>
          <p:cNvPicPr>
            <a:picLocks noChangeAspect="1"/>
          </p:cNvPicPr>
          <p:nvPr/>
        </p:nvPicPr>
        <p:blipFill>
          <a:blip r:embed="rId8"/>
          <a:stretch>
            <a:fillRect/>
          </a:stretch>
        </p:blipFill>
        <p:spPr>
          <a:xfrm>
            <a:off x="2702643" y="3376607"/>
            <a:ext cx="363931" cy="363931"/>
          </a:xfrm>
          <a:prstGeom prst="rect">
            <a:avLst/>
          </a:prstGeom>
        </p:spPr>
      </p:pic>
      <p:sp>
        <p:nvSpPr>
          <p:cNvPr id="13" name="Text 4"/>
          <p:cNvSpPr/>
          <p:nvPr/>
        </p:nvSpPr>
        <p:spPr>
          <a:xfrm>
            <a:off x="201357" y="911657"/>
            <a:ext cx="2563063" cy="393192"/>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296" b="1" dirty="0">
                <a:solidFill>
                  <a:srgbClr val="6764FB"/>
                </a:solidFill>
                <a:latin typeface="Noto Sans" pitchFamily="34" charset="0"/>
                <a:ea typeface="Noto Sans" pitchFamily="34" charset="-122"/>
                <a:cs typeface="Noto Sans" pitchFamily="34" charset="-120"/>
              </a:rPr>
              <a:t>Multiple Strategies</a:t>
            </a:r>
            <a:endParaRPr lang="en-US" sz="1440" dirty="0"/>
          </a:p>
        </p:txBody>
      </p:sp>
      <p:sp>
        <p:nvSpPr>
          <p:cNvPr id="14" name="Text 5"/>
          <p:cNvSpPr/>
          <p:nvPr/>
        </p:nvSpPr>
        <p:spPr>
          <a:xfrm>
            <a:off x="-1159" y="1108253"/>
            <a:ext cx="3022582" cy="393192"/>
          </a:xfrm>
          <a:prstGeom prst="rect">
            <a:avLst/>
          </a:prstGeom>
          <a:noFill/>
          <a:ln/>
        </p:spPr>
        <p:txBody>
          <a:bodyPr wrap="square" lIns="95250" tIns="95250" rIns="95250" bIns="95250" rtlCol="0" anchor="t">
            <a:spAutoFit/>
          </a:bodyPr>
          <a:lstStyle/>
          <a:p>
            <a:pPr marL="160020" indent="-160020">
              <a:lnSpc>
                <a:spcPct val="1000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Regular, Boost, WaterLimiting</a:t>
            </a:r>
            <a:endParaRPr lang="en-US" sz="1440" dirty="0"/>
          </a:p>
        </p:txBody>
      </p:sp>
      <p:sp>
        <p:nvSpPr>
          <p:cNvPr id="15" name="Text 6"/>
          <p:cNvSpPr/>
          <p:nvPr/>
        </p:nvSpPr>
        <p:spPr>
          <a:xfrm>
            <a:off x="243916" y="1501445"/>
            <a:ext cx="2562880" cy="393192"/>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296" b="1" dirty="0">
                <a:solidFill>
                  <a:srgbClr val="6764FB"/>
                </a:solidFill>
                <a:latin typeface="Noto Sans" pitchFamily="34" charset="0"/>
                <a:ea typeface="Noto Sans" pitchFamily="34" charset="-122"/>
                <a:cs typeface="Noto Sans" pitchFamily="34" charset="-120"/>
              </a:rPr>
              <a:t>Flexible</a:t>
            </a:r>
            <a:endParaRPr lang="en-US" sz="1440" dirty="0"/>
          </a:p>
        </p:txBody>
      </p:sp>
      <p:sp>
        <p:nvSpPr>
          <p:cNvPr id="16" name="Text 7"/>
          <p:cNvSpPr/>
          <p:nvPr/>
        </p:nvSpPr>
        <p:spPr>
          <a:xfrm>
            <a:off x="-1159" y="1725459"/>
            <a:ext cx="2562880" cy="393192"/>
          </a:xfrm>
          <a:prstGeom prst="rect">
            <a:avLst/>
          </a:prstGeom>
          <a:noFill/>
          <a:ln/>
        </p:spPr>
        <p:txBody>
          <a:bodyPr wrap="square" lIns="95250" tIns="95250" rIns="95250" bIns="95250" rtlCol="0" anchor="t">
            <a:spAutoFit/>
          </a:bodyPr>
          <a:lstStyle/>
          <a:p>
            <a:pPr marL="160020" indent="-160020">
              <a:lnSpc>
                <a:spcPct val="1000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No edits to plant class</a:t>
            </a:r>
            <a:endParaRPr lang="en-US" sz="1440" dirty="0"/>
          </a:p>
        </p:txBody>
      </p:sp>
      <p:sp>
        <p:nvSpPr>
          <p:cNvPr id="17" name="Text 8"/>
          <p:cNvSpPr/>
          <p:nvPr/>
        </p:nvSpPr>
        <p:spPr>
          <a:xfrm>
            <a:off x="-1159" y="2373792"/>
            <a:ext cx="2563063" cy="393192"/>
          </a:xfrm>
          <a:prstGeom prst="rect">
            <a:avLst/>
          </a:prstGeom>
          <a:noFill/>
          <a:ln/>
        </p:spPr>
        <p:txBody>
          <a:bodyPr wrap="square" lIns="95250" tIns="95250" rIns="95250" bIns="95250" rtlCol="0" anchor="t">
            <a:spAutoFit/>
          </a:bodyPr>
          <a:lstStyle/>
          <a:p>
            <a:pPr marL="160020" indent="-160020">
              <a:lnSpc>
                <a:spcPct val="1000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GreenHousePlant selects strategy</a:t>
            </a:r>
            <a:endParaRPr lang="en-US" sz="1440" dirty="0"/>
          </a:p>
        </p:txBody>
      </p:sp>
      <p:sp>
        <p:nvSpPr>
          <p:cNvPr id="18" name="Text 9"/>
          <p:cNvSpPr/>
          <p:nvPr/>
        </p:nvSpPr>
        <p:spPr>
          <a:xfrm>
            <a:off x="243733" y="2073624"/>
            <a:ext cx="2563063" cy="393192"/>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296" b="1" dirty="0">
                <a:solidFill>
                  <a:srgbClr val="6764FB"/>
                </a:solidFill>
                <a:latin typeface="Noto Sans" pitchFamily="34" charset="0"/>
                <a:ea typeface="Noto Sans" pitchFamily="34" charset="-122"/>
                <a:cs typeface="Noto Sans" pitchFamily="34" charset="-120"/>
              </a:rPr>
              <a:t>Context</a:t>
            </a:r>
            <a:endParaRPr lang="en-US" sz="1440" dirty="0"/>
          </a:p>
        </p:txBody>
      </p:sp>
      <p:pic>
        <p:nvPicPr>
          <p:cNvPr id="19" name="Image 7" descr="https://oceandoc-ai.obs.ap-southeast-3.myhuaweicloud.com/176218225639393/8e7e566c-60c0-4dbc-97ab-a6550d548eda/1762207184060/Strategy.png">    </p:cNvPr>
          <p:cNvPicPr>
            <a:picLocks noChangeAspect="1"/>
          </p:cNvPicPr>
          <p:nvPr/>
        </p:nvPicPr>
        <p:blipFill>
          <a:blip r:embed="rId9"/>
          <a:stretch>
            <a:fillRect/>
          </a:stretch>
        </p:blipFill>
        <p:spPr>
          <a:xfrm>
            <a:off x="4572000" y="476072"/>
            <a:ext cx="3480738" cy="459152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5078" y="67884"/>
            <a:ext cx="8005161" cy="566928"/>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Mediator for Communication</a:t>
            </a:r>
            <a:endParaRPr lang="en-US" sz="1440" dirty="0"/>
          </a:p>
        </p:txBody>
      </p:sp>
      <p:pic>
        <p:nvPicPr>
          <p:cNvPr id="3" name="Image 0" descr="preencoded.png">    </p:cNvPr>
          <p:cNvPicPr>
            <a:picLocks noChangeAspect="1"/>
          </p:cNvPicPr>
          <p:nvPr/>
        </p:nvPicPr>
        <p:blipFill>
          <a:blip r:embed="rId2"/>
          <a:stretch>
            <a:fillRect/>
          </a:stretch>
        </p:blipFill>
        <p:spPr>
          <a:xfrm>
            <a:off x="201357" y="244913"/>
            <a:ext cx="616423" cy="231159"/>
          </a:xfrm>
          <a:prstGeom prst="rect">
            <a:avLst/>
          </a:prstGeom>
        </p:spPr>
      </p:pic>
      <p:pic>
        <p:nvPicPr>
          <p:cNvPr id="4" name="Image 1" descr="preencoded.png">    </p:cNvPr>
          <p:cNvPicPr>
            <a:picLocks noChangeAspect="1"/>
          </p:cNvPicPr>
          <p:nvPr/>
        </p:nvPicPr>
        <p:blipFill>
          <a:blip r:embed="rId3"/>
          <a:stretch>
            <a:fillRect/>
          </a:stretch>
        </p:blipFill>
        <p:spPr>
          <a:xfrm>
            <a:off x="201357" y="244913"/>
            <a:ext cx="616423" cy="231159"/>
          </a:xfrm>
          <a:prstGeom prst="rect">
            <a:avLst/>
          </a:prstGeom>
        </p:spPr>
      </p:pic>
      <p:pic>
        <p:nvPicPr>
          <p:cNvPr id="5" name="Image 2" descr="preencoded.png">    </p:cNvPr>
          <p:cNvPicPr>
            <a:picLocks noChangeAspect="1"/>
          </p:cNvPicPr>
          <p:nvPr/>
        </p:nvPicPr>
        <p:blipFill>
          <a:blip r:embed="rId4"/>
          <a:stretch>
            <a:fillRect/>
          </a:stretch>
        </p:blipFill>
        <p:spPr>
          <a:xfrm>
            <a:off x="201357" y="244913"/>
            <a:ext cx="616423" cy="231159"/>
          </a:xfrm>
          <a:prstGeom prst="rect">
            <a:avLst/>
          </a:prstGeom>
        </p:spPr>
      </p:pic>
      <p:pic>
        <p:nvPicPr>
          <p:cNvPr id="6" name="Image 3" descr="preencoded.png">    </p:cNvPr>
          <p:cNvPicPr>
            <a:picLocks noChangeAspect="1"/>
          </p:cNvPicPr>
          <p:nvPr/>
        </p:nvPicPr>
        <p:blipFill>
          <a:blip r:embed="rId5"/>
          <a:stretch>
            <a:fillRect/>
          </a:stretch>
        </p:blipFill>
        <p:spPr>
          <a:xfrm>
            <a:off x="269265" y="981293"/>
            <a:ext cx="3576549" cy="860443"/>
          </a:xfrm>
          <a:prstGeom prst="rect">
            <a:avLst/>
          </a:prstGeom>
        </p:spPr>
      </p:pic>
      <p:pic>
        <p:nvPicPr>
          <p:cNvPr id="7" name="Image 4" descr="preencoded.png">    </p:cNvPr>
          <p:cNvPicPr>
            <a:picLocks noChangeAspect="1"/>
          </p:cNvPicPr>
          <p:nvPr/>
        </p:nvPicPr>
        <p:blipFill>
          <a:blip r:embed="rId6"/>
          <a:stretch>
            <a:fillRect/>
          </a:stretch>
        </p:blipFill>
        <p:spPr>
          <a:xfrm>
            <a:off x="269265" y="1574667"/>
            <a:ext cx="3576549" cy="265160"/>
          </a:xfrm>
          <a:prstGeom prst="rect">
            <a:avLst/>
          </a:prstGeom>
        </p:spPr>
      </p:pic>
      <p:pic>
        <p:nvPicPr>
          <p:cNvPr id="8" name="Image 5" descr="preencoded.png">    </p:cNvPr>
          <p:cNvPicPr>
            <a:picLocks noChangeAspect="1"/>
          </p:cNvPicPr>
          <p:nvPr/>
        </p:nvPicPr>
        <p:blipFill>
          <a:blip r:embed="rId7"/>
          <a:stretch>
            <a:fillRect/>
          </a:stretch>
        </p:blipFill>
        <p:spPr>
          <a:xfrm>
            <a:off x="387983" y="1011740"/>
            <a:ext cx="382277" cy="92251"/>
          </a:xfrm>
          <a:prstGeom prst="rect">
            <a:avLst/>
          </a:prstGeom>
        </p:spPr>
      </p:pic>
      <p:pic>
        <p:nvPicPr>
          <p:cNvPr id="9" name="Image 6" descr="preencoded.png">    </p:cNvPr>
          <p:cNvPicPr>
            <a:picLocks noChangeAspect="1"/>
          </p:cNvPicPr>
          <p:nvPr/>
        </p:nvPicPr>
        <p:blipFill>
          <a:blip r:embed="rId8">
            <a:alphaModFix amt="40000"/>
          </a:blip>
          <a:stretch>
            <a:fillRect/>
          </a:stretch>
        </p:blipFill>
        <p:spPr>
          <a:xfrm>
            <a:off x="532887" y="1011740"/>
            <a:ext cx="382277" cy="92251"/>
          </a:xfrm>
          <a:prstGeom prst="rect">
            <a:avLst/>
          </a:prstGeom>
        </p:spPr>
      </p:pic>
      <p:pic>
        <p:nvPicPr>
          <p:cNvPr id="10" name="Image 7" descr="preencoded.png">    </p:cNvPr>
          <p:cNvPicPr>
            <a:picLocks noChangeAspect="1"/>
          </p:cNvPicPr>
          <p:nvPr/>
        </p:nvPicPr>
        <p:blipFill>
          <a:blip r:embed="rId9"/>
          <a:stretch>
            <a:fillRect/>
          </a:stretch>
        </p:blipFill>
        <p:spPr>
          <a:xfrm>
            <a:off x="269265" y="1953658"/>
            <a:ext cx="3576549" cy="860443"/>
          </a:xfrm>
          <a:prstGeom prst="rect">
            <a:avLst/>
          </a:prstGeom>
        </p:spPr>
      </p:pic>
      <p:pic>
        <p:nvPicPr>
          <p:cNvPr id="11" name="Image 8" descr="preencoded.png">    </p:cNvPr>
          <p:cNvPicPr>
            <a:picLocks noChangeAspect="1"/>
          </p:cNvPicPr>
          <p:nvPr/>
        </p:nvPicPr>
        <p:blipFill>
          <a:blip r:embed="rId10"/>
          <a:stretch>
            <a:fillRect/>
          </a:stretch>
        </p:blipFill>
        <p:spPr>
          <a:xfrm>
            <a:off x="269265" y="2547031"/>
            <a:ext cx="3576549" cy="265160"/>
          </a:xfrm>
          <a:prstGeom prst="rect">
            <a:avLst/>
          </a:prstGeom>
        </p:spPr>
      </p:pic>
      <p:pic>
        <p:nvPicPr>
          <p:cNvPr id="12" name="Image 9" descr="preencoded.png">    </p:cNvPr>
          <p:cNvPicPr>
            <a:picLocks noChangeAspect="1"/>
          </p:cNvPicPr>
          <p:nvPr/>
        </p:nvPicPr>
        <p:blipFill>
          <a:blip r:embed="rId11"/>
          <a:stretch>
            <a:fillRect/>
          </a:stretch>
        </p:blipFill>
        <p:spPr>
          <a:xfrm>
            <a:off x="387983" y="1984105"/>
            <a:ext cx="382277" cy="92251"/>
          </a:xfrm>
          <a:prstGeom prst="rect">
            <a:avLst/>
          </a:prstGeom>
        </p:spPr>
      </p:pic>
      <p:pic>
        <p:nvPicPr>
          <p:cNvPr id="13" name="Image 10" descr="preencoded.png">    </p:cNvPr>
          <p:cNvPicPr>
            <a:picLocks noChangeAspect="1"/>
          </p:cNvPicPr>
          <p:nvPr/>
        </p:nvPicPr>
        <p:blipFill>
          <a:blip r:embed="rId12">
            <a:alphaModFix amt="40000"/>
          </a:blip>
          <a:stretch>
            <a:fillRect/>
          </a:stretch>
        </p:blipFill>
        <p:spPr>
          <a:xfrm>
            <a:off x="532887" y="1984105"/>
            <a:ext cx="382277" cy="92251"/>
          </a:xfrm>
          <a:prstGeom prst="rect">
            <a:avLst/>
          </a:prstGeom>
        </p:spPr>
      </p:pic>
      <p:pic>
        <p:nvPicPr>
          <p:cNvPr id="14" name="Image 11" descr="preencoded.png">    </p:cNvPr>
          <p:cNvPicPr>
            <a:picLocks noChangeAspect="1"/>
          </p:cNvPicPr>
          <p:nvPr/>
        </p:nvPicPr>
        <p:blipFill>
          <a:blip r:embed="rId13"/>
          <a:stretch>
            <a:fillRect/>
          </a:stretch>
        </p:blipFill>
        <p:spPr>
          <a:xfrm>
            <a:off x="269265" y="2950644"/>
            <a:ext cx="3576549" cy="860443"/>
          </a:xfrm>
          <a:prstGeom prst="rect">
            <a:avLst/>
          </a:prstGeom>
        </p:spPr>
      </p:pic>
      <p:pic>
        <p:nvPicPr>
          <p:cNvPr id="15" name="Image 12" descr="preencoded.png">    </p:cNvPr>
          <p:cNvPicPr>
            <a:picLocks noChangeAspect="1"/>
          </p:cNvPicPr>
          <p:nvPr/>
        </p:nvPicPr>
        <p:blipFill>
          <a:blip r:embed="rId14"/>
          <a:stretch>
            <a:fillRect/>
          </a:stretch>
        </p:blipFill>
        <p:spPr>
          <a:xfrm>
            <a:off x="269265" y="3544017"/>
            <a:ext cx="3576549" cy="265160"/>
          </a:xfrm>
          <a:prstGeom prst="rect">
            <a:avLst/>
          </a:prstGeom>
        </p:spPr>
      </p:pic>
      <p:pic>
        <p:nvPicPr>
          <p:cNvPr id="16" name="Image 13" descr="preencoded.png">    </p:cNvPr>
          <p:cNvPicPr>
            <a:picLocks noChangeAspect="1"/>
          </p:cNvPicPr>
          <p:nvPr/>
        </p:nvPicPr>
        <p:blipFill>
          <a:blip r:embed="rId15"/>
          <a:stretch>
            <a:fillRect/>
          </a:stretch>
        </p:blipFill>
        <p:spPr>
          <a:xfrm>
            <a:off x="387983" y="2981090"/>
            <a:ext cx="382277" cy="92251"/>
          </a:xfrm>
          <a:prstGeom prst="rect">
            <a:avLst/>
          </a:prstGeom>
        </p:spPr>
      </p:pic>
      <p:pic>
        <p:nvPicPr>
          <p:cNvPr id="17" name="Image 14" descr="preencoded.png">    </p:cNvPr>
          <p:cNvPicPr>
            <a:picLocks noChangeAspect="1"/>
          </p:cNvPicPr>
          <p:nvPr/>
        </p:nvPicPr>
        <p:blipFill>
          <a:blip r:embed="rId16">
            <a:alphaModFix amt="40000"/>
          </a:blip>
          <a:stretch>
            <a:fillRect/>
          </a:stretch>
        </p:blipFill>
        <p:spPr>
          <a:xfrm>
            <a:off x="532887" y="2981090"/>
            <a:ext cx="382277" cy="92251"/>
          </a:xfrm>
          <a:prstGeom prst="rect">
            <a:avLst/>
          </a:prstGeom>
        </p:spPr>
      </p:pic>
      <p:pic>
        <p:nvPicPr>
          <p:cNvPr id="18" name="Image 15" descr="preencoded.png">    </p:cNvPr>
          <p:cNvPicPr>
            <a:picLocks noChangeAspect="1"/>
          </p:cNvPicPr>
          <p:nvPr/>
        </p:nvPicPr>
        <p:blipFill>
          <a:blip r:embed="rId17"/>
          <a:stretch>
            <a:fillRect/>
          </a:stretch>
        </p:blipFill>
        <p:spPr>
          <a:xfrm>
            <a:off x="269265" y="3980319"/>
            <a:ext cx="3576549" cy="860443"/>
          </a:xfrm>
          <a:prstGeom prst="rect">
            <a:avLst/>
          </a:prstGeom>
        </p:spPr>
      </p:pic>
      <p:pic>
        <p:nvPicPr>
          <p:cNvPr id="19" name="Image 16" descr="preencoded.png">    </p:cNvPr>
          <p:cNvPicPr>
            <a:picLocks noChangeAspect="1"/>
          </p:cNvPicPr>
          <p:nvPr/>
        </p:nvPicPr>
        <p:blipFill>
          <a:blip r:embed="rId18"/>
          <a:stretch>
            <a:fillRect/>
          </a:stretch>
        </p:blipFill>
        <p:spPr>
          <a:xfrm>
            <a:off x="269265" y="4573693"/>
            <a:ext cx="3576549" cy="265160"/>
          </a:xfrm>
          <a:prstGeom prst="rect">
            <a:avLst/>
          </a:prstGeom>
        </p:spPr>
      </p:pic>
      <p:pic>
        <p:nvPicPr>
          <p:cNvPr id="20" name="Image 17" descr="preencoded.png">    </p:cNvPr>
          <p:cNvPicPr>
            <a:picLocks noChangeAspect="1"/>
          </p:cNvPicPr>
          <p:nvPr/>
        </p:nvPicPr>
        <p:blipFill>
          <a:blip r:embed="rId19"/>
          <a:stretch>
            <a:fillRect/>
          </a:stretch>
        </p:blipFill>
        <p:spPr>
          <a:xfrm>
            <a:off x="387983" y="4010766"/>
            <a:ext cx="382277" cy="92251"/>
          </a:xfrm>
          <a:prstGeom prst="rect">
            <a:avLst/>
          </a:prstGeom>
        </p:spPr>
      </p:pic>
      <p:pic>
        <p:nvPicPr>
          <p:cNvPr id="21" name="Image 18" descr="preencoded.png">    </p:cNvPr>
          <p:cNvPicPr>
            <a:picLocks noChangeAspect="1"/>
          </p:cNvPicPr>
          <p:nvPr/>
        </p:nvPicPr>
        <p:blipFill>
          <a:blip r:embed="rId20">
            <a:alphaModFix amt="40000"/>
          </a:blip>
          <a:stretch>
            <a:fillRect/>
          </a:stretch>
        </p:blipFill>
        <p:spPr>
          <a:xfrm>
            <a:off x="532887" y="4010766"/>
            <a:ext cx="382277" cy="92251"/>
          </a:xfrm>
          <a:prstGeom prst="rect">
            <a:avLst/>
          </a:prstGeom>
        </p:spPr>
      </p:pic>
      <p:sp>
        <p:nvSpPr>
          <p:cNvPr id="22" name="Text 1"/>
          <p:cNvSpPr/>
          <p:nvPr/>
        </p:nvSpPr>
        <p:spPr>
          <a:xfrm>
            <a:off x="343556" y="1574667"/>
            <a:ext cx="3427968" cy="267070"/>
          </a:xfrm>
          <a:prstGeom prst="rect">
            <a:avLst/>
          </a:prstGeom>
          <a:noFill/>
          <a:ln/>
        </p:spPr>
        <p:txBody>
          <a:bodyPr wrap="square" lIns="95250" tIns="95250" rIns="95250" bIns="95250" rtlCol="0" anchor="ctr"/>
          <a:lstStyle/>
          <a:p>
            <a:pPr algn="ctr" indent="0" marL="0">
              <a:lnSpc>
                <a:spcPct val="100000"/>
              </a:lnSpc>
              <a:spcBef>
                <a:spcPts val="375"/>
              </a:spcBef>
              <a:buNone/>
            </a:pPr>
            <a:r>
              <a:rPr lang="en-US" sz="1296" b="1" dirty="0">
                <a:solidFill>
                  <a:srgbClr val="FFFFFF"/>
                </a:solidFill>
                <a:latin typeface="Noto Sans" pitchFamily="34" charset="0"/>
                <a:ea typeface="Noto Sans" pitchFamily="34" charset="-122"/>
                <a:cs typeface="Noto Sans" pitchFamily="34" charset="-120"/>
              </a:rPr>
              <a:t>Central Hub</a:t>
            </a:r>
            <a:endParaRPr lang="en-US" sz="1440" dirty="0"/>
          </a:p>
        </p:txBody>
      </p:sp>
      <p:sp>
        <p:nvSpPr>
          <p:cNvPr id="23" name="Text 2"/>
          <p:cNvSpPr/>
          <p:nvPr/>
        </p:nvSpPr>
        <p:spPr>
          <a:xfrm>
            <a:off x="347894" y="1088587"/>
            <a:ext cx="3419291" cy="393192"/>
          </a:xfrm>
          <a:prstGeom prst="rect">
            <a:avLst/>
          </a:prstGeom>
          <a:noFill/>
          <a:ln/>
        </p:spPr>
        <p:txBody>
          <a:bodyPr wrap="square" lIns="95250" tIns="95250" rIns="95250" bIns="95250" rtlCol="0" anchor="t">
            <a:spAutoFit/>
          </a:bodyPr>
          <a:lstStyle/>
          <a:p>
            <a:pPr marL="160020" indent="-160020">
              <a:lnSpc>
                <a:spcPct val="1000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NurseryHub coordinates communication</a:t>
            </a:r>
            <a:endParaRPr lang="en-US" sz="1440" dirty="0"/>
          </a:p>
        </p:txBody>
      </p:sp>
      <p:sp>
        <p:nvSpPr>
          <p:cNvPr id="24" name="Text 3"/>
          <p:cNvSpPr/>
          <p:nvPr/>
        </p:nvSpPr>
        <p:spPr>
          <a:xfrm>
            <a:off x="343556" y="2547031"/>
            <a:ext cx="3427968" cy="267070"/>
          </a:xfrm>
          <a:prstGeom prst="rect">
            <a:avLst/>
          </a:prstGeom>
          <a:noFill/>
          <a:ln/>
        </p:spPr>
        <p:txBody>
          <a:bodyPr wrap="square" lIns="95250" tIns="95250" rIns="95250" bIns="95250" rtlCol="0" anchor="ctr"/>
          <a:lstStyle/>
          <a:p>
            <a:pPr algn="ctr" indent="0" marL="0">
              <a:lnSpc>
                <a:spcPct val="100000"/>
              </a:lnSpc>
              <a:spcBef>
                <a:spcPts val="375"/>
              </a:spcBef>
              <a:buNone/>
            </a:pPr>
            <a:r>
              <a:rPr lang="en-US" sz="1296" b="1" dirty="0">
                <a:solidFill>
                  <a:srgbClr val="FFFFFF"/>
                </a:solidFill>
                <a:latin typeface="Noto Sans" pitchFamily="34" charset="0"/>
                <a:ea typeface="Noto Sans" pitchFamily="34" charset="-122"/>
                <a:cs typeface="Noto Sans" pitchFamily="34" charset="-120"/>
              </a:rPr>
              <a:t>Reduces Coupling</a:t>
            </a:r>
            <a:endParaRPr lang="en-US" sz="1440" dirty="0"/>
          </a:p>
        </p:txBody>
      </p:sp>
      <p:sp>
        <p:nvSpPr>
          <p:cNvPr id="25" name="Text 4"/>
          <p:cNvSpPr/>
          <p:nvPr/>
        </p:nvSpPr>
        <p:spPr>
          <a:xfrm>
            <a:off x="347894" y="2060952"/>
            <a:ext cx="3419291" cy="393192"/>
          </a:xfrm>
          <a:prstGeom prst="rect">
            <a:avLst/>
          </a:prstGeom>
          <a:noFill/>
          <a:ln/>
        </p:spPr>
        <p:txBody>
          <a:bodyPr wrap="square" lIns="95250" tIns="95250" rIns="95250" bIns="95250" rtlCol="0" anchor="t">
            <a:spAutoFit/>
          </a:bodyPr>
          <a:lstStyle/>
          <a:p>
            <a:pPr marL="160020" indent="-160020">
              <a:lnSpc>
                <a:spcPct val="1000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Staff interact through mediator</a:t>
            </a:r>
            <a:endParaRPr lang="en-US" sz="1440" dirty="0"/>
          </a:p>
        </p:txBody>
      </p:sp>
      <p:sp>
        <p:nvSpPr>
          <p:cNvPr id="26" name="Text 5"/>
          <p:cNvSpPr/>
          <p:nvPr/>
        </p:nvSpPr>
        <p:spPr>
          <a:xfrm>
            <a:off x="343556" y="3544017"/>
            <a:ext cx="3427968" cy="267070"/>
          </a:xfrm>
          <a:prstGeom prst="rect">
            <a:avLst/>
          </a:prstGeom>
          <a:noFill/>
          <a:ln/>
        </p:spPr>
        <p:txBody>
          <a:bodyPr wrap="square" lIns="95250" tIns="95250" rIns="95250" bIns="95250" rtlCol="0" anchor="ctr"/>
          <a:lstStyle/>
          <a:p>
            <a:pPr algn="ctr" indent="0" marL="0">
              <a:lnSpc>
                <a:spcPct val="100000"/>
              </a:lnSpc>
              <a:spcBef>
                <a:spcPts val="375"/>
              </a:spcBef>
              <a:buNone/>
            </a:pPr>
            <a:r>
              <a:rPr lang="en-US" sz="1296" b="1" dirty="0">
                <a:solidFill>
                  <a:srgbClr val="FFFFFF"/>
                </a:solidFill>
                <a:latin typeface="Noto Sans" pitchFamily="34" charset="0"/>
                <a:ea typeface="Noto Sans" pitchFamily="34" charset="-122"/>
                <a:cs typeface="Noto Sans" pitchFamily="34" charset="-120"/>
              </a:rPr>
              <a:t>Key Classes</a:t>
            </a:r>
            <a:endParaRPr lang="en-US" sz="1440" dirty="0"/>
          </a:p>
        </p:txBody>
      </p:sp>
      <p:sp>
        <p:nvSpPr>
          <p:cNvPr id="27" name="Text 6"/>
          <p:cNvSpPr/>
          <p:nvPr/>
        </p:nvSpPr>
        <p:spPr>
          <a:xfrm>
            <a:off x="347894" y="2981090"/>
            <a:ext cx="3419291" cy="603504"/>
          </a:xfrm>
          <a:prstGeom prst="rect">
            <a:avLst/>
          </a:prstGeom>
          <a:noFill/>
          <a:ln/>
        </p:spPr>
        <p:txBody>
          <a:bodyPr wrap="square" lIns="95250" tIns="95250" rIns="95250" bIns="95250" rtlCol="0" anchor="t">
            <a:spAutoFit/>
          </a:bodyPr>
          <a:lstStyle/>
          <a:p>
            <a:pPr marL="160020" indent="-160020">
              <a:lnSpc>
                <a:spcPct val="1000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NurseryHub, NurseryMediator, PlantCaretaker, SalesManager, Customer, GreenHousePlant</a:t>
            </a:r>
            <a:endParaRPr lang="en-US" sz="1440" dirty="0"/>
          </a:p>
        </p:txBody>
      </p:sp>
      <p:sp>
        <p:nvSpPr>
          <p:cNvPr id="28" name="Text 7"/>
          <p:cNvSpPr/>
          <p:nvPr/>
        </p:nvSpPr>
        <p:spPr>
          <a:xfrm>
            <a:off x="343556" y="4573693"/>
            <a:ext cx="3427968" cy="267070"/>
          </a:xfrm>
          <a:prstGeom prst="rect">
            <a:avLst/>
          </a:prstGeom>
          <a:noFill/>
          <a:ln/>
        </p:spPr>
        <p:txBody>
          <a:bodyPr wrap="square" lIns="95250" tIns="95250" rIns="95250" bIns="95250" rtlCol="0" anchor="ctr"/>
          <a:lstStyle/>
          <a:p>
            <a:pPr algn="ctr" indent="0" marL="0">
              <a:lnSpc>
                <a:spcPct val="100000"/>
              </a:lnSpc>
              <a:spcBef>
                <a:spcPts val="375"/>
              </a:spcBef>
              <a:buNone/>
            </a:pPr>
            <a:r>
              <a:rPr lang="en-US" sz="1296" b="1" dirty="0">
                <a:solidFill>
                  <a:srgbClr val="FFFFFF"/>
                </a:solidFill>
                <a:latin typeface="Noto Sans" pitchFamily="34" charset="0"/>
                <a:ea typeface="Noto Sans" pitchFamily="34" charset="-122"/>
                <a:cs typeface="Noto Sans" pitchFamily="34" charset="-120"/>
              </a:rPr>
              <a:t>Benefits</a:t>
            </a:r>
            <a:endParaRPr lang="en-US" sz="1440" dirty="0"/>
          </a:p>
        </p:txBody>
      </p:sp>
      <p:sp>
        <p:nvSpPr>
          <p:cNvPr id="29" name="Text 8"/>
          <p:cNvSpPr/>
          <p:nvPr/>
        </p:nvSpPr>
        <p:spPr>
          <a:xfrm>
            <a:off x="347894" y="4087613"/>
            <a:ext cx="3419291" cy="393192"/>
          </a:xfrm>
          <a:prstGeom prst="rect">
            <a:avLst/>
          </a:prstGeom>
          <a:noFill/>
          <a:ln/>
        </p:spPr>
        <p:txBody>
          <a:bodyPr wrap="square" lIns="95250" tIns="95250" rIns="95250" bIns="95250" rtlCol="0" anchor="t">
            <a:spAutoFit/>
          </a:bodyPr>
          <a:lstStyle/>
          <a:p>
            <a:pPr marL="160020" indent="-160020">
              <a:lnSpc>
                <a:spcPct val="1000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Cleaner interactions between components</a:t>
            </a:r>
            <a:endParaRPr lang="en-US" sz="1440" dirty="0"/>
          </a:p>
        </p:txBody>
      </p:sp>
      <p:pic>
        <p:nvPicPr>
          <p:cNvPr id="30" name="Image 19" descr="https://oceandoc-ai.obs.ap-southeast-3.myhuaweicloud.com/176218225639393/8842582e-49e9-47ee-9880-9e0eecf2f353/1762208740072/Mediator.png">    </p:cNvPr>
          <p:cNvPicPr>
            <a:picLocks noChangeAspect="1"/>
          </p:cNvPicPr>
          <p:nvPr/>
        </p:nvPicPr>
        <p:blipFill>
          <a:blip r:embed="rId21"/>
          <a:stretch>
            <a:fillRect/>
          </a:stretch>
        </p:blipFill>
        <p:spPr>
          <a:xfrm>
            <a:off x="3969732" y="708692"/>
            <a:ext cx="4997575" cy="4210817"/>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5078" y="67884"/>
            <a:ext cx="8005161" cy="566928"/>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Command Pattern for Tasks</a:t>
            </a:r>
            <a:endParaRPr lang="en-US" sz="1440" dirty="0"/>
          </a:p>
        </p:txBody>
      </p:sp>
      <p:pic>
        <p:nvPicPr>
          <p:cNvPr id="3" name="Image 0" descr="preencoded.png">    </p:cNvPr>
          <p:cNvPicPr>
            <a:picLocks noChangeAspect="1"/>
          </p:cNvPicPr>
          <p:nvPr/>
        </p:nvPicPr>
        <p:blipFill>
          <a:blip r:embed="rId2"/>
          <a:stretch>
            <a:fillRect/>
          </a:stretch>
        </p:blipFill>
        <p:spPr>
          <a:xfrm>
            <a:off x="201357" y="244913"/>
            <a:ext cx="616423" cy="231159"/>
          </a:xfrm>
          <a:prstGeom prst="rect">
            <a:avLst/>
          </a:prstGeom>
        </p:spPr>
      </p:pic>
      <p:pic>
        <p:nvPicPr>
          <p:cNvPr id="4" name="Image 1" descr="preencoded.png">    </p:cNvPr>
          <p:cNvPicPr>
            <a:picLocks noChangeAspect="1"/>
          </p:cNvPicPr>
          <p:nvPr/>
        </p:nvPicPr>
        <p:blipFill>
          <a:blip r:embed="rId3"/>
          <a:stretch>
            <a:fillRect/>
          </a:stretch>
        </p:blipFill>
        <p:spPr>
          <a:xfrm>
            <a:off x="201357" y="244913"/>
            <a:ext cx="616423" cy="231159"/>
          </a:xfrm>
          <a:prstGeom prst="rect">
            <a:avLst/>
          </a:prstGeom>
        </p:spPr>
      </p:pic>
      <p:pic>
        <p:nvPicPr>
          <p:cNvPr id="5" name="Image 2" descr="preencoded.png">    </p:cNvPr>
          <p:cNvPicPr>
            <a:picLocks noChangeAspect="1"/>
          </p:cNvPicPr>
          <p:nvPr/>
        </p:nvPicPr>
        <p:blipFill>
          <a:blip r:embed="rId4"/>
          <a:stretch>
            <a:fillRect/>
          </a:stretch>
        </p:blipFill>
        <p:spPr>
          <a:xfrm>
            <a:off x="201357" y="244913"/>
            <a:ext cx="616423" cy="231159"/>
          </a:xfrm>
          <a:prstGeom prst="rect">
            <a:avLst/>
          </a:prstGeom>
        </p:spPr>
      </p:pic>
      <p:pic>
        <p:nvPicPr>
          <p:cNvPr id="6" name="Image 3" descr="preencoded.png">    </p:cNvPr>
          <p:cNvPicPr>
            <a:picLocks noChangeAspect="1"/>
          </p:cNvPicPr>
          <p:nvPr/>
        </p:nvPicPr>
        <p:blipFill>
          <a:blip r:embed="rId5"/>
          <a:stretch>
            <a:fillRect/>
          </a:stretch>
        </p:blipFill>
        <p:spPr>
          <a:xfrm>
            <a:off x="84492" y="874890"/>
            <a:ext cx="2770049" cy="790366"/>
          </a:xfrm>
          <a:prstGeom prst="rect">
            <a:avLst/>
          </a:prstGeom>
        </p:spPr>
      </p:pic>
      <p:sp>
        <p:nvSpPr>
          <p:cNvPr id="7" name="Shape 1"/>
          <p:cNvSpPr/>
          <p:nvPr/>
        </p:nvSpPr>
        <p:spPr>
          <a:xfrm>
            <a:off x="117069" y="909234"/>
            <a:ext cx="392531" cy="402420"/>
          </a:xfrm>
          <a:custGeom>
            <a:avLst/>
            <a:gdLst/>
            <a:ahLst/>
            <a:cxnLst/>
            <a:rect l="l" t="t" r="r" b="b"/>
            <a:pathLst>
              <a:path w="392531" h="402420">
                <a:moveTo>
                  <a:pt x="196265" y="0"/>
                </a:moveTo>
                <a:moveTo>
                  <a:pt x="196265" y="0"/>
                </a:moveTo>
                <a:cubicBezTo>
                  <a:pt x="304587" y="0"/>
                  <a:pt x="392531" y="90159"/>
                  <a:pt x="392531" y="201210"/>
                </a:cubicBezTo>
                <a:cubicBezTo>
                  <a:pt x="392531" y="312261"/>
                  <a:pt x="304587" y="402420"/>
                  <a:pt x="196265" y="402420"/>
                </a:cubicBezTo>
                <a:cubicBezTo>
                  <a:pt x="87944" y="402420"/>
                  <a:pt x="0" y="312261"/>
                  <a:pt x="0" y="201210"/>
                </a:cubicBezTo>
                <a:cubicBezTo>
                  <a:pt x="0" y="90159"/>
                  <a:pt x="87944" y="0"/>
                  <a:pt x="196265" y="0"/>
                </a:cubicBezTo>
                <a:close/>
              </a:path>
            </a:pathLst>
          </a:custGeom>
          <a:solidFill>
            <a:srgbClr val="282055"/>
          </a:solidFill>
          <a:ln/>
        </p:spPr>
      </p:sp>
      <p:sp>
        <p:nvSpPr>
          <p:cNvPr id="8" name="Text 2"/>
          <p:cNvSpPr/>
          <p:nvPr/>
        </p:nvSpPr>
        <p:spPr>
          <a:xfrm>
            <a:off x="-1848" y="840697"/>
            <a:ext cx="630364" cy="539496"/>
          </a:xfrm>
          <a:prstGeom prst="rect">
            <a:avLst/>
          </a:prstGeom>
          <a:noFill/>
          <a:ln/>
        </p:spPr>
        <p:txBody>
          <a:bodyPr wrap="square" lIns="95250" tIns="95250" rIns="95250" bIns="95250" rtlCol="0" anchor="t">
            <a:spAutoFit/>
          </a:bodyPr>
          <a:lstStyle/>
          <a:p>
            <a:pPr algn="ctr" indent="0" marL="0">
              <a:lnSpc>
                <a:spcPct val="112500"/>
              </a:lnSpc>
              <a:spcBef>
                <a:spcPts val="375"/>
              </a:spcBef>
              <a:buNone/>
            </a:pPr>
            <a:r>
              <a:rPr lang="en-US" sz="1872" b="1" dirty="0">
                <a:solidFill>
                  <a:srgbClr val="6764FB"/>
                </a:solidFill>
                <a:latin typeface="Noto Sans" pitchFamily="34" charset="0"/>
                <a:ea typeface="Noto Sans" pitchFamily="34" charset="-122"/>
                <a:cs typeface="Noto Sans" pitchFamily="34" charset="-120"/>
              </a:rPr>
              <a:t>1</a:t>
            </a:r>
            <a:endParaRPr lang="en-US" sz="1440" dirty="0"/>
          </a:p>
        </p:txBody>
      </p:sp>
      <p:pic>
        <p:nvPicPr>
          <p:cNvPr id="9" name="Image 4" descr="preencoded.png">    </p:cNvPr>
          <p:cNvPicPr>
            <a:picLocks noChangeAspect="1"/>
          </p:cNvPicPr>
          <p:nvPr/>
        </p:nvPicPr>
        <p:blipFill>
          <a:blip r:embed="rId6"/>
          <a:stretch>
            <a:fillRect/>
          </a:stretch>
        </p:blipFill>
        <p:spPr>
          <a:xfrm>
            <a:off x="84492" y="1883373"/>
            <a:ext cx="2770049" cy="790366"/>
          </a:xfrm>
          <a:prstGeom prst="rect">
            <a:avLst/>
          </a:prstGeom>
        </p:spPr>
      </p:pic>
      <p:sp>
        <p:nvSpPr>
          <p:cNvPr id="10" name="Shape 3"/>
          <p:cNvSpPr/>
          <p:nvPr/>
        </p:nvSpPr>
        <p:spPr>
          <a:xfrm>
            <a:off x="117069" y="1917717"/>
            <a:ext cx="392531" cy="402420"/>
          </a:xfrm>
          <a:custGeom>
            <a:avLst/>
            <a:gdLst/>
            <a:ahLst/>
            <a:cxnLst/>
            <a:rect l="l" t="t" r="r" b="b"/>
            <a:pathLst>
              <a:path w="392531" h="402420">
                <a:moveTo>
                  <a:pt x="196265" y="0"/>
                </a:moveTo>
                <a:moveTo>
                  <a:pt x="196265" y="0"/>
                </a:moveTo>
                <a:cubicBezTo>
                  <a:pt x="304587" y="0"/>
                  <a:pt x="392531" y="90159"/>
                  <a:pt x="392531" y="201210"/>
                </a:cubicBezTo>
                <a:cubicBezTo>
                  <a:pt x="392531" y="312261"/>
                  <a:pt x="304587" y="402420"/>
                  <a:pt x="196265" y="402420"/>
                </a:cubicBezTo>
                <a:cubicBezTo>
                  <a:pt x="87944" y="402420"/>
                  <a:pt x="0" y="312261"/>
                  <a:pt x="0" y="201210"/>
                </a:cubicBezTo>
                <a:cubicBezTo>
                  <a:pt x="0" y="90159"/>
                  <a:pt x="87944" y="0"/>
                  <a:pt x="196265" y="0"/>
                </a:cubicBezTo>
                <a:close/>
              </a:path>
            </a:pathLst>
          </a:custGeom>
          <a:solidFill>
            <a:srgbClr val="282055"/>
          </a:solidFill>
          <a:ln/>
        </p:spPr>
      </p:sp>
      <p:sp>
        <p:nvSpPr>
          <p:cNvPr id="11" name="Text 4"/>
          <p:cNvSpPr/>
          <p:nvPr/>
        </p:nvSpPr>
        <p:spPr>
          <a:xfrm>
            <a:off x="-1848" y="1849179"/>
            <a:ext cx="630364" cy="539496"/>
          </a:xfrm>
          <a:prstGeom prst="rect">
            <a:avLst/>
          </a:prstGeom>
          <a:noFill/>
          <a:ln/>
        </p:spPr>
        <p:txBody>
          <a:bodyPr wrap="square" lIns="95250" tIns="95250" rIns="95250" bIns="95250" rtlCol="0" anchor="t">
            <a:spAutoFit/>
          </a:bodyPr>
          <a:lstStyle/>
          <a:p>
            <a:pPr algn="ctr" indent="0" marL="0">
              <a:lnSpc>
                <a:spcPct val="112500"/>
              </a:lnSpc>
              <a:spcBef>
                <a:spcPts val="375"/>
              </a:spcBef>
              <a:buNone/>
            </a:pPr>
            <a:r>
              <a:rPr lang="en-US" sz="1872" b="1" dirty="0">
                <a:solidFill>
                  <a:srgbClr val="6764FB"/>
                </a:solidFill>
                <a:latin typeface="Noto Sans" pitchFamily="34" charset="0"/>
                <a:ea typeface="Noto Sans" pitchFamily="34" charset="-122"/>
                <a:cs typeface="Noto Sans" pitchFamily="34" charset="-120"/>
              </a:rPr>
              <a:t>2</a:t>
            </a:r>
            <a:endParaRPr lang="en-US" sz="1440" dirty="0"/>
          </a:p>
        </p:txBody>
      </p:sp>
      <p:pic>
        <p:nvPicPr>
          <p:cNvPr id="12" name="Image 5" descr="preencoded.png">    </p:cNvPr>
          <p:cNvPicPr>
            <a:picLocks noChangeAspect="1"/>
          </p:cNvPicPr>
          <p:nvPr/>
        </p:nvPicPr>
        <p:blipFill>
          <a:blip r:embed="rId7"/>
          <a:stretch>
            <a:fillRect/>
          </a:stretch>
        </p:blipFill>
        <p:spPr>
          <a:xfrm>
            <a:off x="106312" y="2869062"/>
            <a:ext cx="2770049" cy="790366"/>
          </a:xfrm>
          <a:prstGeom prst="rect">
            <a:avLst/>
          </a:prstGeom>
        </p:spPr>
      </p:pic>
      <p:sp>
        <p:nvSpPr>
          <p:cNvPr id="13" name="Shape 5"/>
          <p:cNvSpPr/>
          <p:nvPr/>
        </p:nvSpPr>
        <p:spPr>
          <a:xfrm>
            <a:off x="138889" y="2903406"/>
            <a:ext cx="392531" cy="402420"/>
          </a:xfrm>
          <a:custGeom>
            <a:avLst/>
            <a:gdLst/>
            <a:ahLst/>
            <a:cxnLst/>
            <a:rect l="l" t="t" r="r" b="b"/>
            <a:pathLst>
              <a:path w="392531" h="402420">
                <a:moveTo>
                  <a:pt x="196265" y="0"/>
                </a:moveTo>
                <a:moveTo>
                  <a:pt x="196265" y="0"/>
                </a:moveTo>
                <a:cubicBezTo>
                  <a:pt x="304587" y="0"/>
                  <a:pt x="392531" y="90159"/>
                  <a:pt x="392531" y="201210"/>
                </a:cubicBezTo>
                <a:cubicBezTo>
                  <a:pt x="392531" y="312261"/>
                  <a:pt x="304587" y="402420"/>
                  <a:pt x="196265" y="402420"/>
                </a:cubicBezTo>
                <a:cubicBezTo>
                  <a:pt x="87944" y="402420"/>
                  <a:pt x="0" y="312261"/>
                  <a:pt x="0" y="201210"/>
                </a:cubicBezTo>
                <a:cubicBezTo>
                  <a:pt x="0" y="90159"/>
                  <a:pt x="87944" y="0"/>
                  <a:pt x="196265" y="0"/>
                </a:cubicBezTo>
                <a:close/>
              </a:path>
            </a:pathLst>
          </a:custGeom>
          <a:solidFill>
            <a:srgbClr val="282055"/>
          </a:solidFill>
          <a:ln/>
        </p:spPr>
      </p:sp>
      <p:sp>
        <p:nvSpPr>
          <p:cNvPr id="14" name="Text 6"/>
          <p:cNvSpPr/>
          <p:nvPr/>
        </p:nvSpPr>
        <p:spPr>
          <a:xfrm>
            <a:off x="-1848" y="2834868"/>
            <a:ext cx="630364" cy="539496"/>
          </a:xfrm>
          <a:prstGeom prst="rect">
            <a:avLst/>
          </a:prstGeom>
          <a:noFill/>
          <a:ln/>
        </p:spPr>
        <p:txBody>
          <a:bodyPr wrap="square" lIns="95250" tIns="95250" rIns="95250" bIns="95250" rtlCol="0" anchor="t">
            <a:spAutoFit/>
          </a:bodyPr>
          <a:lstStyle/>
          <a:p>
            <a:pPr algn="ctr" indent="0" marL="0">
              <a:lnSpc>
                <a:spcPct val="112500"/>
              </a:lnSpc>
              <a:spcBef>
                <a:spcPts val="375"/>
              </a:spcBef>
              <a:buNone/>
            </a:pPr>
            <a:r>
              <a:rPr lang="en-US" sz="1872" b="1" dirty="0">
                <a:solidFill>
                  <a:srgbClr val="6764FB"/>
                </a:solidFill>
                <a:latin typeface="Noto Sans" pitchFamily="34" charset="0"/>
                <a:ea typeface="Noto Sans" pitchFamily="34" charset="-122"/>
                <a:cs typeface="Noto Sans" pitchFamily="34" charset="-120"/>
              </a:rPr>
              <a:t>3</a:t>
            </a:r>
            <a:endParaRPr lang="en-US" sz="1440" dirty="0"/>
          </a:p>
        </p:txBody>
      </p:sp>
      <p:pic>
        <p:nvPicPr>
          <p:cNvPr id="15" name="Image 6" descr="preencoded.png">    </p:cNvPr>
          <p:cNvPicPr>
            <a:picLocks noChangeAspect="1"/>
          </p:cNvPicPr>
          <p:nvPr/>
        </p:nvPicPr>
        <p:blipFill>
          <a:blip r:embed="rId8"/>
          <a:stretch>
            <a:fillRect/>
          </a:stretch>
        </p:blipFill>
        <p:spPr>
          <a:xfrm>
            <a:off x="106312" y="3829336"/>
            <a:ext cx="2770049" cy="790366"/>
          </a:xfrm>
          <a:prstGeom prst="rect">
            <a:avLst/>
          </a:prstGeom>
        </p:spPr>
      </p:pic>
      <p:sp>
        <p:nvSpPr>
          <p:cNvPr id="16" name="Shape 7"/>
          <p:cNvSpPr/>
          <p:nvPr/>
        </p:nvSpPr>
        <p:spPr>
          <a:xfrm>
            <a:off x="138889" y="3863680"/>
            <a:ext cx="392531" cy="402420"/>
          </a:xfrm>
          <a:custGeom>
            <a:avLst/>
            <a:gdLst/>
            <a:ahLst/>
            <a:cxnLst/>
            <a:rect l="l" t="t" r="r" b="b"/>
            <a:pathLst>
              <a:path w="392531" h="402420">
                <a:moveTo>
                  <a:pt x="196265" y="0"/>
                </a:moveTo>
                <a:moveTo>
                  <a:pt x="196265" y="0"/>
                </a:moveTo>
                <a:cubicBezTo>
                  <a:pt x="304587" y="0"/>
                  <a:pt x="392531" y="90159"/>
                  <a:pt x="392531" y="201210"/>
                </a:cubicBezTo>
                <a:cubicBezTo>
                  <a:pt x="392531" y="312261"/>
                  <a:pt x="304587" y="402420"/>
                  <a:pt x="196265" y="402420"/>
                </a:cubicBezTo>
                <a:cubicBezTo>
                  <a:pt x="87944" y="402420"/>
                  <a:pt x="0" y="312261"/>
                  <a:pt x="0" y="201210"/>
                </a:cubicBezTo>
                <a:cubicBezTo>
                  <a:pt x="0" y="90159"/>
                  <a:pt x="87944" y="0"/>
                  <a:pt x="196265" y="0"/>
                </a:cubicBezTo>
                <a:close/>
              </a:path>
            </a:pathLst>
          </a:custGeom>
          <a:solidFill>
            <a:srgbClr val="282055"/>
          </a:solidFill>
          <a:ln/>
        </p:spPr>
      </p:sp>
      <p:sp>
        <p:nvSpPr>
          <p:cNvPr id="17" name="Text 8"/>
          <p:cNvSpPr/>
          <p:nvPr/>
        </p:nvSpPr>
        <p:spPr>
          <a:xfrm>
            <a:off x="-1848" y="3795142"/>
            <a:ext cx="630364" cy="539496"/>
          </a:xfrm>
          <a:prstGeom prst="rect">
            <a:avLst/>
          </a:prstGeom>
          <a:noFill/>
          <a:ln/>
        </p:spPr>
        <p:txBody>
          <a:bodyPr wrap="square" lIns="95250" tIns="95250" rIns="95250" bIns="95250" rtlCol="0" anchor="t">
            <a:spAutoFit/>
          </a:bodyPr>
          <a:lstStyle/>
          <a:p>
            <a:pPr algn="ctr" indent="0" marL="0">
              <a:lnSpc>
                <a:spcPct val="112500"/>
              </a:lnSpc>
              <a:spcBef>
                <a:spcPts val="375"/>
              </a:spcBef>
              <a:buNone/>
            </a:pPr>
            <a:r>
              <a:rPr lang="en-US" sz="1872" b="1" dirty="0">
                <a:solidFill>
                  <a:srgbClr val="6764FB"/>
                </a:solidFill>
                <a:latin typeface="Noto Sans" pitchFamily="34" charset="0"/>
                <a:ea typeface="Noto Sans" pitchFamily="34" charset="-122"/>
                <a:cs typeface="Noto Sans" pitchFamily="34" charset="-120"/>
              </a:rPr>
              <a:t>4</a:t>
            </a:r>
            <a:endParaRPr lang="en-US" sz="1440" dirty="0"/>
          </a:p>
        </p:txBody>
      </p:sp>
      <p:sp>
        <p:nvSpPr>
          <p:cNvPr id="18" name="Text 9"/>
          <p:cNvSpPr/>
          <p:nvPr/>
        </p:nvSpPr>
        <p:spPr>
          <a:xfrm>
            <a:off x="487748" y="904313"/>
            <a:ext cx="2778993" cy="365760"/>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296" b="1" dirty="0">
                <a:solidFill>
                  <a:srgbClr val="FFFFFF"/>
                </a:solidFill>
                <a:latin typeface="Noto Sans" pitchFamily="34" charset="0"/>
                <a:ea typeface="Noto Sans" pitchFamily="34" charset="-122"/>
                <a:cs typeface="Noto Sans" pitchFamily="34" charset="-120"/>
              </a:rPr>
              <a:t>Task Execution</a:t>
            </a:r>
            <a:endParaRPr lang="en-US" sz="1440" dirty="0"/>
          </a:p>
        </p:txBody>
      </p:sp>
      <p:sp>
        <p:nvSpPr>
          <p:cNvPr id="19" name="Text 10"/>
          <p:cNvSpPr/>
          <p:nvPr/>
        </p:nvSpPr>
        <p:spPr>
          <a:xfrm>
            <a:off x="221410" y="1231506"/>
            <a:ext cx="2778993" cy="365760"/>
          </a:xfrm>
          <a:prstGeom prst="rect">
            <a:avLst/>
          </a:prstGeom>
          <a:noFill/>
          <a:ln/>
        </p:spPr>
        <p:txBody>
          <a:bodyPr wrap="square" lIns="95250" tIns="95250" rIns="95250" bIns="95250" rtlCol="0" anchor="t">
            <a:spAutoFit/>
          </a:bodyPr>
          <a:lstStyle/>
          <a:p>
            <a:pPr marL="160020" indent="-160020">
              <a:lnSpc>
                <a:spcPct val="1000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Staff trigger commands</a:t>
            </a:r>
            <a:endParaRPr lang="en-US" sz="1440" dirty="0"/>
          </a:p>
        </p:txBody>
      </p:sp>
      <p:sp>
        <p:nvSpPr>
          <p:cNvPr id="20" name="Text 11"/>
          <p:cNvSpPr/>
          <p:nvPr/>
        </p:nvSpPr>
        <p:spPr>
          <a:xfrm>
            <a:off x="509568" y="1883373"/>
            <a:ext cx="2778993" cy="365760"/>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296" b="1" dirty="0">
                <a:solidFill>
                  <a:srgbClr val="FFFFFF"/>
                </a:solidFill>
                <a:latin typeface="Noto Sans" pitchFamily="34" charset="0"/>
                <a:ea typeface="Noto Sans" pitchFamily="34" charset="-122"/>
                <a:cs typeface="Noto Sans" pitchFamily="34" charset="-120"/>
              </a:rPr>
              <a:t>Key Classes</a:t>
            </a:r>
            <a:endParaRPr lang="en-US" sz="1440" dirty="0"/>
          </a:p>
        </p:txBody>
      </p:sp>
      <p:sp>
        <p:nvSpPr>
          <p:cNvPr id="21" name="Text 12"/>
          <p:cNvSpPr/>
          <p:nvPr/>
        </p:nvSpPr>
        <p:spPr>
          <a:xfrm>
            <a:off x="221410" y="2137258"/>
            <a:ext cx="2856074" cy="548640"/>
          </a:xfrm>
          <a:prstGeom prst="rect">
            <a:avLst/>
          </a:prstGeom>
          <a:noFill/>
          <a:ln/>
        </p:spPr>
        <p:txBody>
          <a:bodyPr wrap="square" lIns="95250" tIns="95250" rIns="95250" bIns="95250" rtlCol="0" anchor="t">
            <a:spAutoFit/>
          </a:bodyPr>
          <a:lstStyle/>
          <a:p>
            <a:pPr marL="160020" indent="-160020">
              <a:lnSpc>
                <a:spcPct val="1000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Staff, Command, WaterPlant, SellCommand, FertilizePlant</a:t>
            </a:r>
            <a:endParaRPr lang="en-US" sz="1440" dirty="0"/>
          </a:p>
        </p:txBody>
      </p:sp>
      <p:sp>
        <p:nvSpPr>
          <p:cNvPr id="22" name="Text 13"/>
          <p:cNvSpPr/>
          <p:nvPr/>
        </p:nvSpPr>
        <p:spPr>
          <a:xfrm>
            <a:off x="509568" y="2898485"/>
            <a:ext cx="2778993" cy="365760"/>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296" b="1" dirty="0">
                <a:solidFill>
                  <a:srgbClr val="FFFFFF"/>
                </a:solidFill>
                <a:latin typeface="Noto Sans" pitchFamily="34" charset="0"/>
                <a:ea typeface="Noto Sans" pitchFamily="34" charset="-122"/>
                <a:cs typeface="Noto Sans" pitchFamily="34" charset="-120"/>
              </a:rPr>
              <a:t>Receivers</a:t>
            </a:r>
            <a:endParaRPr lang="en-US" sz="1440" dirty="0"/>
          </a:p>
        </p:txBody>
      </p:sp>
      <p:sp>
        <p:nvSpPr>
          <p:cNvPr id="23" name="Text 14"/>
          <p:cNvSpPr/>
          <p:nvPr/>
        </p:nvSpPr>
        <p:spPr>
          <a:xfrm>
            <a:off x="243230" y="3225678"/>
            <a:ext cx="2778993" cy="365760"/>
          </a:xfrm>
          <a:prstGeom prst="rect">
            <a:avLst/>
          </a:prstGeom>
          <a:noFill/>
          <a:ln/>
        </p:spPr>
        <p:txBody>
          <a:bodyPr wrap="square" lIns="95250" tIns="95250" rIns="95250" bIns="95250" rtlCol="0" anchor="t">
            <a:spAutoFit/>
          </a:bodyPr>
          <a:lstStyle/>
          <a:p>
            <a:pPr marL="160020" indent="-160020">
              <a:lnSpc>
                <a:spcPct val="1000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Plants &amp; Customers</a:t>
            </a:r>
            <a:endParaRPr lang="en-US" sz="1440" dirty="0"/>
          </a:p>
        </p:txBody>
      </p:sp>
      <p:sp>
        <p:nvSpPr>
          <p:cNvPr id="24" name="Text 15"/>
          <p:cNvSpPr/>
          <p:nvPr/>
        </p:nvSpPr>
        <p:spPr>
          <a:xfrm>
            <a:off x="509568" y="3858759"/>
            <a:ext cx="2778993" cy="365760"/>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296" b="1" dirty="0">
                <a:solidFill>
                  <a:srgbClr val="FFFFFF"/>
                </a:solidFill>
                <a:latin typeface="Noto Sans" pitchFamily="34" charset="0"/>
                <a:ea typeface="Noto Sans" pitchFamily="34" charset="-122"/>
                <a:cs typeface="Noto Sans" pitchFamily="34" charset="-120"/>
              </a:rPr>
              <a:t>Benefits</a:t>
            </a:r>
            <a:endParaRPr lang="en-US" sz="1440" dirty="0"/>
          </a:p>
        </p:txBody>
      </p:sp>
      <p:sp>
        <p:nvSpPr>
          <p:cNvPr id="25" name="Text 16"/>
          <p:cNvSpPr/>
          <p:nvPr/>
        </p:nvSpPr>
        <p:spPr>
          <a:xfrm>
            <a:off x="243230" y="4185952"/>
            <a:ext cx="2778993" cy="365760"/>
          </a:xfrm>
          <a:prstGeom prst="rect">
            <a:avLst/>
          </a:prstGeom>
          <a:noFill/>
          <a:ln/>
        </p:spPr>
        <p:txBody>
          <a:bodyPr wrap="square" lIns="95250" tIns="95250" rIns="95250" bIns="95250" rtlCol="0" anchor="t">
            <a:spAutoFit/>
          </a:bodyPr>
          <a:lstStyle/>
          <a:p>
            <a:pPr marL="160020" indent="-160020">
              <a:lnSpc>
                <a:spcPct val="1000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Decoupled logic, easy tracking</a:t>
            </a:r>
            <a:endParaRPr lang="en-US" sz="1440" dirty="0"/>
          </a:p>
        </p:txBody>
      </p:sp>
      <p:pic>
        <p:nvPicPr>
          <p:cNvPr id="26" name="Image 7" descr="https://oceandoc-ai.obs.ap-southeast-3.myhuaweicloud.com/176218225639393/41502c8c-3226-41c5-b589-78783d7b7083/1762209726872/Command.png">    </p:cNvPr>
          <p:cNvPicPr>
            <a:picLocks noChangeAspect="1"/>
          </p:cNvPicPr>
          <p:nvPr/>
        </p:nvPicPr>
        <p:blipFill>
          <a:blip r:embed="rId9"/>
          <a:stretch>
            <a:fillRect/>
          </a:stretch>
        </p:blipFill>
        <p:spPr>
          <a:xfrm>
            <a:off x="2924546" y="634812"/>
            <a:ext cx="6015809" cy="4266101"/>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5078" y="67884"/>
            <a:ext cx="8005161" cy="566928"/>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Task Assignment System</a:t>
            </a:r>
            <a:endParaRPr lang="en-US" sz="1440" dirty="0"/>
          </a:p>
        </p:txBody>
      </p:sp>
      <p:pic>
        <p:nvPicPr>
          <p:cNvPr id="3" name="Image 0" descr="preencoded.png">    </p:cNvPr>
          <p:cNvPicPr>
            <a:picLocks noChangeAspect="1"/>
          </p:cNvPicPr>
          <p:nvPr/>
        </p:nvPicPr>
        <p:blipFill>
          <a:blip r:embed="rId2"/>
          <a:stretch>
            <a:fillRect/>
          </a:stretch>
        </p:blipFill>
        <p:spPr>
          <a:xfrm>
            <a:off x="201357" y="244913"/>
            <a:ext cx="616423" cy="231159"/>
          </a:xfrm>
          <a:prstGeom prst="rect">
            <a:avLst/>
          </a:prstGeom>
        </p:spPr>
      </p:pic>
      <p:pic>
        <p:nvPicPr>
          <p:cNvPr id="4" name="Image 1" descr="preencoded.png">    </p:cNvPr>
          <p:cNvPicPr>
            <a:picLocks noChangeAspect="1"/>
          </p:cNvPicPr>
          <p:nvPr/>
        </p:nvPicPr>
        <p:blipFill>
          <a:blip r:embed="rId3"/>
          <a:stretch>
            <a:fillRect/>
          </a:stretch>
        </p:blipFill>
        <p:spPr>
          <a:xfrm>
            <a:off x="201357" y="244913"/>
            <a:ext cx="616423" cy="231159"/>
          </a:xfrm>
          <a:prstGeom prst="rect">
            <a:avLst/>
          </a:prstGeom>
        </p:spPr>
      </p:pic>
      <p:pic>
        <p:nvPicPr>
          <p:cNvPr id="5" name="Image 2" descr="preencoded.png">    </p:cNvPr>
          <p:cNvPicPr>
            <a:picLocks noChangeAspect="1"/>
          </p:cNvPicPr>
          <p:nvPr/>
        </p:nvPicPr>
        <p:blipFill>
          <a:blip r:embed="rId4"/>
          <a:stretch>
            <a:fillRect/>
          </a:stretch>
        </p:blipFill>
        <p:spPr>
          <a:xfrm>
            <a:off x="201357" y="244913"/>
            <a:ext cx="616423" cy="231159"/>
          </a:xfrm>
          <a:prstGeom prst="rect">
            <a:avLst/>
          </a:prstGeom>
        </p:spPr>
      </p:pic>
      <p:pic>
        <p:nvPicPr>
          <p:cNvPr id="6" name="Image 3" descr="preencoded.png">    </p:cNvPr>
          <p:cNvPicPr>
            <a:picLocks noChangeAspect="1"/>
          </p:cNvPicPr>
          <p:nvPr/>
        </p:nvPicPr>
        <p:blipFill>
          <a:blip r:embed="rId5"/>
          <a:stretch>
            <a:fillRect/>
          </a:stretch>
        </p:blipFill>
        <p:spPr>
          <a:xfrm>
            <a:off x="3197694" y="1135707"/>
            <a:ext cx="2748612" cy="2748612"/>
          </a:xfrm>
          <a:prstGeom prst="rect">
            <a:avLst/>
          </a:prstGeom>
        </p:spPr>
      </p:pic>
      <p:pic>
        <p:nvPicPr>
          <p:cNvPr id="7" name="Image 4" descr="preencoded.png">    </p:cNvPr>
          <p:cNvPicPr>
            <a:picLocks noChangeAspect="1"/>
          </p:cNvPicPr>
          <p:nvPr/>
        </p:nvPicPr>
        <p:blipFill>
          <a:blip r:embed="rId6">
            <a:alphaModFix amt="30000"/>
          </a:blip>
          <a:stretch>
            <a:fillRect/>
          </a:stretch>
        </p:blipFill>
        <p:spPr>
          <a:xfrm>
            <a:off x="3197694" y="1135707"/>
            <a:ext cx="2748612" cy="2748612"/>
          </a:xfrm>
          <a:prstGeom prst="rect">
            <a:avLst/>
          </a:prstGeom>
        </p:spPr>
      </p:pic>
      <p:pic>
        <p:nvPicPr>
          <p:cNvPr id="8" name="Image 5" descr="preencoded.png">    </p:cNvPr>
          <p:cNvPicPr>
            <a:picLocks noChangeAspect="1"/>
          </p:cNvPicPr>
          <p:nvPr/>
        </p:nvPicPr>
        <p:blipFill>
          <a:blip r:embed="rId7"/>
          <a:stretch>
            <a:fillRect/>
          </a:stretch>
        </p:blipFill>
        <p:spPr>
          <a:xfrm>
            <a:off x="3197694" y="1135707"/>
            <a:ext cx="2748612" cy="2748612"/>
          </a:xfrm>
          <a:prstGeom prst="rect">
            <a:avLst/>
          </a:prstGeom>
        </p:spPr>
      </p:pic>
      <p:pic>
        <p:nvPicPr>
          <p:cNvPr id="9" name="Image 6" descr="preencoded.png">    </p:cNvPr>
          <p:cNvPicPr>
            <a:picLocks noChangeAspect="1"/>
          </p:cNvPicPr>
          <p:nvPr/>
        </p:nvPicPr>
        <p:blipFill>
          <a:blip r:embed="rId8">
            <a:alphaModFix amt="30000"/>
          </a:blip>
          <a:stretch>
            <a:fillRect/>
          </a:stretch>
        </p:blipFill>
        <p:spPr>
          <a:xfrm>
            <a:off x="3197694" y="1135707"/>
            <a:ext cx="2748612" cy="2748612"/>
          </a:xfrm>
          <a:prstGeom prst="rect">
            <a:avLst/>
          </a:prstGeom>
        </p:spPr>
      </p:pic>
      <p:sp>
        <p:nvSpPr>
          <p:cNvPr id="10" name="Text 1"/>
          <p:cNvSpPr/>
          <p:nvPr/>
        </p:nvSpPr>
        <p:spPr>
          <a:xfrm>
            <a:off x="258693" y="939111"/>
            <a:ext cx="2833736" cy="393192"/>
          </a:xfrm>
          <a:prstGeom prst="rect">
            <a:avLst/>
          </a:prstGeom>
          <a:noFill/>
          <a:ln/>
        </p:spPr>
        <p:txBody>
          <a:bodyPr wrap="square" lIns="95250" tIns="95250" rIns="95250" bIns="95250" rtlCol="0" anchor="t">
            <a:spAutoFit/>
          </a:bodyPr>
          <a:lstStyle/>
          <a:p>
            <a:pPr algn="r" indent="0" marL="0">
              <a:lnSpc>
                <a:spcPct val="100000"/>
              </a:lnSpc>
              <a:spcBef>
                <a:spcPts val="375"/>
              </a:spcBef>
              <a:buNone/>
            </a:pPr>
            <a:r>
              <a:rPr lang="en-US" sz="1296" b="1" dirty="0">
                <a:solidFill>
                  <a:srgbClr val="6764FB"/>
                </a:solidFill>
                <a:latin typeface="Noto Sans" pitchFamily="34" charset="0"/>
                <a:ea typeface="Noto Sans" pitchFamily="34" charset="-122"/>
                <a:cs typeface="Noto Sans" pitchFamily="34" charset="-120"/>
              </a:rPr>
              <a:t>Command Pattern</a:t>
            </a:r>
            <a:endParaRPr lang="en-US" sz="1440" dirty="0"/>
          </a:p>
        </p:txBody>
      </p:sp>
      <p:sp>
        <p:nvSpPr>
          <p:cNvPr id="11" name="Text 2"/>
          <p:cNvSpPr/>
          <p:nvPr/>
        </p:nvSpPr>
        <p:spPr>
          <a:xfrm>
            <a:off x="253537" y="1370708"/>
            <a:ext cx="2838893" cy="1024128"/>
          </a:xfrm>
          <a:prstGeom prst="rect">
            <a:avLst/>
          </a:prstGeom>
          <a:noFill/>
          <a:ln/>
        </p:spPr>
        <p:txBody>
          <a:bodyPr wrap="square" lIns="95250" tIns="95250" rIns="95250" bIns="95250" rtlCol="0" anchor="t">
            <a:spAutoFit/>
          </a:bodyPr>
          <a:lstStyle/>
          <a:p>
            <a:pPr algn="r" indent="0" marL="0">
              <a:lnSpc>
                <a:spcPct val="100000"/>
              </a:lnSpc>
              <a:buNone/>
            </a:pPr>
            <a:r>
              <a:rPr lang="en-US" sz="1008" dirty="0">
                <a:solidFill>
                  <a:srgbClr val="FFFFFF"/>
                </a:solidFill>
                <a:latin typeface="Noto Sans" pitchFamily="34" charset="0"/>
                <a:ea typeface="Noto Sans" pitchFamily="34" charset="-122"/>
                <a:cs typeface="Noto Sans" pitchFamily="34" charset="-120"/>
              </a:rPr>
              <a:t>Decouples staff requests from execution, enabling flexible task handling through WaterPlant, FertilizePlant, and SellCommand classes.</a:t>
            </a:r>
            <a:endParaRPr lang="en-US" sz="1440" dirty="0"/>
          </a:p>
        </p:txBody>
      </p:sp>
      <p:sp>
        <p:nvSpPr>
          <p:cNvPr id="12" name="Text 3"/>
          <p:cNvSpPr/>
          <p:nvPr/>
        </p:nvSpPr>
        <p:spPr>
          <a:xfrm>
            <a:off x="6002866" y="939111"/>
            <a:ext cx="2874389" cy="393192"/>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296" b="1" dirty="0">
                <a:solidFill>
                  <a:srgbClr val="6764FB"/>
                </a:solidFill>
                <a:latin typeface="Noto Sans" pitchFamily="34" charset="0"/>
                <a:ea typeface="Noto Sans" pitchFamily="34" charset="-122"/>
                <a:cs typeface="Noto Sans" pitchFamily="34" charset="-120"/>
              </a:rPr>
              <a:t>Chain of Responsibility</a:t>
            </a:r>
            <a:endParaRPr lang="en-US" sz="1440" dirty="0"/>
          </a:p>
        </p:txBody>
      </p:sp>
      <p:sp>
        <p:nvSpPr>
          <p:cNvPr id="13" name="Text 4"/>
          <p:cNvSpPr/>
          <p:nvPr/>
        </p:nvSpPr>
        <p:spPr>
          <a:xfrm>
            <a:off x="6002866" y="1370686"/>
            <a:ext cx="2869730" cy="1024128"/>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008" dirty="0">
                <a:solidFill>
                  <a:srgbClr val="FFFFFF"/>
                </a:solidFill>
                <a:latin typeface="Noto Sans" pitchFamily="34" charset="0"/>
                <a:ea typeface="Noto Sans" pitchFamily="34" charset="-122"/>
                <a:cs typeface="Noto Sans" pitchFamily="34" charset="-120"/>
              </a:rPr>
              <a:t>Delegates tasks among staff members, allowing SalesManagers and PlantCaretakers to handle appropriate responsibilities.</a:t>
            </a:r>
            <a:endParaRPr lang="en-US" sz="1440" dirty="0"/>
          </a:p>
        </p:txBody>
      </p:sp>
      <p:sp>
        <p:nvSpPr>
          <p:cNvPr id="14" name="Text 5"/>
          <p:cNvSpPr/>
          <p:nvPr/>
        </p:nvSpPr>
        <p:spPr>
          <a:xfrm>
            <a:off x="258693" y="3171161"/>
            <a:ext cx="2833736" cy="393192"/>
          </a:xfrm>
          <a:prstGeom prst="rect">
            <a:avLst/>
          </a:prstGeom>
          <a:noFill/>
          <a:ln/>
        </p:spPr>
        <p:txBody>
          <a:bodyPr wrap="square" lIns="95250" tIns="95250" rIns="95250" bIns="95250" rtlCol="0" anchor="t">
            <a:spAutoFit/>
          </a:bodyPr>
          <a:lstStyle/>
          <a:p>
            <a:pPr algn="r" indent="0" marL="0">
              <a:lnSpc>
                <a:spcPct val="100000"/>
              </a:lnSpc>
              <a:spcBef>
                <a:spcPts val="375"/>
              </a:spcBef>
              <a:buNone/>
            </a:pPr>
            <a:r>
              <a:rPr lang="en-US" sz="1296" b="1" dirty="0">
                <a:solidFill>
                  <a:srgbClr val="6764FB"/>
                </a:solidFill>
                <a:latin typeface="Noto Sans" pitchFamily="34" charset="0"/>
                <a:ea typeface="Noto Sans" pitchFamily="34" charset="-122"/>
                <a:cs typeface="Noto Sans" pitchFamily="34" charset="-120"/>
              </a:rPr>
              <a:t>Mediator Pattern</a:t>
            </a:r>
            <a:endParaRPr lang="en-US" sz="1440" dirty="0"/>
          </a:p>
        </p:txBody>
      </p:sp>
      <p:sp>
        <p:nvSpPr>
          <p:cNvPr id="15" name="Text 6"/>
          <p:cNvSpPr/>
          <p:nvPr/>
        </p:nvSpPr>
        <p:spPr>
          <a:xfrm>
            <a:off x="253537" y="3595443"/>
            <a:ext cx="2838893" cy="1024128"/>
          </a:xfrm>
          <a:prstGeom prst="rect">
            <a:avLst/>
          </a:prstGeom>
          <a:noFill/>
          <a:ln/>
        </p:spPr>
        <p:txBody>
          <a:bodyPr wrap="square" lIns="95250" tIns="95250" rIns="95250" bIns="95250" rtlCol="0" anchor="t">
            <a:spAutoFit/>
          </a:bodyPr>
          <a:lstStyle/>
          <a:p>
            <a:pPr algn="r" indent="0" marL="0">
              <a:lnSpc>
                <a:spcPct val="100000"/>
              </a:lnSpc>
              <a:spcBef>
                <a:spcPts val="375"/>
              </a:spcBef>
              <a:buNone/>
            </a:pPr>
            <a:r>
              <a:rPr lang="en-US" sz="1008" dirty="0">
                <a:solidFill>
                  <a:srgbClr val="FFFFFF"/>
                </a:solidFill>
                <a:latin typeface="Noto Sans" pitchFamily="34" charset="0"/>
                <a:ea typeface="Noto Sans" pitchFamily="34" charset="-122"/>
                <a:cs typeface="Noto Sans" pitchFamily="34" charset="-120"/>
              </a:rPr>
              <a:t>Coordinates communication between staff, customers and plants through NurseryHub, reducing direct coupling between components.</a:t>
            </a:r>
            <a:endParaRPr lang="en-US" sz="1440" dirty="0"/>
          </a:p>
        </p:txBody>
      </p:sp>
      <p:sp>
        <p:nvSpPr>
          <p:cNvPr id="16" name="Text 7"/>
          <p:cNvSpPr/>
          <p:nvPr/>
        </p:nvSpPr>
        <p:spPr>
          <a:xfrm>
            <a:off x="6002866" y="3171139"/>
            <a:ext cx="2874389" cy="393192"/>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296" b="1" dirty="0">
                <a:solidFill>
                  <a:srgbClr val="6764FB"/>
                </a:solidFill>
                <a:latin typeface="Noto Sans" pitchFamily="34" charset="0"/>
                <a:ea typeface="Noto Sans" pitchFamily="34" charset="-122"/>
                <a:cs typeface="Noto Sans" pitchFamily="34" charset="-120"/>
              </a:rPr>
              <a:t>Staff Hierarchy</a:t>
            </a:r>
            <a:endParaRPr lang="en-US" sz="1440" dirty="0"/>
          </a:p>
        </p:txBody>
      </p:sp>
      <p:sp>
        <p:nvSpPr>
          <p:cNvPr id="17" name="Text 8"/>
          <p:cNvSpPr/>
          <p:nvPr/>
        </p:nvSpPr>
        <p:spPr>
          <a:xfrm>
            <a:off x="6002866" y="3595443"/>
            <a:ext cx="2869730" cy="813816"/>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008" dirty="0">
                <a:solidFill>
                  <a:srgbClr val="FFFFFF"/>
                </a:solidFill>
                <a:latin typeface="Noto Sans" pitchFamily="34" charset="0"/>
                <a:ea typeface="Noto Sans" pitchFamily="34" charset="-122"/>
                <a:cs typeface="Noto Sans" pitchFamily="34" charset="-120"/>
              </a:rPr>
              <a:t>Structured system with handlers that process or forward tasks based on role-specific capabilities.</a:t>
            </a:r>
            <a:endParaRPr lang="en-US" sz="144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5078" y="67884"/>
            <a:ext cx="8005161" cy="566928"/>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Chain of Responsibility</a:t>
            </a:r>
            <a:endParaRPr lang="en-US" sz="1440" dirty="0"/>
          </a:p>
        </p:txBody>
      </p:sp>
      <p:pic>
        <p:nvPicPr>
          <p:cNvPr id="3" name="Image 0" descr="preencoded.png">    </p:cNvPr>
          <p:cNvPicPr>
            <a:picLocks noChangeAspect="1"/>
          </p:cNvPicPr>
          <p:nvPr/>
        </p:nvPicPr>
        <p:blipFill>
          <a:blip r:embed="rId2"/>
          <a:stretch>
            <a:fillRect/>
          </a:stretch>
        </p:blipFill>
        <p:spPr>
          <a:xfrm>
            <a:off x="201357" y="244913"/>
            <a:ext cx="616423" cy="231159"/>
          </a:xfrm>
          <a:prstGeom prst="rect">
            <a:avLst/>
          </a:prstGeom>
        </p:spPr>
      </p:pic>
      <p:pic>
        <p:nvPicPr>
          <p:cNvPr id="4" name="Image 1" descr="preencoded.png">    </p:cNvPr>
          <p:cNvPicPr>
            <a:picLocks noChangeAspect="1"/>
          </p:cNvPicPr>
          <p:nvPr/>
        </p:nvPicPr>
        <p:blipFill>
          <a:blip r:embed="rId3"/>
          <a:stretch>
            <a:fillRect/>
          </a:stretch>
        </p:blipFill>
        <p:spPr>
          <a:xfrm>
            <a:off x="201357" y="244913"/>
            <a:ext cx="616423" cy="231159"/>
          </a:xfrm>
          <a:prstGeom prst="rect">
            <a:avLst/>
          </a:prstGeom>
        </p:spPr>
      </p:pic>
      <p:pic>
        <p:nvPicPr>
          <p:cNvPr id="5" name="Image 2" descr="preencoded.png">    </p:cNvPr>
          <p:cNvPicPr>
            <a:picLocks noChangeAspect="1"/>
          </p:cNvPicPr>
          <p:nvPr/>
        </p:nvPicPr>
        <p:blipFill>
          <a:blip r:embed="rId4"/>
          <a:stretch>
            <a:fillRect/>
          </a:stretch>
        </p:blipFill>
        <p:spPr>
          <a:xfrm>
            <a:off x="201357" y="244913"/>
            <a:ext cx="616423" cy="231159"/>
          </a:xfrm>
          <a:prstGeom prst="rect">
            <a:avLst/>
          </a:prstGeom>
        </p:spPr>
      </p:pic>
      <p:pic>
        <p:nvPicPr>
          <p:cNvPr id="6" name="Image 3" descr="preencoded.png">    </p:cNvPr>
          <p:cNvPicPr>
            <a:picLocks noChangeAspect="1"/>
          </p:cNvPicPr>
          <p:nvPr/>
        </p:nvPicPr>
        <p:blipFill>
          <a:blip r:embed="rId5"/>
          <a:stretch>
            <a:fillRect/>
          </a:stretch>
        </p:blipFill>
        <p:spPr>
          <a:xfrm>
            <a:off x="-187760" y="684470"/>
            <a:ext cx="5257673" cy="4332497"/>
          </a:xfrm>
          <a:prstGeom prst="rect">
            <a:avLst/>
          </a:prstGeom>
        </p:spPr>
      </p:pic>
      <p:pic>
        <p:nvPicPr>
          <p:cNvPr id="7" name="Image 4" descr="preencoded.png">    </p:cNvPr>
          <p:cNvPicPr>
            <a:picLocks noChangeAspect="1"/>
          </p:cNvPicPr>
          <p:nvPr/>
        </p:nvPicPr>
        <p:blipFill>
          <a:blip r:embed="rId6"/>
          <a:stretch>
            <a:fillRect/>
          </a:stretch>
        </p:blipFill>
        <p:spPr>
          <a:xfrm>
            <a:off x="120668" y="972281"/>
            <a:ext cx="3496048" cy="540309"/>
          </a:xfrm>
          <a:prstGeom prst="rect">
            <a:avLst/>
          </a:prstGeom>
        </p:spPr>
      </p:pic>
      <p:pic>
        <p:nvPicPr>
          <p:cNvPr id="8" name="Image 5" descr="preencoded.png">    </p:cNvPr>
          <p:cNvPicPr>
            <a:picLocks noChangeAspect="1"/>
          </p:cNvPicPr>
          <p:nvPr/>
        </p:nvPicPr>
        <p:blipFill>
          <a:blip r:embed="rId7"/>
          <a:stretch>
            <a:fillRect/>
          </a:stretch>
        </p:blipFill>
        <p:spPr>
          <a:xfrm>
            <a:off x="8230817" y="67884"/>
            <a:ext cx="782846" cy="815880"/>
          </a:xfrm>
          <a:prstGeom prst="rect">
            <a:avLst/>
          </a:prstGeom>
        </p:spPr>
      </p:pic>
      <p:pic>
        <p:nvPicPr>
          <p:cNvPr id="9" name="Image 6" descr="preencoded.png">    </p:cNvPr>
          <p:cNvPicPr>
            <a:picLocks noChangeAspect="1"/>
          </p:cNvPicPr>
          <p:nvPr/>
        </p:nvPicPr>
        <p:blipFill>
          <a:blip r:embed="rId8"/>
          <a:stretch>
            <a:fillRect/>
          </a:stretch>
        </p:blipFill>
        <p:spPr>
          <a:xfrm>
            <a:off x="8422043" y="267179"/>
            <a:ext cx="400395" cy="417291"/>
          </a:xfrm>
          <a:prstGeom prst="rect">
            <a:avLst/>
          </a:prstGeom>
        </p:spPr>
      </p:pic>
      <p:pic>
        <p:nvPicPr>
          <p:cNvPr id="10" name="Image 7" descr="preencoded.png">    </p:cNvPr>
          <p:cNvPicPr>
            <a:picLocks noChangeAspect="1"/>
          </p:cNvPicPr>
          <p:nvPr/>
        </p:nvPicPr>
        <p:blipFill>
          <a:blip r:embed="rId9"/>
          <a:stretch>
            <a:fillRect/>
          </a:stretch>
        </p:blipFill>
        <p:spPr>
          <a:xfrm>
            <a:off x="120668" y="1845541"/>
            <a:ext cx="3496048" cy="540309"/>
          </a:xfrm>
          <a:prstGeom prst="rect">
            <a:avLst/>
          </a:prstGeom>
        </p:spPr>
      </p:pic>
      <p:pic>
        <p:nvPicPr>
          <p:cNvPr id="11" name="Image 8" descr="preencoded.png">    </p:cNvPr>
          <p:cNvPicPr>
            <a:picLocks noChangeAspect="1"/>
          </p:cNvPicPr>
          <p:nvPr/>
        </p:nvPicPr>
        <p:blipFill>
          <a:blip r:embed="rId10"/>
          <a:stretch>
            <a:fillRect/>
          </a:stretch>
        </p:blipFill>
        <p:spPr>
          <a:xfrm>
            <a:off x="120668" y="2850719"/>
            <a:ext cx="3496048" cy="540309"/>
          </a:xfrm>
          <a:prstGeom prst="rect">
            <a:avLst/>
          </a:prstGeom>
        </p:spPr>
      </p:pic>
      <p:pic>
        <p:nvPicPr>
          <p:cNvPr id="12" name="Image 9" descr="preencoded.png">    </p:cNvPr>
          <p:cNvPicPr>
            <a:picLocks noChangeAspect="1"/>
          </p:cNvPicPr>
          <p:nvPr/>
        </p:nvPicPr>
        <p:blipFill>
          <a:blip r:embed="rId11"/>
          <a:stretch>
            <a:fillRect/>
          </a:stretch>
        </p:blipFill>
        <p:spPr>
          <a:xfrm>
            <a:off x="120668" y="3926726"/>
            <a:ext cx="3496048" cy="540309"/>
          </a:xfrm>
          <a:prstGeom prst="rect">
            <a:avLst/>
          </a:prstGeom>
        </p:spPr>
      </p:pic>
      <p:sp>
        <p:nvSpPr>
          <p:cNvPr id="13" name="Text 1"/>
          <p:cNvSpPr/>
          <p:nvPr/>
        </p:nvSpPr>
        <p:spPr>
          <a:xfrm>
            <a:off x="120668" y="972281"/>
            <a:ext cx="3496048" cy="540309"/>
          </a:xfrm>
          <a:prstGeom prst="rect">
            <a:avLst/>
          </a:prstGeom>
          <a:noFill/>
          <a:ln/>
        </p:spPr>
        <p:txBody>
          <a:bodyPr wrap="square" lIns="95250" tIns="95250" rIns="95250" bIns="95250" rtlCol="0" anchor="ctr"/>
          <a:lstStyle/>
          <a:p>
            <a:pPr algn="ctr" indent="0" marL="0">
              <a:lnSpc>
                <a:spcPct val="100000"/>
              </a:lnSpc>
              <a:spcBef>
                <a:spcPts val="375"/>
              </a:spcBef>
              <a:buNone/>
            </a:pPr>
            <a:r>
              <a:rPr lang="en-US" sz="1296" b="1" dirty="0">
                <a:solidFill>
                  <a:srgbClr val="FFFFFF"/>
                </a:solidFill>
                <a:latin typeface="Noto Sans" pitchFamily="34" charset="0"/>
                <a:ea typeface="Noto Sans" pitchFamily="34" charset="-122"/>
                <a:cs typeface="Noto Sans" pitchFamily="34" charset="-120"/>
              </a:rPr>
              <a:t>Task Delegation</a:t>
            </a:r>
            <a:endParaRPr lang="en-US" sz="1440" dirty="0"/>
          </a:p>
        </p:txBody>
      </p:sp>
      <p:sp>
        <p:nvSpPr>
          <p:cNvPr id="14" name="Text 2"/>
          <p:cNvSpPr/>
          <p:nvPr/>
        </p:nvSpPr>
        <p:spPr>
          <a:xfrm>
            <a:off x="120668" y="1505002"/>
            <a:ext cx="3628662" cy="402336"/>
          </a:xfrm>
          <a:prstGeom prst="rect">
            <a:avLst/>
          </a:prstGeom>
          <a:noFill/>
          <a:ln/>
        </p:spPr>
        <p:txBody>
          <a:bodyPr wrap="square" lIns="95250" tIns="95250" rIns="95250" bIns="95250" rtlCol="0" anchor="t">
            <a:spAutoFit/>
          </a:bodyPr>
          <a:lstStyle/>
          <a:p>
            <a:pPr marL="160020" indent="-160020">
              <a:lnSpc>
                <a:spcPct val="1000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Tasks move along staff chain</a:t>
            </a:r>
            <a:endParaRPr lang="en-US" sz="1440" dirty="0"/>
          </a:p>
        </p:txBody>
      </p:sp>
      <p:sp>
        <p:nvSpPr>
          <p:cNvPr id="15" name="Text 3"/>
          <p:cNvSpPr/>
          <p:nvPr/>
        </p:nvSpPr>
        <p:spPr>
          <a:xfrm>
            <a:off x="120668" y="1845541"/>
            <a:ext cx="3496048" cy="540309"/>
          </a:xfrm>
          <a:prstGeom prst="rect">
            <a:avLst/>
          </a:prstGeom>
          <a:noFill/>
          <a:ln/>
        </p:spPr>
        <p:txBody>
          <a:bodyPr wrap="square" lIns="95250" tIns="95250" rIns="95250" bIns="95250" rtlCol="0" anchor="ctr"/>
          <a:lstStyle/>
          <a:p>
            <a:pPr algn="ctr" indent="0" marL="0">
              <a:lnSpc>
                <a:spcPct val="100000"/>
              </a:lnSpc>
              <a:spcBef>
                <a:spcPts val="375"/>
              </a:spcBef>
              <a:buNone/>
            </a:pPr>
            <a:r>
              <a:rPr lang="en-US" sz="1296" b="1" dirty="0">
                <a:solidFill>
                  <a:srgbClr val="FFFFFF"/>
                </a:solidFill>
                <a:latin typeface="Noto Sans" pitchFamily="34" charset="0"/>
                <a:ea typeface="Noto Sans" pitchFamily="34" charset="-122"/>
                <a:cs typeface="Noto Sans" pitchFamily="34" charset="-120"/>
              </a:rPr>
              <a:t>Handler Classes</a:t>
            </a:r>
            <a:endParaRPr lang="en-US" sz="1440" dirty="0"/>
          </a:p>
        </p:txBody>
      </p:sp>
      <p:sp>
        <p:nvSpPr>
          <p:cNvPr id="16" name="Text 4"/>
          <p:cNvSpPr/>
          <p:nvPr/>
        </p:nvSpPr>
        <p:spPr>
          <a:xfrm>
            <a:off x="120668" y="2378263"/>
            <a:ext cx="3628662" cy="402336"/>
          </a:xfrm>
          <a:prstGeom prst="rect">
            <a:avLst/>
          </a:prstGeom>
          <a:noFill/>
          <a:ln/>
        </p:spPr>
        <p:txBody>
          <a:bodyPr wrap="square" lIns="95250" tIns="95250" rIns="95250" bIns="95250" rtlCol="0" anchor="t">
            <a:spAutoFit/>
          </a:bodyPr>
          <a:lstStyle/>
          <a:p>
            <a:pPr marL="160020" indent="-160020">
              <a:lnSpc>
                <a:spcPct val="1000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Staff, SalesManager, PlantCaretaker, Manager</a:t>
            </a:r>
            <a:endParaRPr lang="en-US" sz="1440" dirty="0"/>
          </a:p>
        </p:txBody>
      </p:sp>
      <p:sp>
        <p:nvSpPr>
          <p:cNvPr id="17" name="Text 5"/>
          <p:cNvSpPr/>
          <p:nvPr/>
        </p:nvSpPr>
        <p:spPr>
          <a:xfrm>
            <a:off x="120668" y="2850719"/>
            <a:ext cx="3496048" cy="540309"/>
          </a:xfrm>
          <a:prstGeom prst="rect">
            <a:avLst/>
          </a:prstGeom>
          <a:noFill/>
          <a:ln/>
        </p:spPr>
        <p:txBody>
          <a:bodyPr wrap="square" lIns="95250" tIns="95250" rIns="95250" bIns="95250" rtlCol="0" anchor="ctr"/>
          <a:lstStyle/>
          <a:p>
            <a:pPr algn="ctr" indent="0" marL="0">
              <a:lnSpc>
                <a:spcPct val="100000"/>
              </a:lnSpc>
              <a:spcBef>
                <a:spcPts val="375"/>
              </a:spcBef>
              <a:buNone/>
            </a:pPr>
            <a:r>
              <a:rPr lang="en-US" sz="1296" b="1" dirty="0">
                <a:solidFill>
                  <a:srgbClr val="FFFFFF"/>
                </a:solidFill>
                <a:latin typeface="Noto Sans" pitchFamily="34" charset="0"/>
                <a:ea typeface="Noto Sans" pitchFamily="34" charset="-122"/>
                <a:cs typeface="Noto Sans" pitchFamily="34" charset="-120"/>
              </a:rPr>
              <a:t>Staff Hierarchy</a:t>
            </a:r>
            <a:endParaRPr lang="en-US" sz="1440" dirty="0"/>
          </a:p>
        </p:txBody>
      </p:sp>
      <p:sp>
        <p:nvSpPr>
          <p:cNvPr id="18" name="Text 6"/>
          <p:cNvSpPr/>
          <p:nvPr/>
        </p:nvSpPr>
        <p:spPr>
          <a:xfrm>
            <a:off x="120668" y="3383440"/>
            <a:ext cx="3628662" cy="402336"/>
          </a:xfrm>
          <a:prstGeom prst="rect">
            <a:avLst/>
          </a:prstGeom>
          <a:noFill/>
          <a:ln/>
        </p:spPr>
        <p:txBody>
          <a:bodyPr wrap="square" lIns="95250" tIns="95250" rIns="95250" bIns="95250" rtlCol="0" anchor="t">
            <a:spAutoFit/>
          </a:bodyPr>
          <a:lstStyle/>
          <a:p>
            <a:pPr marL="160020" indent="-160020">
              <a:lnSpc>
                <a:spcPct val="1000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Routes based on availability</a:t>
            </a:r>
            <a:endParaRPr lang="en-US" sz="1440" dirty="0"/>
          </a:p>
        </p:txBody>
      </p:sp>
      <p:sp>
        <p:nvSpPr>
          <p:cNvPr id="19" name="Text 7"/>
          <p:cNvSpPr/>
          <p:nvPr/>
        </p:nvSpPr>
        <p:spPr>
          <a:xfrm>
            <a:off x="120668" y="3926726"/>
            <a:ext cx="3496048" cy="540309"/>
          </a:xfrm>
          <a:prstGeom prst="rect">
            <a:avLst/>
          </a:prstGeom>
          <a:noFill/>
          <a:ln/>
        </p:spPr>
        <p:txBody>
          <a:bodyPr wrap="square" lIns="95250" tIns="95250" rIns="95250" bIns="95250" rtlCol="0" anchor="ctr"/>
          <a:lstStyle/>
          <a:p>
            <a:pPr algn="ctr" indent="0" marL="0">
              <a:lnSpc>
                <a:spcPct val="100000"/>
              </a:lnSpc>
              <a:spcBef>
                <a:spcPts val="375"/>
              </a:spcBef>
              <a:buNone/>
            </a:pPr>
            <a:r>
              <a:rPr lang="en-US" sz="1296" b="1" dirty="0">
                <a:solidFill>
                  <a:srgbClr val="FFFFFF"/>
                </a:solidFill>
                <a:latin typeface="Noto Sans" pitchFamily="34" charset="0"/>
                <a:ea typeface="Noto Sans" pitchFamily="34" charset="-122"/>
                <a:cs typeface="Noto Sans" pitchFamily="34" charset="-120"/>
              </a:rPr>
              <a:t>Benefits</a:t>
            </a:r>
            <a:endParaRPr lang="en-US" sz="1440" dirty="0"/>
          </a:p>
        </p:txBody>
      </p:sp>
      <p:sp>
        <p:nvSpPr>
          <p:cNvPr id="20" name="Text 8"/>
          <p:cNvSpPr/>
          <p:nvPr/>
        </p:nvSpPr>
        <p:spPr>
          <a:xfrm>
            <a:off x="120668" y="4459448"/>
            <a:ext cx="3628662" cy="402336"/>
          </a:xfrm>
          <a:prstGeom prst="rect">
            <a:avLst/>
          </a:prstGeom>
          <a:noFill/>
          <a:ln/>
        </p:spPr>
        <p:txBody>
          <a:bodyPr wrap="square" lIns="95250" tIns="95250" rIns="95250" bIns="95250" rtlCol="0" anchor="t">
            <a:spAutoFit/>
          </a:bodyPr>
          <a:lstStyle/>
          <a:p>
            <a:pPr marL="160020" indent="-160020">
              <a:lnSpc>
                <a:spcPct val="100000"/>
              </a:lnSpc>
              <a:spcBef>
                <a:spcPts val="10"/>
              </a:spcBef>
              <a:buSzPct val="100000"/>
              <a:buChar char="•"/>
            </a:pPr>
            <a:r>
              <a:rPr lang="en-US" sz="1008" dirty="0">
                <a:solidFill>
                  <a:srgbClr val="FFFFFF"/>
                </a:solidFill>
                <a:latin typeface="Noto Sans" pitchFamily="34" charset="0"/>
                <a:ea typeface="Noto Sans" pitchFamily="34" charset="-122"/>
                <a:cs typeface="Noto Sans" pitchFamily="34" charset="-120"/>
              </a:rPr>
              <a:t>Low coupling, clear workflow</a:t>
            </a:r>
            <a:endParaRPr lang="en-US" sz="1440" dirty="0"/>
          </a:p>
        </p:txBody>
      </p:sp>
      <p:pic>
        <p:nvPicPr>
          <p:cNvPr id="21" name="Image 10" descr="https://oceandoc-ai.obs.ap-southeast-3.myhuaweicloud.com/176218225639393/74458f80-02c2-4f6c-b3d6-c2b881cf33d9/1762209890883/ChainOfResponsibility.png">    </p:cNvPr>
          <p:cNvPicPr>
            <a:picLocks noChangeAspect="1"/>
          </p:cNvPicPr>
          <p:nvPr/>
        </p:nvPicPr>
        <p:blipFill>
          <a:blip r:embed="rId12"/>
          <a:stretch>
            <a:fillRect/>
          </a:stretch>
        </p:blipFill>
        <p:spPr>
          <a:xfrm>
            <a:off x="3616717" y="1411654"/>
            <a:ext cx="5527283" cy="273788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465422" y="159368"/>
            <a:ext cx="5221112" cy="557784"/>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2592" b="1" dirty="0">
                <a:solidFill>
                  <a:srgbClr val="6764FB"/>
                </a:solidFill>
                <a:latin typeface="Noto Sans" pitchFamily="34" charset="0"/>
                <a:ea typeface="Noto Sans" pitchFamily="34" charset="-122"/>
                <a:cs typeface="Noto Sans" pitchFamily="34" charset="-120"/>
              </a:rPr>
              <a:t>Demo</a:t>
            </a:r>
            <a:endParaRPr lang="en-US" sz="1440" dirty="0"/>
          </a:p>
        </p:txBody>
      </p:sp>
      <p:pic>
        <p:nvPicPr>
          <p:cNvPr id="3" name="Image 0" descr="preencoded.png">    </p:cNvPr>
          <p:cNvPicPr>
            <a:picLocks noChangeAspect="1"/>
          </p:cNvPicPr>
          <p:nvPr/>
        </p:nvPicPr>
        <p:blipFill>
          <a:blip r:embed="rId2"/>
          <a:stretch>
            <a:fillRect/>
          </a:stretch>
        </p:blipFill>
        <p:spPr>
          <a:xfrm>
            <a:off x="463370" y="438260"/>
            <a:ext cx="914028" cy="914028"/>
          </a:xfrm>
          <a:prstGeom prst="rect">
            <a:avLst/>
          </a:prstGeom>
        </p:spPr>
      </p:pic>
      <p:sp>
        <p:nvSpPr>
          <p:cNvPr id="4" name="Text 1"/>
          <p:cNvSpPr/>
          <p:nvPr/>
        </p:nvSpPr>
        <p:spPr>
          <a:xfrm>
            <a:off x="345154" y="742055"/>
            <a:ext cx="1356643" cy="923544"/>
          </a:xfrm>
          <a:prstGeom prst="rect">
            <a:avLst/>
          </a:prstGeom>
          <a:noFill/>
          <a:ln/>
        </p:spPr>
        <p:txBody>
          <a:bodyPr wrap="square" lIns="95250" tIns="95250" rIns="95250" bIns="95250" rtlCol="0" anchor="t">
            <a:spAutoFit/>
          </a:bodyPr>
          <a:lstStyle/>
          <a:p>
            <a:pPr algn="ctr" indent="0" marL="0">
              <a:lnSpc>
                <a:spcPct val="112500"/>
              </a:lnSpc>
              <a:spcBef>
                <a:spcPts val="375"/>
              </a:spcBef>
              <a:buNone/>
            </a:pPr>
            <a:r>
              <a:rPr lang="en-US" sz="3888" b="1" dirty="0">
                <a:solidFill>
                  <a:srgbClr val="C560FF"/>
                </a:solidFill>
                <a:latin typeface="Noto Sans" pitchFamily="34" charset="0"/>
                <a:ea typeface="Noto Sans" pitchFamily="34" charset="-122"/>
                <a:cs typeface="Noto Sans" pitchFamily="34" charset="-120"/>
              </a:rPr>
              <a:t>04</a:t>
            </a:r>
            <a:endParaRPr lang="en-US" sz="144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415396" y="1666794"/>
            <a:ext cx="4313208" cy="1143000"/>
          </a:xfrm>
          <a:prstGeom prst="rect">
            <a:avLst/>
          </a:prstGeom>
          <a:noFill/>
          <a:ln/>
        </p:spPr>
        <p:txBody>
          <a:bodyPr wrap="square" lIns="95250" tIns="95250" rIns="95250" bIns="95250" rtlCol="0" anchor="t">
            <a:spAutoFit/>
          </a:bodyPr>
          <a:lstStyle/>
          <a:p>
            <a:pPr algn="ctr" indent="0" marL="0">
              <a:lnSpc>
                <a:spcPct val="112500"/>
              </a:lnSpc>
              <a:spcBef>
                <a:spcPts val="375"/>
              </a:spcBef>
              <a:buNone/>
            </a:pPr>
            <a:r>
              <a:rPr lang="en-US" sz="5040" b="1" dirty="0">
                <a:solidFill>
                  <a:srgbClr val="D46FFF"/>
                </a:solidFill>
                <a:latin typeface="Noto Sans" pitchFamily="34" charset="0"/>
                <a:ea typeface="Noto Sans" pitchFamily="34" charset="-122"/>
                <a:cs typeface="Noto Sans" pitchFamily="34" charset="-120"/>
              </a:rPr>
              <a:t>Thanks！</a:t>
            </a:r>
            <a:endParaRPr lang="en-US" sz="144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2025-11-03T23:30:50Z</dcterms:created>
  <dcterms:modified xsi:type="dcterms:W3CDTF">2025-11-03T23:30:50Z</dcterms:modified>
</cp:coreProperties>
</file>